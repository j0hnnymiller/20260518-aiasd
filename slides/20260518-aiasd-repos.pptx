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63597" autoAdjust="0"/>
  </p:normalViewPr>
  <p:slideViewPr>
    <p:cSldViewPr snapToGrid="0" showGuides="1">
      <p:cViewPr varScale="1">
        <p:scale>
          <a:sx n="111" d="100"/>
          <a:sy n="111" d="100"/>
        </p:scale>
        <p:origin x="1016" y="72"/>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iller" userId="70e70d2d-fa72-4952-98cf-67858fa4ef7a" providerId="ADAL" clId="{3C0F8D48-B805-4732-975A-89F26263F015}"/>
    <pc:docChg chg="custSel delSld modSld">
      <pc:chgData name="John Miller" userId="70e70d2d-fa72-4952-98cf-67858fa4ef7a" providerId="ADAL" clId="{3C0F8D48-B805-4732-975A-89F26263F015}" dt="2026-05-18T14:43:34.220" v="1" actId="700"/>
      <pc:docMkLst>
        <pc:docMk/>
      </pc:docMkLst>
      <pc:sldChg chg="del">
        <pc:chgData name="John Miller" userId="70e70d2d-fa72-4952-98cf-67858fa4ef7a" providerId="ADAL" clId="{3C0F8D48-B805-4732-975A-89F26263F015}" dt="2026-05-18T14:43:27.532" v="0" actId="47"/>
        <pc:sldMkLst>
          <pc:docMk/>
          <pc:sldMk cId="0" sldId="256"/>
        </pc:sldMkLst>
      </pc:sldChg>
      <pc:sldChg chg="modSp mod modClrScheme chgLayout">
        <pc:chgData name="John Miller" userId="70e70d2d-fa72-4952-98cf-67858fa4ef7a" providerId="ADAL" clId="{3C0F8D48-B805-4732-975A-89F26263F015}" dt="2026-05-18T14:43:34.220" v="1" actId="700"/>
        <pc:sldMkLst>
          <pc:docMk/>
          <pc:sldMk cId="0" sldId="257"/>
        </pc:sldMkLst>
        <pc:spChg chg="mod ord">
          <ac:chgData name="John Miller" userId="70e70d2d-fa72-4952-98cf-67858fa4ef7a" providerId="ADAL" clId="{3C0F8D48-B805-4732-975A-89F26263F015}" dt="2026-05-18T14:43:34.220" v="1" actId="700"/>
          <ac:spMkLst>
            <pc:docMk/>
            <pc:sldMk cId="0" sldId="257"/>
            <ac:spMk id="2" creationId="{00000000-0000-0000-0000-000000000000}"/>
          </ac:spMkLst>
        </pc:spChg>
        <pc:spChg chg="mod ord">
          <ac:chgData name="John Miller" userId="70e70d2d-fa72-4952-98cf-67858fa4ef7a" providerId="ADAL" clId="{3C0F8D48-B805-4732-975A-89F26263F015}" dt="2026-05-18T14:43:34.220" v="1" actId="700"/>
          <ac:spMkLst>
            <pc:docMk/>
            <pc:sldMk cId="0" sldId="25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Class Session: CODE AI Assisted Software Development</a:t>
            </a:r>
          </a:p>
          <a:p>
            <a:r>
              <a:t>Session ID: 20260518-aiasd</a:t>
            </a:r>
          </a:p>
          <a:p>
            <a:r>
              <a:t>Greeting: Welcome to the CODE AI Assisted Software Development session.</a:t>
            </a:r>
          </a:p>
          <a:p>
            <a:endParaRPr/>
          </a:p>
          <a:p>
            <a:r>
              <a:t>This slide introduces the concept of forking the AIASD Brownfield Example repository. Forking creates a personal copy of the repository under your GitHub account, allowing you to experiment and make changes without affecting the original.</a:t>
            </a:r>
          </a:p>
          <a:p>
            <a:endParaRPr/>
          </a:p>
          <a:p>
            <a:r>
              <a:t>**Key Points**</a:t>
            </a:r>
          </a:p>
          <a:p>
            <a:endParaRPr/>
          </a:p>
          <a:p>
            <a:r>
              <a:t>- Forking is essential for hands-on practice</a:t>
            </a:r>
          </a:p>
          <a:p>
            <a:r>
              <a:t>- Creates an independent copy you can modify</a:t>
            </a:r>
          </a:p>
          <a:p>
            <a:r>
              <a:t>- Maintains connection to the original repository for updates</a:t>
            </a:r>
          </a:p>
          <a:p>
            <a:endParaRPr/>
          </a:p>
          <a:p>
            <a:r>
              <a:t>**Delivery**</a:t>
            </a:r>
          </a:p>
          <a:p>
            <a:endParaRPr/>
          </a:p>
          <a:p>
            <a:r>
              <a:t>- Emphasize that forking is a one-time setup step that enables all subsequent exercises.</a:t>
            </a:r>
          </a:p>
          <a:p>
            <a:endParaRPr/>
          </a:p>
          <a:p>
            <a:r>
              <a:t>**Transition**</a:t>
            </a:r>
          </a:p>
          <a:p>
            <a:r>
              <a:t>"Let's understand why we fork instead of just cloning."</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r>
              <a:t>**Key Points**</a:t>
            </a:r>
          </a:p>
          <a:p>
            <a:endParaRPr/>
          </a:p>
          <a:p>
            <a:r>
              <a:t>- Forking creates a full copy on GitHub under your account</a:t>
            </a:r>
          </a:p>
          <a:p>
            <a:r>
              <a:t>- You have full control over your fork</a:t>
            </a:r>
          </a:p>
          <a:p>
            <a:r>
              <a:t>- Can sync changes from the original (upstream) repository</a:t>
            </a:r>
          </a:p>
          <a:p>
            <a:r>
              <a:t>- Essential for contributing back via pull requests</a:t>
            </a:r>
          </a:p>
          <a:p>
            <a:endParaRPr/>
          </a:p>
          <a:p>
            <a:r>
              <a:t>**Demo Notes**</a:t>
            </a:r>
          </a:p>
          <a:p>
            <a:endParaRPr/>
          </a:p>
          <a:p>
            <a:r>
              <a:t>- If showing live, navigate to GitHub and show the fork button.</a:t>
            </a:r>
          </a:p>
          <a:p>
            <a:endParaRPr/>
          </a:p>
          <a:p>
            <a:r>
              <a:t>**Common Questions**</a:t>
            </a:r>
          </a:p>
          <a:p>
            <a:endParaRPr/>
          </a:p>
          <a:p>
            <a:r>
              <a:t>- "Can I just clone directly?" - Yes, but you can't push changes</a:t>
            </a:r>
          </a:p>
          <a:p>
            <a:r>
              <a:t>- "What if the original updates?"</a:t>
            </a:r>
          </a:p>
          <a:p>
            <a:r>
              <a:t>- We'll cover syncing forks later</a:t>
            </a:r>
          </a:p>
          <a:p>
            <a:endParaRPr/>
          </a:p>
          <a:p>
            <a:r>
              <a:t>**Transition**</a:t>
            </a:r>
          </a:p>
          <a:p>
            <a:endParaRPr/>
          </a:p>
          <a:p>
            <a:r>
              <a:t>- "Now let's walk through the forking process."</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 Most intuitive method for beginners</a:t>
            </a:r>
          </a:p>
          <a:p>
            <a:r>
              <a:t>- Visual confirmation of each step</a:t>
            </a:r>
          </a:p>
          <a:p>
            <a:r>
              <a:t>- Immediate feedback in the UI</a:t>
            </a:r>
          </a:p>
          <a:p>
            <a:endParaRPr/>
          </a:p>
          <a:p>
            <a:r>
              <a:t>**Demo Instructions**</a:t>
            </a:r>
          </a:p>
          <a:p>
            <a:endParaRPr/>
          </a:p>
          <a:p>
            <a:r>
              <a:t>1. Open the repository URL in a browser</a:t>
            </a:r>
          </a:p>
          <a:p>
            <a:r>
              <a:t>2. Point out the Fork button location</a:t>
            </a:r>
          </a:p>
          <a:p>
            <a:r>
              <a:t>3. Show the fork creation dialog</a:t>
            </a:r>
          </a:p>
          <a:p>
            <a:r>
              <a:t>4. Explain the options (copy all branches vs main only)</a:t>
            </a:r>
          </a:p>
          <a:p>
            <a:r>
              <a:t>5. Show the resulting forked repository</a:t>
            </a:r>
          </a:p>
          <a:p>
            <a:endParaRPr/>
          </a:p>
          <a:p>
            <a:r>
              <a:t>**Common Issues**</a:t>
            </a:r>
          </a:p>
          <a:p>
            <a:endParaRPr/>
          </a:p>
          <a:p>
            <a:r>
              <a:t>- "I don't see the Fork button" - Check if you're logged into GitHub</a:t>
            </a:r>
          </a:p>
          <a:p>
            <a:r>
              <a:t>- "It says 'already forked'" - You already have a fork; use that one</a:t>
            </a:r>
          </a:p>
          <a:p>
            <a:endParaRPr/>
          </a:p>
          <a:p>
            <a:r>
              <a:t>**Best Practice** Recommend copying main branch only for cleaner starting point.</a:t>
            </a:r>
          </a:p>
          <a:p>
            <a:endParaRPr/>
          </a:p>
          <a:p>
            <a:r>
              <a:t>**Transition** "For those comfortable with the command line, here's the CLI approach."</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 Faster for developers comfortable with CLI</a:t>
            </a:r>
          </a:p>
          <a:p>
            <a:r>
              <a:t>- Can combine fork and clone in single command</a:t>
            </a:r>
          </a:p>
          <a:p>
            <a:r>
              <a:t>- Automatically sets up upstream remote</a:t>
            </a:r>
          </a:p>
          <a:p>
            <a:endParaRPr/>
          </a:p>
          <a:p>
            <a:r>
              <a:t>**Demo Instructions**</a:t>
            </a:r>
          </a:p>
          <a:p>
            <a:endParaRPr/>
          </a:p>
          <a:p>
            <a:r>
              <a:t>1. Show `gh auth status` to verify authentication</a:t>
            </a:r>
          </a:p>
          <a:p>
            <a:r>
              <a:t>2. Run `gh repo fork j0hnnymiller/AIASD-Brownfield-Example --clone`</a:t>
            </a:r>
          </a:p>
          <a:p>
            <a:r>
              <a:t>3. Show the resulting local directory</a:t>
            </a:r>
          </a:p>
          <a:p>
            <a:r>
              <a:t>4. Run `git remote -v` to show origin and upstream</a:t>
            </a:r>
          </a:p>
          <a:p>
            <a:endParaRPr/>
          </a:p>
          <a:p>
            <a:r>
              <a:t>**Prerequisites Check**</a:t>
            </a:r>
          </a:p>
          <a:p>
            <a:endParaRPr/>
          </a:p>
          <a:p>
            <a:r>
              <a:t>- Verify students have GitHub CLI installed</a:t>
            </a:r>
          </a:p>
          <a:p>
            <a:r>
              <a:t>- If not, direct them to the UI method</a:t>
            </a:r>
          </a:p>
          <a:p>
            <a:endParaRPr/>
          </a:p>
          <a:p>
            <a:r>
              <a:t>**CLI Benefits**</a:t>
            </a:r>
          </a:p>
          <a:p>
            <a:endParaRPr/>
          </a:p>
          <a:p>
            <a:r>
              <a:t>- Scriptable and repeatable</a:t>
            </a:r>
          </a:p>
          <a:p>
            <a:r>
              <a:t>- Easier to integrate into workflows</a:t>
            </a:r>
          </a:p>
          <a:p>
            <a:r>
              <a:t>- Automatically configures remotes properly</a:t>
            </a:r>
          </a:p>
          <a:p>
            <a:endParaRPr/>
          </a:p>
          <a:p>
            <a:r>
              <a:t>**Common Issues**</a:t>
            </a:r>
          </a:p>
          <a:p>
            <a:endParaRPr/>
          </a:p>
          <a:p>
            <a:r>
              <a:t>- "gh command not found" - Need to install GitHub CLI</a:t>
            </a:r>
          </a:p>
          <a:p>
            <a:r>
              <a:t>- "Authentication failed" - Run `gh auth login`</a:t>
            </a:r>
          </a:p>
          <a:p>
            <a:endParaRPr/>
          </a:p>
          <a:p>
            <a:r>
              <a:t>**Transition** "After forking, you need to clone your fork locally."</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 Clone creates a local working copy</a:t>
            </a:r>
          </a:p>
          <a:p>
            <a:r>
              <a:t>- Origin points to YOUR fork</a:t>
            </a:r>
          </a:p>
          <a:p>
            <a:r>
              <a:t>- SSH vs HTTPS depends on authentication preference</a:t>
            </a:r>
          </a:p>
          <a:p>
            <a:endParaRPr/>
          </a:p>
          <a:p>
            <a:r>
              <a:t>**Demo Instructions**</a:t>
            </a:r>
          </a:p>
          <a:p>
            <a:endParaRPr/>
          </a:p>
          <a:p>
            <a:r>
              <a:t>1. Copy the clone URL from GitHub</a:t>
            </a:r>
          </a:p>
          <a:p>
            <a:r>
              <a:t>2. Run git clone command</a:t>
            </a:r>
          </a:p>
          <a:p>
            <a:r>
              <a:t>3. Show `git remote -v` output</a:t>
            </a:r>
          </a:p>
          <a:p>
            <a:r>
              <a:t>4. Show directory structure with `ls` or `dir`</a:t>
            </a:r>
          </a:p>
          <a:p>
            <a:endParaRPr/>
          </a:p>
          <a:p>
            <a:r>
              <a:t>**HTTPS vs SSH**</a:t>
            </a:r>
          </a:p>
          <a:p>
            <a:endParaRPr/>
          </a:p>
          <a:p>
            <a:r>
              <a:t>- HTTPS: Works everywhere, may require token auth</a:t>
            </a:r>
          </a:p>
          <a:p>
            <a:r>
              <a:t>- SSH: Requires SSH key setup but more convenient long-term</a:t>
            </a:r>
          </a:p>
          <a:p>
            <a:endParaRPr/>
          </a:p>
          <a:p>
            <a:r>
              <a:t>**Verification Steps**</a:t>
            </a:r>
          </a:p>
          <a:p>
            <a:endParaRPr/>
          </a:p>
          <a:p>
            <a:r>
              <a:t>- Check that origin points to YOUR fork, not the original</a:t>
            </a:r>
          </a:p>
          <a:p>
            <a:r>
              <a:t>- Verify you can see the files locally</a:t>
            </a:r>
          </a:p>
          <a:p>
            <a:endParaRPr/>
          </a:p>
          <a:p>
            <a:r>
              <a:t>**Common Issues**</a:t>
            </a:r>
          </a:p>
          <a:p>
            <a:endParaRPr/>
          </a:p>
          <a:p>
            <a:r>
              <a:t>- "Permission denied" - Authentication problem</a:t>
            </a:r>
          </a:p>
          <a:p>
            <a:r>
              <a:t>- "Repository not found" - Check the URL has YOUR username</a:t>
            </a:r>
          </a:p>
          <a:p>
            <a:endParaRPr/>
          </a:p>
          <a:p>
            <a:r>
              <a:t>**Transition** "Next, let's set up the connection to the original repository."</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 Second repository to fork</a:t>
            </a:r>
          </a:p>
          <a:p>
            <a:r>
              <a:t>- Contains all course curriculum materials</a:t>
            </a:r>
          </a:p>
          <a:p>
            <a:r>
              <a:t>- Your personal reference copy</a:t>
            </a:r>
          </a:p>
          <a:p>
            <a:r>
              <a:t>- Can customize and annotate freely</a:t>
            </a:r>
          </a:p>
          <a:p>
            <a:endParaRPr/>
          </a:p>
          <a:p>
            <a:r>
              <a:t>**Transition** "Let's fork this repository using the same methods we learned."</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 This is a different workflow from forking</a:t>
            </a:r>
          </a:p>
          <a:p>
            <a:r>
              <a:t>- Direct clone with personal branches</a:t>
            </a:r>
          </a:p>
          <a:p>
            <a:r>
              <a:t>- Used for collaborative course work</a:t>
            </a:r>
          </a:p>
          <a:p>
            <a:r>
              <a:t>- Each student works on their own branch</a:t>
            </a:r>
          </a:p>
          <a:p>
            <a:endParaRPr/>
          </a:p>
          <a:p>
            <a:r>
              <a:t>**Differentiation**</a:t>
            </a:r>
          </a:p>
          <a:p>
            <a:endParaRPr/>
          </a:p>
          <a:p>
            <a:r>
              <a:t>- Brownfield Example = Your fork (full control)</a:t>
            </a:r>
          </a:p>
          <a:p>
            <a:r>
              <a:t>- 20260518-AIASD = Shared repo (personal branches)</a:t>
            </a:r>
          </a:p>
          <a:p>
            <a:endParaRPr/>
          </a:p>
          <a:p>
            <a:r>
              <a:t>**Transition** "Let's clone this repository and set up your personal workspace."</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 Standard git clone operation</a:t>
            </a:r>
          </a:p>
          <a:p>
            <a:r>
              <a:t>- No forking needed for this repository</a:t>
            </a:r>
          </a:p>
          <a:p>
            <a:r>
              <a:t>- Origin points directly to the shared repository</a:t>
            </a:r>
          </a:p>
          <a:p>
            <a:r>
              <a:t>- All students clone the same repository</a:t>
            </a:r>
          </a:p>
          <a:p>
            <a:endParaRPr/>
          </a:p>
          <a:p>
            <a:r>
              <a:t>**Transition** "Now let's create your personal branch."</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 Each student creates their own named branch</a:t>
            </a:r>
          </a:p>
          <a:p>
            <a:r>
              <a:t>- Branch names should be unique and identifiable</a:t>
            </a:r>
          </a:p>
          <a:p>
            <a:r>
              <a:t>- This prevents conflicts between students</a:t>
            </a:r>
          </a:p>
          <a:p>
            <a:r>
              <a:t>- All work happens in personal branches</a:t>
            </a:r>
          </a:p>
          <a:p>
            <a:endParaRPr/>
          </a:p>
          <a:p>
            <a:r>
              <a:t>**Transition** "Let's push your branch and verify the setup."</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 Push creates your branch on the remote</a:t>
            </a:r>
          </a:p>
          <a:p>
            <a:r>
              <a:t>- `-u` flag sets up tracking for easier future pushes</a:t>
            </a:r>
          </a:p>
          <a:p>
            <a:r>
              <a:t>- Verify with a test commit</a:t>
            </a:r>
          </a:p>
          <a:p>
            <a:r>
              <a:t>- Confirms you have push access</a:t>
            </a:r>
          </a:p>
          <a:p>
            <a:endParaRPr/>
          </a:p>
          <a:p>
            <a:r>
              <a:t>**Transition** "Now you have all three repositories set up - let's review the workflow."</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 Three different repositories, three different workflows</a:t>
            </a:r>
          </a:p>
          <a:p>
            <a:r>
              <a:t>- Each serves a distinct purpose</a:t>
            </a:r>
          </a:p>
          <a:p>
            <a:r>
              <a:t>- Know which repository you're working in</a:t>
            </a:r>
          </a:p>
          <a:p>
            <a:r>
              <a:t>- Different push/pull strategies for each</a:t>
            </a:r>
          </a:p>
          <a:p>
            <a:endParaRPr/>
          </a:p>
          <a:p>
            <a:r>
              <a:t>**Workflow Comparison**</a:t>
            </a:r>
          </a:p>
          <a:p>
            <a:r>
              <a:t>| Action | Brownfield (Fork) | Course Materials (Fork) | 20260518-AIASD (Branch) |</a:t>
            </a:r>
          </a:p>
          <a:p>
            <a:r>
              <a:t>| --------- | ----------------------- | ----------------------- | ----------------------- |</a:t>
            </a:r>
          </a:p>
          <a:p>
            <a:r>
              <a:t>| Updates | Sync from upstream | Sync from upstream | Pull from origin/main |</a:t>
            </a:r>
          </a:p>
          <a:p>
            <a:r>
              <a:t>| Your work | Any branch in your fork | Any branch in your fork | Your personal branch |</a:t>
            </a:r>
          </a:p>
          <a:p>
            <a:r>
              <a:t>| Share | Create PR to upstream | Create PR to upstream | Push to your branch |</a:t>
            </a:r>
          </a:p>
          <a:p>
            <a:r>
              <a:t>| Access | Full control | Full control | Shared collaboration |</a:t>
            </a:r>
          </a:p>
          <a:p>
            <a:endParaRPr/>
          </a:p>
          <a:p>
            <a:r>
              <a:t>**Directory Organization**</a:t>
            </a:r>
          </a:p>
          <a:p>
            <a:endParaRPr/>
          </a:p>
          <a:p>
            <a:r>
              <a:t>```</a:t>
            </a:r>
          </a:p>
          <a:p>
            <a:r>
              <a:t>workspace/</a:t>
            </a:r>
          </a:p>
          <a:p>
            <a:r>
              <a:t>├── AIASD-Brownfield-Example/ (your fork - practice code)</a:t>
            </a:r>
          </a:p>
          <a:p>
            <a:r>
              <a:t>├── AI-Assisted-Software-Development/ (your fork - course materials)</a:t>
            </a:r>
          </a:p>
          <a:p>
            <a:r>
              <a:t>└── 20260518-aiasd/ (shared repo - session work)</a:t>
            </a:r>
          </a:p>
          <a:p>
            <a:r>
              <a:t>```</a:t>
            </a:r>
          </a:p>
          <a:p>
            <a:endParaRPr/>
          </a:p>
          <a:p>
            <a:r>
              <a:t>**Common Confusion**</a:t>
            </a:r>
          </a:p>
          <a:p>
            <a:endParaRPr/>
          </a:p>
          <a:p>
            <a:r>
              <a:t>- "Which repo should I use?" - Instructor will specify per exercise</a:t>
            </a:r>
          </a:p>
          <a:p>
            <a:r>
              <a:t>- "Can I push to main?" - No, always work in branches</a:t>
            </a:r>
          </a:p>
          <a:p>
            <a:r>
              <a:t>- "Do I need all three?" - Yes, each serves a specific purpose</a:t>
            </a:r>
          </a:p>
          <a:p>
            <a:endParaRPr/>
          </a:p>
          <a:p>
            <a:r>
              <a:t>**Transition** "Let's create a checklist to verify all three repositories are ready."</a:t>
            </a:r>
          </a:p>
          <a:p>
            <a:endParaRPr/>
          </a:p>
          <a:p>
            <a:r>
              <a:t>---</a:t>
            </a:r>
          </a:p>
          <a:p>
            <a:endParaRPr/>
          </a:p>
          <a:p>
            <a:r>
              <a:t>Source: slides/marp/20260518-aiasd-repos.deck.md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Forking the AIASD Brownfield Repository</a:t>
            </a:r>
          </a:p>
        </p:txBody>
      </p:sp>
      <p:sp>
        <p:nvSpPr>
          <p:cNvPr id="3" name="Content Placeholder 2"/>
          <p:cNvSpPr>
            <a:spLocks noGrp="1"/>
          </p:cNvSpPr>
          <p:nvPr>
            <p:ph type="subTitle" idx="1"/>
          </p:nvPr>
        </p:nvSpPr>
        <p:spPr/>
        <p:txBody>
          <a:bodyPr wrap="square">
            <a:normAutofit/>
          </a:bodyPr>
          <a:lstStyle/>
          <a:p>
            <a:pPr>
              <a:buNone/>
            </a:pPr>
            <a:r>
              <a:rPr sz="2800" b="1" i="0" u="none"/>
              <a:t>Getting Your Own Copy to Work With</a:t>
            </a:r>
            <a:endParaRPr sz="2800" b="0" i="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Fork Instead of Clone?</a:t>
            </a:r>
          </a:p>
        </p:txBody>
      </p:sp>
      <p:sp>
        <p:nvSpPr>
          <p:cNvPr id="3" name="Content Placeholder 2"/>
          <p:cNvSpPr>
            <a:spLocks noGrp="1"/>
          </p:cNvSpPr>
          <p:nvPr>
            <p:ph sz="half" idx="1"/>
          </p:nvPr>
        </p:nvSpPr>
        <p:spPr/>
        <p:txBody>
          <a:bodyPr wrap="square">
            <a:normAutofit/>
          </a:bodyPr>
          <a:lstStyle/>
          <a:p>
            <a:pPr>
              <a:buNone/>
            </a:pPr>
            <a:r>
              <a:rPr sz="1400" b="1" i="0" u="none"/>
              <a:t>Forking Benefits</a:t>
            </a:r>
            <a:endParaRPr sz="2800" b="0" i="0">
              <a:latin typeface="Arial"/>
            </a:endParaRPr>
          </a:p>
          <a:p>
            <a:pPr>
              <a:buNone/>
            </a:pPr>
            <a:endParaRPr sz="2800" b="0" i="0">
              <a:latin typeface="Arial"/>
            </a:endParaRPr>
          </a:p>
          <a:p>
            <a:r>
              <a:rPr sz="1400" b="0" i="0" u="none"/>
              <a:t>✅ Your own GitHub repository</a:t>
            </a:r>
            <a:endParaRPr sz="2800" b="0" i="0">
              <a:latin typeface="Arial"/>
            </a:endParaRPr>
          </a:p>
          <a:p>
            <a:r>
              <a:rPr sz="1400" b="0" i="0" u="none"/>
              <a:t>✅ Safe to experiment and break things</a:t>
            </a:r>
            <a:endParaRPr sz="2800" b="0" i="0">
              <a:latin typeface="Arial"/>
            </a:endParaRPr>
          </a:p>
          <a:p>
            <a:r>
              <a:rPr sz="1400" b="0" i="0" u="none"/>
              <a:t>✅ Can create pull requests back to original</a:t>
            </a:r>
            <a:endParaRPr sz="2800" b="0" i="0">
              <a:latin typeface="Arial"/>
            </a:endParaRPr>
          </a:p>
          <a:p>
            <a:r>
              <a:rPr sz="1400" b="0" i="0" u="none"/>
              <a:t>✅ Easy to sync updates from upstream</a:t>
            </a:r>
            <a:endParaRPr sz="2800" b="0" i="0">
              <a:latin typeface="Arial"/>
            </a:endParaRPr>
          </a:p>
          <a:p>
            <a:r>
              <a:rPr sz="1400" b="0" i="0" u="none"/>
              <a:t>✅ Visible in your GitHub profile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Direct Cloning</a:t>
            </a:r>
            <a:endParaRPr sz="2800" b="0" i="0">
              <a:latin typeface="Arial"/>
            </a:endParaRPr>
          </a:p>
          <a:p>
            <a:pPr>
              <a:buNone/>
            </a:pPr>
            <a:endParaRPr sz="2800" b="0" i="0">
              <a:latin typeface="Arial"/>
            </a:endParaRPr>
          </a:p>
          <a:p>
            <a:r>
              <a:rPr sz="1400" b="0" i="0" u="none"/>
              <a:t>❌ No push permissions to original repo</a:t>
            </a:r>
            <a:endParaRPr sz="2800" b="0" i="0">
              <a:latin typeface="Arial"/>
            </a:endParaRPr>
          </a:p>
          <a:p>
            <a:r>
              <a:rPr sz="1400" b="0" i="0" u="none"/>
              <a:t>❌ Changes stay local only</a:t>
            </a:r>
            <a:endParaRPr sz="2800" b="0" i="0">
              <a:latin typeface="Arial"/>
            </a:endParaRPr>
          </a:p>
          <a:p>
            <a:r>
              <a:rPr sz="1400" b="0" i="0" u="none"/>
              <a:t>❌ No practice with PR workflow</a:t>
            </a:r>
            <a:endParaRPr sz="280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Forking Via GitHub UI</a:t>
            </a:r>
          </a:p>
        </p:txBody>
      </p:sp>
      <p:sp>
        <p:nvSpPr>
          <p:cNvPr id="3" name="Content Placeholder 2"/>
          <p:cNvSpPr>
            <a:spLocks noGrp="1"/>
          </p:cNvSpPr>
          <p:nvPr>
            <p:ph idx="1"/>
          </p:nvPr>
        </p:nvSpPr>
        <p:spPr/>
        <p:txBody>
          <a:bodyPr wrap="square">
            <a:normAutofit/>
          </a:bodyPr>
          <a:lstStyle/>
          <a:p>
            <a:pPr>
              <a:buNone/>
            </a:pPr>
            <a:r>
              <a:rPr sz="1800" b="1" i="0" u="none"/>
              <a:t>Method 1: Web Interface 1.</a:t>
            </a:r>
            <a:endParaRPr sz="1800" b="0" i="0">
              <a:latin typeface="Consolas"/>
            </a:endParaRPr>
          </a:p>
          <a:p>
            <a:pPr>
              <a:buNone/>
            </a:pPr>
            <a:endParaRPr sz="1800" b="0" i="0">
              <a:latin typeface="Consolas"/>
            </a:endParaRPr>
          </a:p>
          <a:p>
            <a:pPr>
              <a:buNone/>
            </a:pPr>
            <a:r>
              <a:rPr sz="1800" b="1" i="0" u="none"/>
              <a:t>Navigate</a:t>
            </a:r>
            <a:r>
              <a:rPr sz="1800" b="0" i="0" u="none"/>
              <a:t> to https://github.com/j0hnnymiller/AIASD-Brownfield-Example</a:t>
            </a:r>
            <a:endParaRPr sz="1800" b="0" i="0">
              <a:latin typeface="Consolas"/>
            </a:endParaRPr>
          </a:p>
          <a:p>
            <a:pPr>
              <a:buNone/>
            </a:pPr>
            <a:r>
              <a:rPr sz="1800" b="1" i="0" u="none"/>
              <a:t>Click</a:t>
            </a:r>
            <a:r>
              <a:rPr sz="1800" b="0" i="0" u="none"/>
              <a:t> the Fork button (top-right corner)</a:t>
            </a:r>
            <a:endParaRPr sz="1800" b="0" i="0">
              <a:latin typeface="Consolas"/>
            </a:endParaRPr>
          </a:p>
          <a:p>
            <a:pPr>
              <a:buNone/>
            </a:pPr>
            <a:r>
              <a:rPr sz="1800" b="1" i="0" u="none"/>
              <a:t>Select</a:t>
            </a:r>
            <a:r>
              <a:rPr sz="1800" b="0" i="0" u="none"/>
              <a:t> your GitHub account as the destination</a:t>
            </a:r>
            <a:endParaRPr sz="1800" b="0" i="0">
              <a:latin typeface="Consolas"/>
            </a:endParaRPr>
          </a:p>
          <a:p>
            <a:pPr>
              <a:buNone/>
            </a:pPr>
            <a:r>
              <a:rPr sz="1800" b="1" i="0" u="none"/>
              <a:t>Optionally</a:t>
            </a:r>
            <a:r>
              <a:rPr sz="1800" b="0" i="0" u="none"/>
              <a:t> rename your fork</a:t>
            </a:r>
            <a:endParaRPr sz="1800" b="0" i="0">
              <a:latin typeface="Consolas"/>
            </a:endParaRPr>
          </a:p>
          <a:p>
            <a:pPr>
              <a:buNone/>
            </a:pPr>
            <a:r>
              <a:rPr sz="1800" b="1" i="0" u="none"/>
              <a:t>Choose</a:t>
            </a:r>
            <a:r>
              <a:rPr sz="1800" b="0" i="0" u="none"/>
              <a:t> to copy the main branch only (recommended)</a:t>
            </a:r>
            <a:endParaRPr sz="1800" b="0" i="0">
              <a:latin typeface="Consolas"/>
            </a:endParaRPr>
          </a:p>
          <a:p>
            <a:pPr>
              <a:buNone/>
            </a:pPr>
            <a:r>
              <a:rPr sz="1800" b="1" i="0" u="none"/>
              <a:t>Click</a:t>
            </a:r>
            <a:r>
              <a:rPr sz="1800" b="0" i="0" u="none"/>
              <a:t> "Create Fork"</a:t>
            </a:r>
            <a:endParaRPr sz="1800" b="0" i="0">
              <a:latin typeface="Consolas"/>
            </a:endParaRPr>
          </a:p>
          <a:p>
            <a:pPr>
              <a:buNone/>
            </a:pPr>
            <a:r>
              <a:rPr sz="1800" b="1" i="0" u="none"/>
              <a:t>Result</a:t>
            </a:r>
            <a:r>
              <a:rPr sz="1800" b="0" i="0" u="none"/>
              <a:t> Repository now exists at </a:t>
            </a:r>
            <a:r>
              <a:rPr sz="1800" b="0" i="0" u="none">
                <a:latin typeface="Consolas"/>
              </a:rPr>
              <a:t>https://github.com/YOUR_USERNAME/AIASD-Brownfield-Example</a:t>
            </a:r>
            <a:endParaRPr sz="1800" b="0" i="0">
              <a:latin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Forking Via GitHub CLI</a:t>
            </a:r>
          </a:p>
        </p:txBody>
      </p:sp>
      <p:sp>
        <p:nvSpPr>
          <p:cNvPr id="3" name="Content Placeholder 2"/>
          <p:cNvSpPr>
            <a:spLocks noGrp="1"/>
          </p:cNvSpPr>
          <p:nvPr>
            <p:ph idx="1"/>
          </p:nvPr>
        </p:nvSpPr>
        <p:spPr/>
        <p:txBody>
          <a:bodyPr wrap="square">
            <a:normAutofit/>
          </a:bodyPr>
          <a:lstStyle/>
          <a:p>
            <a:pPr>
              <a:buNone/>
            </a:pPr>
            <a:r>
              <a:rPr sz="1350" b="1" i="0" u="none"/>
              <a:t>Method 2: Command Line (gh CLI)</a:t>
            </a:r>
            <a:endParaRPr sz="1350" b="0" i="0">
              <a:latin typeface="Consolas"/>
            </a:endParaRPr>
          </a:p>
          <a:p>
            <a:pPr>
              <a:buNone/>
            </a:pPr>
            <a:endParaRPr sz="1350" b="0" i="0">
              <a:latin typeface="Consolas"/>
            </a:endParaRPr>
          </a:p>
          <a:p>
            <a:pPr>
              <a:buNone/>
            </a:pPr>
            <a:endParaRPr sz="1350" b="0" i="0">
              <a:latin typeface="Consolas"/>
            </a:endParaRPr>
          </a:p>
          <a:p>
            <a:pPr>
              <a:buNone/>
            </a:pPr>
            <a:r>
              <a:rPr sz="1350">
                <a:latin typeface="Consolas"/>
              </a:rPr>
              <a:t># Forking and Cloning Course Repositories || Three Repos Walk Into a GitHub...</a:t>
            </a:r>
            <a:endParaRPr sz="1350" b="0" i="0">
              <a:latin typeface="Consolas"/>
            </a:endParaRPr>
          </a:p>
          <a:p>
            <a:pPr>
              <a:buNone/>
            </a:pPr>
            <a:endParaRPr sz="1350" b="0" i="0">
              <a:latin typeface="Consolas"/>
            </a:endParaRPr>
          </a:p>
          <a:p>
            <a:pPr>
              <a:buNone/>
            </a:pPr>
            <a:r>
              <a:rPr sz="1350">
                <a:latin typeface="Consolas"/>
              </a:rPr>
              <a:t>gh repo fork j0hnnymiller/AIASD-Brownfield-Example # Fork and clone in one step</a:t>
            </a:r>
            <a:endParaRPr sz="1350" b="0" i="0">
              <a:latin typeface="Consolas"/>
            </a:endParaRPr>
          </a:p>
          <a:p>
            <a:pPr>
              <a:buNone/>
            </a:pPr>
            <a:r>
              <a:rPr sz="1350">
                <a:latin typeface="Consolas"/>
              </a:rPr>
              <a:t>gh repo fork j0hnnymiller/AIASD-Brownfield-Example --clone # Fork with a custom name</a:t>
            </a:r>
            <a:endParaRPr sz="1350" b="0" i="0">
              <a:latin typeface="Consolas"/>
            </a:endParaRPr>
          </a:p>
          <a:p>
            <a:pPr>
              <a:buNone/>
            </a:pPr>
            <a:r>
              <a:rPr sz="1350">
                <a:latin typeface="Consolas"/>
              </a:rPr>
              <a:t>gh repo fork j0hnnymiller/AIASD-Brownfield-Example \\ --fork-name my-brownfield-example</a:t>
            </a:r>
            <a:endParaRPr sz="1350" b="0" i="0">
              <a:latin typeface="Consolas"/>
            </a:endParaRPr>
          </a:p>
          <a:p>
            <a:pPr>
              <a:buNone/>
            </a:pPr>
            <a:endParaRPr sz="1350" b="0" i="0">
              <a:latin typeface="Consolas"/>
            </a:endParaRPr>
          </a:p>
          <a:p>
            <a:pPr>
              <a:buNone/>
            </a:pPr>
            <a:r>
              <a:rPr sz="1350" b="1" i="0" u="none"/>
              <a:t>Prerequisites</a:t>
            </a:r>
            <a:r>
              <a:rPr sz="1350" b="0" i="0" u="none"/>
              <a:t> GitHub CLI installed and authenticated</a:t>
            </a:r>
            <a:endParaRPr sz="1350" b="0" i="0">
              <a:latin typeface="Consolas"/>
            </a:endParaRPr>
          </a:p>
          <a:p>
            <a:pPr>
              <a:buNone/>
            </a:pPr>
            <a:endParaRPr sz="1350" b="0" i="0">
              <a:latin typeface="Consolas"/>
            </a:endParaRPr>
          </a:p>
          <a:p>
            <a:r>
              <a:rPr sz="1350" b="0" i="0" u="none"/>
              <a:t>Install: </a:t>
            </a:r>
            <a:r>
              <a:rPr sz="1350" b="0" i="0" u="none">
                <a:latin typeface="Consolas"/>
              </a:rPr>
              <a:t>winget install GitHub.cli</a:t>
            </a:r>
            <a:r>
              <a:rPr sz="1350" b="0" i="0" u="none"/>
              <a:t> (Windows)</a:t>
            </a:r>
            <a:endParaRPr sz="1350" b="0" i="0">
              <a:latin typeface="Consolas"/>
            </a:endParaRPr>
          </a:p>
          <a:p>
            <a:r>
              <a:rPr sz="1350" b="0" i="0" u="none"/>
              <a:t>Auth: </a:t>
            </a:r>
            <a:r>
              <a:rPr sz="1350" b="0" i="0" u="none">
                <a:latin typeface="Consolas"/>
              </a:rPr>
              <a:t>gh auth login</a:t>
            </a:r>
            <a:endParaRPr sz="1350" b="0" i="0">
              <a:latin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Cloning Your Fork</a:t>
            </a:r>
          </a:p>
        </p:txBody>
      </p:sp>
      <p:sp>
        <p:nvSpPr>
          <p:cNvPr id="3" name="Content Placeholder 2"/>
          <p:cNvSpPr>
            <a:spLocks noGrp="1"/>
          </p:cNvSpPr>
          <p:nvPr>
            <p:ph idx="1"/>
          </p:nvPr>
        </p:nvSpPr>
        <p:spPr/>
        <p:txBody>
          <a:bodyPr wrap="square">
            <a:normAutofit/>
          </a:bodyPr>
          <a:lstStyle/>
          <a:p>
            <a:pPr>
              <a:buNone/>
            </a:pPr>
            <a:r>
              <a:rPr sz="1200" b="1" i="0" u="none"/>
              <a:t>Getting the Code on Your Machine</a:t>
            </a:r>
            <a:endParaRPr sz="1200" b="0" i="0">
              <a:latin typeface="Consolas"/>
            </a:endParaRPr>
          </a:p>
          <a:p>
            <a:pPr>
              <a:buNone/>
            </a:pPr>
            <a:endParaRPr sz="1200" b="0" i="0">
              <a:latin typeface="Consolas"/>
            </a:endParaRPr>
          </a:p>
          <a:p>
            <a:pPr>
              <a:buNone/>
            </a:pPr>
            <a:endParaRPr sz="1200" b="0" i="0">
              <a:latin typeface="Consolas"/>
            </a:endParaRPr>
          </a:p>
          <a:p>
            <a:pPr>
              <a:buNone/>
            </a:pPr>
            <a:r>
              <a:rPr sz="1200">
                <a:latin typeface="Consolas"/>
              </a:rPr>
              <a:t># Forking and Cloning Course Repositories || Three Repos Walk Into a GitHub...</a:t>
            </a:r>
            <a:endParaRPr sz="1200" b="0" i="0">
              <a:latin typeface="Consolas"/>
            </a:endParaRPr>
          </a:p>
          <a:p>
            <a:pPr>
              <a:buNone/>
            </a:pPr>
            <a:endParaRPr sz="1200" b="0" i="0">
              <a:latin typeface="Consolas"/>
            </a:endParaRPr>
          </a:p>
          <a:p>
            <a:pPr>
              <a:buNone/>
            </a:pPr>
            <a:r>
              <a:rPr sz="1200">
                <a:latin typeface="Consolas"/>
              </a:rPr>
              <a:t>git clone https://github.com/YOUR_USERNAME/AIASD-Brownfield-Example.git</a:t>
            </a:r>
            <a:endParaRPr sz="1200" b="0" i="0">
              <a:latin typeface="Consolas"/>
            </a:endParaRPr>
          </a:p>
          <a:p>
            <a:pPr>
              <a:buNone/>
            </a:pPr>
            <a:endParaRPr sz="1200" b="0" i="0">
              <a:latin typeface="Consolas"/>
            </a:endParaRPr>
          </a:p>
          <a:p>
            <a:pPr>
              <a:buNone/>
            </a:pPr>
            <a:r>
              <a:rPr sz="1200">
                <a:latin typeface="Consolas"/>
              </a:rPr>
              <a:t># Or use SSH</a:t>
            </a:r>
            <a:endParaRPr sz="1200" b="0" i="0">
              <a:latin typeface="Consolas"/>
            </a:endParaRPr>
          </a:p>
          <a:p>
            <a:pPr>
              <a:buNone/>
            </a:pPr>
            <a:endParaRPr sz="1200" b="0" i="0">
              <a:latin typeface="Consolas"/>
            </a:endParaRPr>
          </a:p>
          <a:p>
            <a:pPr>
              <a:buNone/>
            </a:pPr>
            <a:r>
              <a:rPr sz="1200">
                <a:latin typeface="Consolas"/>
              </a:rPr>
              <a:t>git clone git@github.com:YOUR_USERNAME/AIASD-Brownfield-Example.git</a:t>
            </a:r>
            <a:endParaRPr sz="1200" b="0" i="0">
              <a:latin typeface="Consolas"/>
            </a:endParaRPr>
          </a:p>
          <a:p>
            <a:pPr>
              <a:buNone/>
            </a:pPr>
            <a:endParaRPr sz="1200" b="0" i="0">
              <a:latin typeface="Consolas"/>
            </a:endParaRPr>
          </a:p>
          <a:p>
            <a:pPr>
              <a:buNone/>
            </a:pPr>
            <a:r>
              <a:rPr sz="1200">
                <a:latin typeface="Consolas"/>
              </a:rPr>
              <a:t># Navigate into the directory</a:t>
            </a:r>
            <a:endParaRPr sz="1200" b="0" i="0">
              <a:latin typeface="Consolas"/>
            </a:endParaRPr>
          </a:p>
          <a:p>
            <a:pPr>
              <a:buNone/>
            </a:pPr>
            <a:endParaRPr sz="1200" b="0" i="0">
              <a:latin typeface="Consolas"/>
            </a:endParaRPr>
          </a:p>
          <a:p>
            <a:pPr>
              <a:buNone/>
            </a:pPr>
            <a:r>
              <a:rPr sz="1200">
                <a:latin typeface="Consolas"/>
              </a:rPr>
              <a:t>cd AIASD-Brownfield-Example</a:t>
            </a:r>
            <a:endParaRPr sz="1200" b="0" i="0">
              <a:latin typeface="Consolas"/>
            </a:endParaRPr>
          </a:p>
          <a:p>
            <a:pPr>
              <a:buNone/>
            </a:pPr>
            <a:endParaRPr sz="1200" b="0" i="0">
              <a:latin typeface="Consolas"/>
            </a:endParaRPr>
          </a:p>
          <a:p>
            <a:pPr>
              <a:buNone/>
            </a:pPr>
            <a:r>
              <a:rPr sz="1200" b="1" i="0" u="none"/>
              <a:t>Verify your setup</a:t>
            </a:r>
            <a:endParaRPr sz="1200" b="0" i="0">
              <a:latin typeface="Consolas"/>
            </a:endParaRPr>
          </a:p>
          <a:p>
            <a:pPr>
              <a:buNone/>
            </a:pPr>
            <a:endParaRPr sz="1200" b="0" i="0">
              <a:latin typeface="Consolas"/>
            </a:endParaRPr>
          </a:p>
          <a:p>
            <a:pPr>
              <a:buNone/>
            </a:pPr>
            <a:endParaRPr sz="1200" b="0" i="0">
              <a:latin typeface="Consolas"/>
            </a:endParaRPr>
          </a:p>
          <a:p>
            <a:pPr>
              <a:buNone/>
            </a:pPr>
            <a:r>
              <a:rPr sz="1200">
                <a:latin typeface="Consolas"/>
              </a:rPr>
              <a:t># Forking and Cloning Course Repositories || Three Repos Walk Into a GitHub...</a:t>
            </a:r>
            <a:endParaRPr sz="1200" b="0" i="0">
              <a:latin typeface="Consolas"/>
            </a:endParaRPr>
          </a:p>
          <a:p>
            <a:pPr>
              <a:buNone/>
            </a:pPr>
            <a:endParaRPr sz="1200" b="0" i="0">
              <a:latin typeface="Consolas"/>
            </a:endParaRPr>
          </a:p>
          <a:p>
            <a:pPr>
              <a:buNone/>
            </a:pPr>
            <a:r>
              <a:rPr sz="1200">
                <a:latin typeface="Consolas"/>
              </a:rPr>
              <a:t>git remote -v</a:t>
            </a:r>
            <a:endParaRPr sz="1200" b="0" i="0">
              <a:latin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Verification Checklist</a:t>
            </a:r>
          </a:p>
        </p:txBody>
      </p:sp>
      <p:sp>
        <p:nvSpPr>
          <p:cNvPr id="3" name="Content Placeholder 2"/>
          <p:cNvSpPr>
            <a:spLocks noGrp="1"/>
          </p:cNvSpPr>
          <p:nvPr>
            <p:ph idx="1"/>
          </p:nvPr>
        </p:nvSpPr>
        <p:spPr/>
        <p:txBody>
          <a:bodyPr wrap="square">
            <a:normAutofit/>
          </a:bodyPr>
          <a:lstStyle/>
          <a:p>
            <a:pPr>
              <a:buNone/>
            </a:pPr>
            <a:r>
              <a:rPr sz="1200" b="1" i="0" u="none"/>
              <a:t>Confirm Your Setup</a:t>
            </a:r>
            <a:endParaRPr sz="1200" b="0" i="0">
              <a:latin typeface="Arial"/>
            </a:endParaRPr>
          </a:p>
          <a:p>
            <a:pPr>
              <a:buNone/>
            </a:pPr>
            <a:endParaRPr sz="1200" b="0" i="0">
              <a:latin typeface="Arial"/>
            </a:endParaRPr>
          </a:p>
          <a:p>
            <a:pPr>
              <a:buNone/>
            </a:pPr>
            <a:r>
              <a:rPr sz="1200" b="0" i="0" u="none"/>
              <a:t>[ ] Repository forked to your GitHub account</a:t>
            </a:r>
            <a:endParaRPr sz="1200" b="0" i="0">
              <a:latin typeface="Arial"/>
            </a:endParaRPr>
          </a:p>
          <a:p>
            <a:pPr>
              <a:buNone/>
            </a:pPr>
            <a:r>
              <a:rPr sz="1200" b="0" i="0" u="none"/>
              <a:t>[ ] Fork cloned to your local machine</a:t>
            </a:r>
            <a:endParaRPr sz="1200" b="0" i="0">
              <a:latin typeface="Arial"/>
            </a:endParaRPr>
          </a:p>
          <a:p>
            <a:pPr>
              <a:buNone/>
            </a:pPr>
            <a:r>
              <a:rPr sz="1200" b="0" i="0" u="none"/>
              <a:t>[ ] Repository builds/runs locally (we'll test this next)</a:t>
            </a:r>
            <a:endParaRPr sz="1200" b="0" i="0">
              <a:latin typeface="Arial"/>
            </a:endParaRPr>
          </a:p>
          <a:p>
            <a:pPr>
              <a:buNone/>
            </a:pPr>
            <a:endParaRPr sz="1200" b="0" i="0">
              <a:latin typeface="Arial"/>
            </a:endParaRPr>
          </a:p>
          <a:p>
            <a:pPr>
              <a:buNone/>
            </a:pPr>
            <a:r>
              <a:rPr sz="1200" b="1" i="0" u="none"/>
              <a:t>Key Points</a:t>
            </a:r>
            <a:endParaRPr sz="1200" b="0" i="0">
              <a:latin typeface="Arial"/>
            </a:endParaRPr>
          </a:p>
          <a:p>
            <a:pPr>
              <a:buNone/>
            </a:pPr>
            <a:endParaRPr sz="1200" b="0" i="0">
              <a:latin typeface="Arial"/>
            </a:endParaRPr>
          </a:p>
          <a:p>
            <a:r>
              <a:rPr sz="1200" b="0" i="0" u="none"/>
              <a:t>Use this checklist to verify correct setup</a:t>
            </a:r>
            <a:endParaRPr sz="1200" b="0" i="0">
              <a:latin typeface="Arial"/>
            </a:endParaRPr>
          </a:p>
          <a:p>
            <a:r>
              <a:rPr sz="1200" b="0" i="0" u="none"/>
              <a:t>All students should complete this before moving on</a:t>
            </a:r>
            <a:endParaRPr sz="1200" b="0" i="0">
              <a:latin typeface="Arial"/>
            </a:endParaRPr>
          </a:p>
          <a:p>
            <a:pPr>
              <a:buNone/>
            </a:pPr>
            <a:endParaRPr sz="1200" b="0" i="0">
              <a:latin typeface="Arial"/>
            </a:endParaRPr>
          </a:p>
          <a:p>
            <a:pPr>
              <a:buNone/>
            </a:pPr>
            <a:r>
              <a:rPr sz="1200" b="1" i="0" u="none"/>
              <a:t>Success Criteria</a:t>
            </a:r>
            <a:endParaRPr sz="1200" b="0" i="0">
              <a:latin typeface="Arial"/>
            </a:endParaRPr>
          </a:p>
          <a:p>
            <a:pPr>
              <a:buNone/>
            </a:pPr>
            <a:endParaRPr sz="1200" b="0" i="0">
              <a:latin typeface="Arial"/>
            </a:endParaRPr>
          </a:p>
          <a:p>
            <a:r>
              <a:rPr sz="1200" b="0" i="0" u="none"/>
              <a:t>Local directory contains expected files</a:t>
            </a:r>
            <a:endParaRPr sz="1200" b="0" i="0">
              <a:latin typeface="Arial"/>
            </a:endParaRPr>
          </a:p>
          <a:p>
            <a:pPr>
              <a:buNone/>
            </a:pPr>
            <a:endParaRPr sz="1200" b="0" i="0">
              <a:latin typeface="Arial"/>
            </a:endParaRPr>
          </a:p>
          <a:p>
            <a:pPr>
              <a:buNone/>
            </a:pPr>
            <a:r>
              <a:rPr sz="1200" b="1" i="0" u="none"/>
              <a:t>Transition</a:t>
            </a:r>
            <a:r>
              <a:rPr sz="1200" b="0" i="0" u="none"/>
              <a:t> "With your brownfield fork ready, let's set up the course materials repository."</a:t>
            </a:r>
            <a:endParaRPr sz="1200" b="0" i="0">
              <a:latin typeface="Arial"/>
            </a:endParaRPr>
          </a:p>
          <a:p>
            <a:pPr>
              <a:buNone/>
            </a:pPr>
            <a:r>
              <a:rPr sz="1200" b="0" i="0" u="none"/>
              <a:t>:::</a:t>
            </a:r>
            <a:endParaRPr sz="1200" b="0" i="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Forking the Course Materials Repository</a:t>
            </a:r>
          </a:p>
        </p:txBody>
      </p:sp>
      <p:sp>
        <p:nvSpPr>
          <p:cNvPr id="3" name="Content Placeholder 2"/>
          <p:cNvSpPr>
            <a:spLocks noGrp="1"/>
          </p:cNvSpPr>
          <p:nvPr>
            <p:ph idx="1"/>
          </p:nvPr>
        </p:nvSpPr>
        <p:spPr/>
        <p:txBody>
          <a:bodyPr wrap="square">
            <a:normAutofit/>
          </a:bodyPr>
          <a:lstStyle/>
          <a:p>
            <a:pPr>
              <a:buNone/>
            </a:pPr>
            <a:r>
              <a:rPr sz="1200" b="1" i="0" u="none"/>
              <a:t>Getting Your Own Copy of AI-Assisted-Software-Development</a:t>
            </a:r>
            <a:endParaRPr sz="1200" b="0" i="0">
              <a:latin typeface="Consolas"/>
            </a:endParaRPr>
          </a:p>
          <a:p>
            <a:pPr>
              <a:buNone/>
            </a:pPr>
            <a:endParaRPr sz="1200" b="0" i="0">
              <a:latin typeface="Consolas"/>
            </a:endParaRPr>
          </a:p>
          <a:p>
            <a:pPr>
              <a:buNone/>
            </a:pPr>
            <a:r>
              <a:rPr sz="1200" b="1" i="0" u="none"/>
              <a:t>Now let's fork the course materials repository</a:t>
            </a:r>
            <a:endParaRPr sz="1200" b="0" i="0">
              <a:latin typeface="Consolas"/>
            </a:endParaRPr>
          </a:p>
          <a:p>
            <a:pPr>
              <a:buNone/>
            </a:pPr>
            <a:endParaRPr sz="1200" b="0" i="0">
              <a:latin typeface="Consolas"/>
            </a:endParaRPr>
          </a:p>
          <a:p>
            <a:pPr>
              <a:buNone/>
            </a:pPr>
            <a:r>
              <a:rPr sz="1200" b="0" i="0" u="none"/>
              <a:t>Repository: </a:t>
            </a:r>
            <a:r>
              <a:rPr sz="1200" b="0" i="0" u="none">
                <a:latin typeface="Consolas"/>
              </a:rPr>
              <a:t>https://github.com/johnmillerATcodemag-com/AI-Assisted-Software-Development.git</a:t>
            </a:r>
            <a:endParaRPr sz="1200" b="0" i="0">
              <a:latin typeface="Consolas"/>
            </a:endParaRPr>
          </a:p>
          <a:p>
            <a:pPr>
              <a:buNone/>
            </a:pPr>
            <a:endParaRPr sz="1200" b="0" i="0">
              <a:latin typeface="Consolas"/>
            </a:endParaRPr>
          </a:p>
          <a:p>
            <a:pPr>
              <a:buNone/>
            </a:pPr>
            <a:r>
              <a:rPr sz="1200" b="1" i="0" u="none"/>
              <a:t>This repository contains</a:t>
            </a:r>
            <a:endParaRPr sz="1200" b="0" i="0">
              <a:latin typeface="Consolas"/>
            </a:endParaRPr>
          </a:p>
          <a:p>
            <a:pPr>
              <a:buNone/>
            </a:pPr>
            <a:endParaRPr sz="1200" b="0" i="0">
              <a:latin typeface="Consolas"/>
            </a:endParaRPr>
          </a:p>
          <a:p>
            <a:r>
              <a:rPr sz="1200" b="0" i="0" u="none"/>
              <a:t>Complete curriculum and slides</a:t>
            </a:r>
            <a:endParaRPr sz="1200" b="0" i="0">
              <a:latin typeface="Consolas"/>
            </a:endParaRPr>
          </a:p>
          <a:p>
            <a:r>
              <a:rPr sz="1200" b="0" i="0" u="none"/>
              <a:t>Course labs and exercises</a:t>
            </a:r>
            <a:endParaRPr sz="1200" b="0" i="0">
              <a:latin typeface="Consolas"/>
            </a:endParaRPr>
          </a:p>
          <a:p>
            <a:r>
              <a:rPr sz="1200" b="0" i="0" u="none"/>
              <a:t>Reference documentation</a:t>
            </a:r>
            <a:endParaRPr sz="1200" b="0" i="0">
              <a:latin typeface="Consolas"/>
            </a:endParaRPr>
          </a:p>
          <a:p>
            <a:r>
              <a:rPr sz="1200" b="0" i="0" u="none"/>
              <a:t>AI-assisted development instructions</a:t>
            </a:r>
            <a:endParaRPr sz="1200" b="0" i="0">
              <a:latin typeface="Consolas"/>
            </a:endParaRPr>
          </a:p>
          <a:p>
            <a:r>
              <a:rPr sz="1200" b="0" i="0" u="none"/>
              <a:t>Workshop materials and examples</a:t>
            </a:r>
            <a:endParaRPr sz="1200" b="0" i="0">
              <a:latin typeface="Consolas"/>
            </a:endParaRPr>
          </a:p>
          <a:p>
            <a:pPr>
              <a:buNone/>
            </a:pPr>
            <a:endParaRPr sz="1200" b="0" i="0">
              <a:latin typeface="Consolas"/>
            </a:endParaRPr>
          </a:p>
          <a:p>
            <a:pPr>
              <a:buNone/>
            </a:pPr>
            <a:r>
              <a:rPr sz="1200" b="1" i="0" u="none"/>
              <a:t>Why fork this one too?</a:t>
            </a:r>
            <a:r>
              <a:rPr sz="1200" b="0" i="0" u="none"/>
              <a:t> You can customize content, add notes, and keep your version even after the course.</a:t>
            </a:r>
            <a:endParaRPr sz="1200" b="0" i="0">
              <a:latin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Cloning the Course Repository</a:t>
            </a:r>
          </a:p>
        </p:txBody>
      </p:sp>
      <p:sp>
        <p:nvSpPr>
          <p:cNvPr id="3" name="Content Placeholder 2"/>
          <p:cNvSpPr>
            <a:spLocks noGrp="1"/>
          </p:cNvSpPr>
          <p:nvPr>
            <p:ph idx="1"/>
          </p:nvPr>
        </p:nvSpPr>
        <p:spPr/>
        <p:txBody>
          <a:bodyPr wrap="square">
            <a:normAutofit/>
          </a:bodyPr>
          <a:lstStyle/>
          <a:p>
            <a:pPr>
              <a:buNone/>
            </a:pPr>
            <a:r>
              <a:rPr sz="1200" b="1" i="0" u="none"/>
              <a:t>Working with the 20260518-AIASD Repository</a:t>
            </a:r>
            <a:endParaRPr sz="1200" b="0" i="0">
              <a:latin typeface="Consolas"/>
            </a:endParaRPr>
          </a:p>
          <a:p>
            <a:pPr>
              <a:buNone/>
            </a:pPr>
            <a:endParaRPr sz="1200" b="0" i="0">
              <a:latin typeface="Consolas"/>
            </a:endParaRPr>
          </a:p>
          <a:p>
            <a:pPr>
              <a:buNone/>
            </a:pPr>
            <a:r>
              <a:rPr sz="1200" b="1" i="0" u="none"/>
              <a:t>For this session, we'll also use a dedicated course repository</a:t>
            </a:r>
            <a:endParaRPr sz="1200" b="0" i="0">
              <a:latin typeface="Consolas"/>
            </a:endParaRPr>
          </a:p>
          <a:p>
            <a:pPr>
              <a:buNone/>
            </a:pPr>
            <a:endParaRPr sz="1200" b="0" i="0">
              <a:latin typeface="Consolas"/>
            </a:endParaRPr>
          </a:p>
          <a:p>
            <a:pPr>
              <a:buNone/>
            </a:pPr>
            <a:r>
              <a:rPr sz="1200" b="0" i="0" u="none"/>
              <a:t>Repository: </a:t>
            </a:r>
            <a:r>
              <a:rPr sz="1200" b="0" i="0" u="none">
                <a:latin typeface="Consolas"/>
              </a:rPr>
              <a:t>https://github.com/j0hnnymiller/20260518-aiasd.git</a:t>
            </a:r>
            <a:endParaRPr sz="1200" b="0" i="0">
              <a:latin typeface="Consolas"/>
            </a:endParaRPr>
          </a:p>
          <a:p>
            <a:pPr>
              <a:buNone/>
            </a:pPr>
            <a:endParaRPr sz="1200" b="0" i="0">
              <a:latin typeface="Consolas"/>
            </a:endParaRPr>
          </a:p>
          <a:p>
            <a:pPr>
              <a:buNone/>
            </a:pPr>
            <a:r>
              <a:rPr sz="1200" b="1" i="0" u="none"/>
              <a:t>This repository contains</a:t>
            </a:r>
            <a:endParaRPr sz="1200" b="0" i="0">
              <a:latin typeface="Consolas"/>
            </a:endParaRPr>
          </a:p>
          <a:p>
            <a:pPr>
              <a:buNone/>
            </a:pPr>
            <a:endParaRPr sz="1200" b="0" i="0">
              <a:latin typeface="Consolas"/>
            </a:endParaRPr>
          </a:p>
          <a:p>
            <a:r>
              <a:rPr sz="1200" b="0" i="0" u="none"/>
              <a:t>Course-specific examples</a:t>
            </a:r>
            <a:endParaRPr sz="1200" b="0" i="0">
              <a:latin typeface="Consolas"/>
            </a:endParaRPr>
          </a:p>
          <a:p>
            <a:r>
              <a:rPr sz="1200" b="0" i="0" u="none"/>
              <a:t>Hands-on exercises</a:t>
            </a:r>
            <a:endParaRPr sz="1200" b="0" i="0">
              <a:latin typeface="Consolas"/>
            </a:endParaRPr>
          </a:p>
          <a:p>
            <a:r>
              <a:rPr sz="1200" b="0" i="0" u="none"/>
              <a:t>Session materials</a:t>
            </a:r>
            <a:endParaRPr sz="1200" b="0" i="0">
              <a:latin typeface="Consolas"/>
            </a:endParaRPr>
          </a:p>
          <a:p>
            <a:r>
              <a:rPr sz="1200" b="0" i="0" u="none"/>
              <a:t>Starting templates</a:t>
            </a:r>
            <a:endParaRPr sz="1200" b="0" i="0">
              <a:latin typeface="Consolas"/>
            </a:endParaRPr>
          </a:p>
          <a:p>
            <a:r>
              <a:rPr sz="1200" b="0" i="0" u="none"/>
              <a:t>Slides</a:t>
            </a:r>
            <a:endParaRPr sz="1200" b="0" i="0">
              <a:latin typeface="Consolas"/>
            </a:endParaRPr>
          </a:p>
          <a:p>
            <a:pPr>
              <a:buNone/>
            </a:pPr>
            <a:endParaRPr sz="1200" b="0" i="0">
              <a:latin typeface="Consolas"/>
            </a:endParaRPr>
          </a:p>
          <a:p>
            <a:pPr>
              <a:buNone/>
            </a:pPr>
            <a:r>
              <a:rPr sz="1200" b="1" i="0" u="none"/>
              <a:t>Note</a:t>
            </a:r>
            <a:r>
              <a:rPr sz="1200" b="0" i="0" u="none"/>
              <a:t> Unlike the brownfield example, we'll clone this directly and work on personal branches.</a:t>
            </a:r>
            <a:endParaRPr sz="1200" b="0" i="0">
              <a:latin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Cloning the 20260518-AIASD Repository</a:t>
            </a:r>
          </a:p>
        </p:txBody>
      </p:sp>
      <p:sp>
        <p:nvSpPr>
          <p:cNvPr id="3" name="Content Placeholder 2"/>
          <p:cNvSpPr>
            <a:spLocks noGrp="1"/>
          </p:cNvSpPr>
          <p:nvPr>
            <p:ph idx="1"/>
          </p:nvPr>
        </p:nvSpPr>
        <p:spPr/>
        <p:txBody>
          <a:bodyPr wrap="square">
            <a:normAutofit/>
          </a:bodyPr>
          <a:lstStyle/>
          <a:p>
            <a:pPr>
              <a:buNone/>
            </a:pPr>
            <a:r>
              <a:rPr sz="1350" b="1" i="0" u="none"/>
              <a:t>Getting Started</a:t>
            </a:r>
            <a:endParaRPr sz="1350" b="0" i="0">
              <a:latin typeface="Consolas"/>
            </a:endParaRPr>
          </a:p>
          <a:p>
            <a:pPr>
              <a:buNone/>
            </a:pPr>
            <a:endParaRPr sz="1350" b="0" i="0">
              <a:latin typeface="Consolas"/>
            </a:endParaRPr>
          </a:p>
          <a:p>
            <a:pPr>
              <a:buNone/>
            </a:pPr>
            <a:endParaRPr sz="1350" b="0" i="0">
              <a:latin typeface="Consolas"/>
            </a:endParaRPr>
          </a:p>
          <a:p>
            <a:pPr>
              <a:buNone/>
            </a:pPr>
            <a:r>
              <a:rPr sz="1350">
                <a:latin typeface="Consolas"/>
              </a:rPr>
              <a:t># Cloning Course Repositories || Three Repos Walk Into a GitHub...</a:t>
            </a:r>
            <a:endParaRPr sz="1350" b="0" i="0">
              <a:latin typeface="Consolas"/>
            </a:endParaRPr>
          </a:p>
          <a:p>
            <a:pPr>
              <a:buNone/>
            </a:pPr>
            <a:endParaRPr sz="1350" b="0" i="0">
              <a:latin typeface="Consolas"/>
            </a:endParaRPr>
          </a:p>
          <a:p>
            <a:pPr>
              <a:buNone/>
            </a:pPr>
            <a:r>
              <a:rPr sz="1350">
                <a:latin typeface="Consolas"/>
              </a:rPr>
              <a:t>git clone https://github.com/j0hnnymiller/20260518-aiasd.git # Navigate into the directory</a:t>
            </a:r>
            <a:endParaRPr sz="1350" b="0" i="0">
              <a:latin typeface="Consolas"/>
            </a:endParaRPr>
          </a:p>
          <a:p>
            <a:pPr>
              <a:buNone/>
            </a:pPr>
            <a:r>
              <a:rPr sz="1350">
                <a:latin typeface="Consolas"/>
              </a:rPr>
              <a:t>cd 20260518-aiasd # Check current branch</a:t>
            </a:r>
            <a:endParaRPr sz="1350" b="0" i="0">
              <a:latin typeface="Consolas"/>
            </a:endParaRPr>
          </a:p>
          <a:p>
            <a:pPr>
              <a:buNone/>
            </a:pPr>
            <a:r>
              <a:rPr sz="1350">
                <a:latin typeface="Consolas"/>
              </a:rPr>
              <a:t>git branch</a:t>
            </a:r>
            <a:endParaRPr sz="1350" b="0" i="0">
              <a:latin typeface="Consolas"/>
            </a:endParaRPr>
          </a:p>
          <a:p>
            <a:pPr>
              <a:buNone/>
            </a:pPr>
            <a:endParaRPr sz="1350" b="0" i="0">
              <a:latin typeface="Consolas"/>
            </a:endParaRPr>
          </a:p>
          <a:p>
            <a:pPr>
              <a:buNone/>
            </a:pPr>
            <a:r>
              <a:rPr sz="1350" b="1" i="0" u="none"/>
              <a:t>Or using SSH</a:t>
            </a:r>
            <a:endParaRPr sz="1350" b="0" i="0">
              <a:latin typeface="Consolas"/>
            </a:endParaRPr>
          </a:p>
          <a:p>
            <a:pPr>
              <a:buNone/>
            </a:pPr>
            <a:endParaRPr sz="1350" b="0" i="0">
              <a:latin typeface="Consolas"/>
            </a:endParaRPr>
          </a:p>
          <a:p>
            <a:pPr>
              <a:buNone/>
            </a:pPr>
            <a:r>
              <a:rPr sz="1350">
                <a:latin typeface="Consolas"/>
              </a:rPr>
              <a:t>git clone git@github.com:j0hnnymiller/20260518-aiasd.git</a:t>
            </a:r>
            <a:endParaRPr sz="1350" b="0" i="0">
              <a:latin typeface="Consolas"/>
            </a:endParaRPr>
          </a:p>
          <a:p>
            <a:pPr>
              <a:buNone/>
            </a:pPr>
            <a:r>
              <a:rPr sz="1350">
                <a:latin typeface="Consolas"/>
              </a:rPr>
              <a:t>cd 20260518-aiasd</a:t>
            </a:r>
            <a:endParaRPr sz="1350" b="0" i="0">
              <a:latin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Creating Your Personal Branch</a:t>
            </a:r>
          </a:p>
        </p:txBody>
      </p:sp>
      <p:sp>
        <p:nvSpPr>
          <p:cNvPr id="3" name="Content Placeholder 2"/>
          <p:cNvSpPr>
            <a:spLocks noGrp="1"/>
          </p:cNvSpPr>
          <p:nvPr>
            <p:ph idx="1"/>
          </p:nvPr>
        </p:nvSpPr>
        <p:spPr/>
        <p:txBody>
          <a:bodyPr wrap="square">
            <a:normAutofit/>
          </a:bodyPr>
          <a:lstStyle/>
          <a:p>
            <a:pPr>
              <a:buNone/>
            </a:pPr>
            <a:r>
              <a:rPr sz="1200" b="1" i="0" u="none"/>
              <a:t>Setting Up Your Workspace</a:t>
            </a:r>
            <a:endParaRPr sz="1200" b="0" i="0">
              <a:latin typeface="Consolas"/>
            </a:endParaRPr>
          </a:p>
          <a:p>
            <a:pPr>
              <a:buNone/>
            </a:pPr>
            <a:endParaRPr sz="1200" b="0" i="0">
              <a:latin typeface="Consolas"/>
            </a:endParaRPr>
          </a:p>
          <a:p>
            <a:pPr>
              <a:buNone/>
            </a:pPr>
            <a:r>
              <a:rPr sz="1200" b="1" i="0" u="none"/>
              <a:t>Create a branch with your name or identifier</a:t>
            </a:r>
            <a:endParaRPr sz="1200" b="0" i="0">
              <a:latin typeface="Consolas"/>
            </a:endParaRPr>
          </a:p>
          <a:p>
            <a:pPr>
              <a:buNone/>
            </a:pPr>
            <a:endParaRPr sz="1200" b="0" i="0">
              <a:latin typeface="Consolas"/>
            </a:endParaRPr>
          </a:p>
          <a:p>
            <a:pPr>
              <a:buNone/>
            </a:pPr>
            <a:endParaRPr sz="1200" b="0" i="0">
              <a:latin typeface="Consolas"/>
            </a:endParaRPr>
          </a:p>
          <a:p>
            <a:pPr>
              <a:buNone/>
            </a:pPr>
            <a:r>
              <a:rPr sz="1200">
                <a:latin typeface="Consolas"/>
              </a:rPr>
              <a:t>git checkout -b yourname-workspace # Example with actual name:</a:t>
            </a:r>
            <a:endParaRPr sz="1200" b="0" i="0">
              <a:latin typeface="Consolas"/>
            </a:endParaRPr>
          </a:p>
          <a:p>
            <a:pPr>
              <a:buNone/>
            </a:pPr>
            <a:r>
              <a:rPr sz="1200">
                <a:latin typeface="Consolas"/>
              </a:rPr>
              <a:t>git checkout -b john-miller-workspace # Or use a convention like firstname-lastname:</a:t>
            </a:r>
            <a:endParaRPr sz="1200" b="0" i="0">
              <a:latin typeface="Consolas"/>
            </a:endParaRPr>
          </a:p>
          <a:p>
            <a:pPr>
              <a:buNone/>
            </a:pPr>
            <a:r>
              <a:rPr sz="1200">
                <a:latin typeface="Consolas"/>
              </a:rPr>
              <a:t>git checkout -b jane-doe-workspace</a:t>
            </a:r>
            <a:endParaRPr sz="1200" b="0" i="0">
              <a:latin typeface="Consolas"/>
            </a:endParaRPr>
          </a:p>
          <a:p>
            <a:pPr>
              <a:buNone/>
            </a:pPr>
            <a:endParaRPr sz="1200" b="0" i="0">
              <a:latin typeface="Consolas"/>
            </a:endParaRPr>
          </a:p>
          <a:p>
            <a:pPr>
              <a:buNone/>
            </a:pPr>
            <a:r>
              <a:rPr sz="1200" b="1" i="0" u="none"/>
              <a:t>Verify your branch</a:t>
            </a:r>
            <a:endParaRPr sz="1200" b="0" i="0">
              <a:latin typeface="Consolas"/>
            </a:endParaRPr>
          </a:p>
          <a:p>
            <a:pPr>
              <a:buNone/>
            </a:pPr>
            <a:endParaRPr sz="1200" b="0" i="0">
              <a:latin typeface="Consolas"/>
            </a:endParaRPr>
          </a:p>
          <a:p>
            <a:pPr>
              <a:buNone/>
            </a:pPr>
            <a:endParaRPr sz="1200" b="0" i="0">
              <a:latin typeface="Consolas"/>
            </a:endParaRPr>
          </a:p>
          <a:p>
            <a:pPr>
              <a:buNone/>
            </a:pPr>
            <a:r>
              <a:rPr sz="1200">
                <a:latin typeface="Consolas"/>
              </a:rPr>
              <a:t>git branch # Or see current branch in prompt</a:t>
            </a:r>
            <a:endParaRPr sz="1200" b="0" i="0">
              <a:latin typeface="Consolas"/>
            </a:endParaRPr>
          </a:p>
          <a:p>
            <a:pPr>
              <a:buNone/>
            </a:pPr>
            <a:r>
              <a:rPr sz="1200">
                <a:latin typeface="Consolas"/>
              </a:rPr>
              <a:t>git status</a:t>
            </a:r>
            <a:endParaRPr sz="1200" b="0" i="0">
              <a:latin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Pushing Your Personal Branch</a:t>
            </a:r>
          </a:p>
        </p:txBody>
      </p:sp>
      <p:sp>
        <p:nvSpPr>
          <p:cNvPr id="3" name="Content Placeholder 2"/>
          <p:cNvSpPr>
            <a:spLocks noGrp="1"/>
          </p:cNvSpPr>
          <p:nvPr>
            <p:ph idx="1"/>
          </p:nvPr>
        </p:nvSpPr>
        <p:spPr/>
        <p:txBody>
          <a:bodyPr wrap="square">
            <a:normAutofit/>
          </a:bodyPr>
          <a:lstStyle/>
          <a:p>
            <a:pPr>
              <a:buNone/>
            </a:pPr>
            <a:r>
              <a:rPr sz="1200" b="1" i="0" u="none"/>
              <a:t>Making Your Branch Available</a:t>
            </a:r>
            <a:endParaRPr sz="1200" b="0" i="0">
              <a:latin typeface="Consolas"/>
            </a:endParaRPr>
          </a:p>
          <a:p>
            <a:pPr>
              <a:buNone/>
            </a:pPr>
            <a:endParaRPr sz="1200" b="0" i="0">
              <a:latin typeface="Consolas"/>
            </a:endParaRPr>
          </a:p>
          <a:p>
            <a:pPr>
              <a:buNone/>
            </a:pPr>
            <a:r>
              <a:rPr sz="1200">
                <a:latin typeface="Consolas"/>
              </a:rPr>
              <a:t>git push -u origin yourname-workspace # The -u flag sets up tracking</a:t>
            </a:r>
            <a:endParaRPr sz="1200" b="0" i="0">
              <a:latin typeface="Consolas"/>
            </a:endParaRPr>
          </a:p>
          <a:p>
            <a:pPr>
              <a:buNone/>
            </a:pPr>
            <a:endParaRPr sz="1200" b="0" i="0">
              <a:latin typeface="Consolas"/>
            </a:endParaRPr>
          </a:p>
          <a:p>
            <a:pPr>
              <a:buNone/>
            </a:pPr>
            <a:r>
              <a:rPr sz="1200" b="1" i="0" u="none"/>
              <a:t>After pushing</a:t>
            </a:r>
            <a:endParaRPr sz="1200" b="0" i="0">
              <a:latin typeface="Consolas"/>
            </a:endParaRPr>
          </a:p>
          <a:p>
            <a:pPr>
              <a:buNone/>
            </a:pPr>
            <a:endParaRPr sz="1200" b="0" i="0">
              <a:latin typeface="Consolas"/>
            </a:endParaRPr>
          </a:p>
          <a:p>
            <a:pPr>
              <a:buNone/>
            </a:pPr>
            <a:r>
              <a:rPr sz="1200">
                <a:latin typeface="Consolas"/>
              </a:rPr>
              <a:t>git branch -vv # Should show your branch tracking origin/yourname-workspace</a:t>
            </a:r>
            <a:endParaRPr sz="1200" b="0" i="0">
              <a:latin typeface="Consolas"/>
            </a:endParaRPr>
          </a:p>
          <a:p>
            <a:pPr>
              <a:buNone/>
            </a:pPr>
            <a:endParaRPr sz="1200" b="0" i="0">
              <a:latin typeface="Consolas"/>
            </a:endParaRPr>
          </a:p>
          <a:p>
            <a:pPr>
              <a:buNone/>
            </a:pPr>
            <a:r>
              <a:rPr sz="1200" b="1" i="0" u="none"/>
              <a:t>Create a test commit to verify access</a:t>
            </a:r>
            <a:endParaRPr sz="1200" b="0" i="0">
              <a:latin typeface="Consolas"/>
            </a:endParaRPr>
          </a:p>
          <a:p>
            <a:pPr>
              <a:buNone/>
            </a:pPr>
            <a:endParaRPr sz="1200" b="0" i="0">
              <a:latin typeface="Consolas"/>
            </a:endParaRPr>
          </a:p>
          <a:p>
            <a:pPr>
              <a:buNone/>
            </a:pPr>
            <a:r>
              <a:rPr sz="1200">
                <a:latin typeface="Consolas"/>
              </a:rPr>
              <a:t>echo "# My Workspace" &gt; README-yourname.md</a:t>
            </a:r>
            <a:endParaRPr sz="1200" b="0" i="0">
              <a:latin typeface="Consolas"/>
            </a:endParaRPr>
          </a:p>
          <a:p>
            <a:pPr>
              <a:buNone/>
            </a:pPr>
            <a:r>
              <a:rPr sz="1200">
                <a:latin typeface="Consolas"/>
              </a:rPr>
              <a:t>git add README-yourname.md</a:t>
            </a:r>
            <a:endParaRPr sz="1200" b="0" i="0">
              <a:latin typeface="Consolas"/>
            </a:endParaRPr>
          </a:p>
          <a:p>
            <a:pPr>
              <a:buNone/>
            </a:pPr>
            <a:r>
              <a:rPr sz="1200">
                <a:latin typeface="Consolas"/>
              </a:rPr>
              <a:t>git commit -m "Initial workspace setup"</a:t>
            </a:r>
            <a:endParaRPr sz="1200" b="0" i="0">
              <a:latin typeface="Consolas"/>
            </a:endParaRPr>
          </a:p>
          <a:p>
            <a:pPr>
              <a:buNone/>
            </a:pPr>
            <a:r>
              <a:rPr sz="1200">
                <a:latin typeface="Consolas"/>
              </a:rPr>
              <a:t>git push</a:t>
            </a:r>
            <a:endParaRPr sz="1200" b="0" i="0">
              <a:latin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Three-Repository Workflow</a:t>
            </a:r>
          </a:p>
        </p:txBody>
      </p:sp>
      <p:sp>
        <p:nvSpPr>
          <p:cNvPr id="3" name="Content Placeholder 2"/>
          <p:cNvSpPr>
            <a:spLocks noGrp="1"/>
          </p:cNvSpPr>
          <p:nvPr>
            <p:ph sz="half" idx="1"/>
          </p:nvPr>
        </p:nvSpPr>
        <p:spPr/>
        <p:txBody>
          <a:bodyPr wrap="square">
            <a:normAutofit/>
          </a:bodyPr>
          <a:lstStyle/>
          <a:p>
            <a:pPr>
              <a:buNone/>
            </a:pPr>
            <a:r>
              <a:rPr sz="1300" b="1" i="0" u="none"/>
              <a:t>Understanding Your Setup</a:t>
            </a:r>
            <a:endParaRPr sz="1300" b="0" i="0">
              <a:latin typeface="Arial"/>
            </a:endParaRPr>
          </a:p>
          <a:p>
            <a:pPr>
              <a:buNone/>
            </a:pPr>
            <a:endParaRPr sz="1300" b="0" i="0">
              <a:latin typeface="Arial"/>
            </a:endParaRPr>
          </a:p>
          <a:p>
            <a:pPr>
              <a:buNone/>
            </a:pPr>
            <a:r>
              <a:rPr sz="1300" b="1" i="0" u="none"/>
              <a:t>AIASD-Brownfield-Example (Forked)</a:t>
            </a:r>
            <a:endParaRPr sz="1300" b="0" i="0">
              <a:latin typeface="Arial"/>
            </a:endParaRPr>
          </a:p>
          <a:p>
            <a:pPr>
              <a:buNone/>
            </a:pPr>
            <a:endParaRPr sz="1300" b="0" i="0">
              <a:latin typeface="Arial"/>
            </a:endParaRPr>
          </a:p>
          <a:p>
            <a:pPr>
              <a:buNone/>
            </a:pPr>
            <a:r>
              <a:rPr sz="1300" b="0" i="0" u="none"/>
              <a:t>This is a real-world codebase from GitHub - not a toy example! It contains actual production-style code with technical debt, legacy patterns, and opportunities for improvement. Perfect for practicing AI-assisted refactoring and modernization techniques.</a:t>
            </a:r>
            <a:endParaRPr sz="1300" b="0" i="0">
              <a:latin typeface="Arial"/>
            </a:endParaRPr>
          </a:p>
          <a:p>
            <a:pPr>
              <a:buNone/>
            </a:pPr>
            <a:endParaRPr sz="1300" b="0" i="0">
              <a:latin typeface="Arial"/>
            </a:endParaRPr>
          </a:p>
          <a:p>
            <a:r>
              <a:rPr sz="1300" b="0" i="0" u="none"/>
              <a:t>✅ Your own copy on GitHub</a:t>
            </a:r>
            <a:endParaRPr sz="1300" b="0" i="0">
              <a:latin typeface="Arial"/>
            </a:endParaRPr>
          </a:p>
          <a:p>
            <a:r>
              <a:rPr sz="1300" b="0" i="0" u="none"/>
              <a:t>✅ Full control and experimentation</a:t>
            </a:r>
            <a:endParaRPr sz="1300" b="0" i="0">
              <a:latin typeface="Arial"/>
            </a:endParaRPr>
          </a:p>
          <a:p>
            <a:r>
              <a:rPr sz="1300" b="0" i="0" u="none"/>
              <a:t>✅ Practice ground for techniques</a:t>
            </a:r>
            <a:endParaRPr sz="1300" b="0" i="0">
              <a:latin typeface="Arial"/>
            </a:endParaRPr>
          </a:p>
          <a:p>
            <a:r>
              <a:rPr sz="1300" b="0" i="0" u="none"/>
              <a:t>✅ Realistic brownfield codebase with typical challenges</a:t>
            </a:r>
            <a:endParaRPr sz="1300" b="0" i="0">
              <a:latin typeface="Arial"/>
            </a:endParaRPr>
          </a:p>
          <a:p>
            <a:r>
              <a:rPr sz="1300" b="0" i="0" u="none"/>
              <a:t>✅ Can create PRs to original</a:t>
            </a:r>
            <a:endParaRPr sz="1300" b="0" i="0">
              <a:latin typeface="Arial"/>
            </a:endParaRPr>
          </a:p>
        </p:txBody>
      </p:sp>
      <p:sp>
        <p:nvSpPr>
          <p:cNvPr id="4" name="Content Placeholder 3"/>
          <p:cNvSpPr>
            <a:spLocks noGrp="1"/>
          </p:cNvSpPr>
          <p:nvPr>
            <p:ph sz="half" idx="2"/>
          </p:nvPr>
        </p:nvSpPr>
        <p:spPr/>
        <p:txBody>
          <a:bodyPr wrap="square">
            <a:normAutofit/>
          </a:bodyPr>
          <a:lstStyle/>
          <a:p>
            <a:pPr>
              <a:buNone/>
            </a:pPr>
            <a:r>
              <a:rPr sz="1200" b="1" i="0" u="none"/>
              <a:t>AI-Assisted-Software-Development (Forked)</a:t>
            </a:r>
            <a:endParaRPr sz="1200" b="0" i="0">
              <a:latin typeface="Consolas"/>
            </a:endParaRPr>
          </a:p>
          <a:p>
            <a:pPr>
              <a:buNone/>
            </a:pPr>
            <a:endParaRPr sz="1200" b="0" i="0">
              <a:latin typeface="Consolas"/>
            </a:endParaRPr>
          </a:p>
          <a:p>
            <a:pPr>
              <a:buNone/>
            </a:pPr>
            <a:r>
              <a:rPr sz="1200" b="0" i="0" u="none"/>
              <a:t>This repository is your complete AI development toolkit! It contains example </a:t>
            </a:r>
            <a:r>
              <a:rPr sz="1200" b="0" i="0" u="none">
                <a:latin typeface="Consolas"/>
              </a:rPr>
              <a:t>.instructions.md</a:t>
            </a:r>
            <a:r>
              <a:rPr sz="1200" b="0" i="0" u="none"/>
              <a:t> files for configuring AI assistants, </a:t>
            </a:r>
            <a:r>
              <a:rPr sz="1200" b="0" i="0" u="none">
                <a:latin typeface="Consolas"/>
              </a:rPr>
              <a:t>.prompt.md</a:t>
            </a:r>
            <a:r>
              <a:rPr sz="1200" b="0" i="0" u="none"/>
              <a:t> files for reusable workflows, </a:t>
            </a:r>
            <a:r>
              <a:rPr sz="1200" b="0" i="0" u="none">
                <a:latin typeface="Consolas"/>
              </a:rPr>
              <a:t>.agent.md</a:t>
            </a:r>
            <a:r>
              <a:rPr sz="1200" b="0" i="0" u="none"/>
              <a:t> configurations, and code samples demonstrating best practices. You can copy these patterns directly into your own projects.</a:t>
            </a:r>
            <a:endParaRPr sz="1200" b="0" i="0">
              <a:latin typeface="Consolas"/>
            </a:endParaRPr>
          </a:p>
          <a:p>
            <a:pPr>
              <a:buNone/>
            </a:pPr>
            <a:endParaRPr sz="1200" b="0" i="0">
              <a:latin typeface="Consolas"/>
            </a:endParaRPr>
          </a:p>
          <a:p>
            <a:r>
              <a:rPr sz="1200" b="0" i="0" u="none"/>
              <a:t>✅ Your personal course materials copy</a:t>
            </a:r>
            <a:endParaRPr sz="1200" b="0" i="0">
              <a:latin typeface="Consolas"/>
            </a:endParaRPr>
          </a:p>
          <a:p>
            <a:r>
              <a:rPr sz="1200" b="0" i="0" u="none"/>
              <a:t>✅ Example instruction files for GitHub Copilot</a:t>
            </a:r>
            <a:endParaRPr sz="1200" b="0" i="0">
              <a:latin typeface="Consolas"/>
            </a:endParaRPr>
          </a:p>
          <a:p>
            <a:r>
              <a:rPr sz="1200" b="0" i="0" u="none"/>
              <a:t>✅ Reusable prompt templates and agent configurations</a:t>
            </a:r>
            <a:endParaRPr sz="1200" b="0" i="0">
              <a:latin typeface="Consolas"/>
            </a:endParaRPr>
          </a:p>
          <a:p>
            <a:r>
              <a:rPr sz="1200" b="0" i="0" u="none"/>
              <a:t>✅ Reference code samples and implementations</a:t>
            </a:r>
            <a:endParaRPr sz="1200" b="0" i="0">
              <a:latin typeface="Consolas"/>
            </a:endParaRPr>
          </a:p>
          <a:p>
            <a:r>
              <a:rPr sz="1200" b="0" i="0" u="none"/>
              <a:t>✅ Add notes and customizations</a:t>
            </a:r>
            <a:endParaRPr sz="1200" b="0" i="0">
              <a:latin typeface="Consolas"/>
            </a:endParaRPr>
          </a:p>
          <a:p>
            <a:r>
              <a:rPr sz="1200" b="0" i="0" u="none"/>
              <a:t>✅ Reference materials and curriculum</a:t>
            </a:r>
            <a:endParaRPr sz="1200" b="0" i="0">
              <a:latin typeface="Consolas"/>
            </a:endParaRPr>
          </a:p>
          <a:p>
            <a:r>
              <a:rPr sz="1200" b="0" i="0" u="none"/>
              <a:t>✅ Keep access after course ends</a:t>
            </a:r>
            <a:endParaRPr sz="1200" b="0" i="0">
              <a:latin typeface="Consolas"/>
            </a:endParaRPr>
          </a:p>
          <a:p>
            <a:pPr>
              <a:buNone/>
            </a:pPr>
            <a:endParaRPr sz="1200" b="0" i="0">
              <a:latin typeface="Consolas"/>
            </a:endParaRPr>
          </a:p>
          <a:p>
            <a:pPr>
              <a:buNone/>
            </a:pPr>
            <a:r>
              <a:rPr sz="1200" b="1" i="0" u="none"/>
              <a:t>20260518-AIASD (Cloned with Personal Branch)</a:t>
            </a:r>
            <a:endParaRPr sz="1200" b="0" i="0">
              <a:latin typeface="Consolas"/>
            </a:endParaRPr>
          </a:p>
          <a:p>
            <a:pPr>
              <a:buNone/>
            </a:pPr>
            <a:endParaRPr sz="1200" b="0" i="0">
              <a:latin typeface="Consolas"/>
            </a:endParaRPr>
          </a:p>
          <a:p>
            <a:pPr>
              <a:buNone/>
            </a:pPr>
            <a:r>
              <a:rPr sz="1200" b="0" i="0" u="none"/>
              <a:t>This is our collaborative workspace for the course session. All the code, documentation, and artifacts you create during class exercises will be pushed here on your personal branch. The instructor can review your work, and you can see the collective progress of the class.</a:t>
            </a:r>
            <a:endParaRPr sz="1200" b="0" i="0">
              <a:latin typeface="Consolas"/>
            </a:endParaRPr>
          </a:p>
          <a:p>
            <a:pPr>
              <a:buNone/>
            </a:pPr>
            <a:endParaRPr sz="1200" b="0" i="0">
              <a:latin typeface="Consolas"/>
            </a:endParaRPr>
          </a:p>
          <a:p>
            <a:r>
              <a:rPr sz="1200" b="0" i="0" u="none"/>
              <a:t>✅ Shared course repository</a:t>
            </a:r>
            <a:endParaRPr sz="1200" b="0" i="0">
              <a:latin typeface="Consolas"/>
            </a:endParaRPr>
          </a:p>
          <a:p>
            <a:r>
              <a:rPr sz="1200" b="0" i="0" u="none"/>
              <a:t>✅ Work on your named branch</a:t>
            </a:r>
            <a:endParaRPr sz="1200" b="0" i="0">
              <a:latin typeface="Consolas"/>
            </a:endParaRPr>
          </a:p>
          <a:p>
            <a:r>
              <a:rPr sz="1200" b="0" i="0" u="none"/>
              <a:t>✅ Push all exercise solutions and practice code here</a:t>
            </a:r>
            <a:endParaRPr sz="1200" b="0" i="0">
              <a:latin typeface="Consolas"/>
            </a:endParaRPr>
          </a:p>
          <a:p>
            <a:r>
              <a:rPr sz="1200" b="0" i="0" u="none"/>
              <a:t>✅ Files created during live coding sessions</a:t>
            </a:r>
            <a:endParaRPr sz="1200" b="0" i="0">
              <a:latin typeface="Consolas"/>
            </a:endParaRPr>
          </a:p>
          <a:p>
            <a:r>
              <a:rPr sz="1200" b="0" i="0" u="none"/>
              <a:t>✅ Session-specific exercises</a:t>
            </a:r>
            <a:endParaRPr sz="1200" b="0" i="0">
              <a:latin typeface="Consolas"/>
            </a:endParaRPr>
          </a:p>
          <a:p>
            <a:r>
              <a:rPr sz="1200" b="0" i="0" u="none"/>
              <a:t>✅ Instructor can review and provide feedback</a:t>
            </a:r>
            <a:endParaRPr sz="1200" b="0" i="0">
              <a:latin typeface="Consolas"/>
            </a:endParaRPr>
          </a:p>
          <a:p>
            <a:r>
              <a:rPr sz="1200" b="0" i="0" u="none"/>
              <a:t>✅ Collaborative environment</a:t>
            </a:r>
            <a:endParaRPr sz="1200" b="0" i="0">
              <a:latin typeface="Consolas"/>
            </a:endParaRPr>
          </a:p>
          <a:p>
            <a:pPr>
              <a:buNone/>
            </a:pPr>
            <a:endParaRPr sz="1200" b="0" i="0">
              <a:latin typeface="Consolas"/>
            </a:endParaRPr>
          </a:p>
          <a:p>
            <a:pPr>
              <a:buNone/>
            </a:pPr>
            <a:r>
              <a:rPr sz="1200">
                <a:latin typeface="Consolas"/>
              </a:rPr>
              <a:t>git remote get-url origin</a:t>
            </a:r>
            <a:endParaRPr sz="1200" b="0" i="0">
              <a:latin typeface="Consolas"/>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TotalTime>
  <Words>2339</Words>
  <Application>Microsoft Office PowerPoint</Application>
  <PresentationFormat>Widescreen</PresentationFormat>
  <Paragraphs>453</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Consolas</vt:lpstr>
      <vt:lpstr>Noto Sans</vt:lpstr>
      <vt:lpstr>Victor Mono</vt:lpstr>
      <vt:lpstr>CODE Training</vt:lpstr>
      <vt:lpstr>Forking the AIASD Brownfield Repository</vt:lpstr>
      <vt:lpstr>Why Fork Instead of Clone?</vt:lpstr>
      <vt:lpstr>Forking Via GitHub UI</vt:lpstr>
      <vt:lpstr>Forking Via GitHub CLI</vt:lpstr>
      <vt:lpstr>Cloning Your Fork</vt:lpstr>
      <vt:lpstr>Verification Checklist</vt:lpstr>
      <vt:lpstr>Forking the Course Materials Repository</vt:lpstr>
      <vt:lpstr>Cloning the Course Repository</vt:lpstr>
      <vt:lpstr>Cloning the 20260518-AIASD Repository</vt:lpstr>
      <vt:lpstr>Creating Your Personal Branch</vt:lpstr>
      <vt:lpstr>Pushing Your Personal Branch</vt:lpstr>
      <vt:lpstr>Three-Repository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6</cp:revision>
  <dcterms:created xsi:type="dcterms:W3CDTF">2025-10-19T18:09:53Z</dcterms:created>
  <dcterms:modified xsi:type="dcterms:W3CDTF">2026-05-18T14:43:38Z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