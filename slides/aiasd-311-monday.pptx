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93"/>
  </p:notesMasterIdLst>
  <p:sldIdLst>
    <p:sldId id="257" r:id="rId2"/>
    <p:sldId id="258" r:id="rId3"/>
    <p:sldId id="259" r:id="rId4"/>
    <p:sldId id="260" r:id="rId5"/>
    <p:sldId id="261" r:id="rId6"/>
    <p:sldId id="264" r:id="rId7"/>
    <p:sldId id="265" r:id="rId8"/>
    <p:sldId id="266" r:id="rId9"/>
    <p:sldId id="267" r:id="rId10"/>
    <p:sldId id="268" r:id="rId11"/>
    <p:sldId id="269" r:id="rId12"/>
    <p:sldId id="270" r:id="rId13"/>
    <p:sldId id="271" r:id="rId14"/>
    <p:sldId id="272" r:id="rId15"/>
    <p:sldId id="273" r:id="rId16"/>
    <p:sldId id="274" r:id="rId17"/>
    <p:sldId id="276" r:id="rId18"/>
    <p:sldId id="277" r:id="rId19"/>
    <p:sldId id="278" r:id="rId20"/>
    <p:sldId id="279" r:id="rId21"/>
    <p:sldId id="280" r:id="rId22"/>
    <p:sldId id="281" r:id="rId23"/>
    <p:sldId id="282" r:id="rId24"/>
    <p:sldId id="283" r:id="rId25"/>
    <p:sldId id="284" r:id="rId26"/>
    <p:sldId id="289" r:id="rId27"/>
    <p:sldId id="291" r:id="rId28"/>
    <p:sldId id="292" r:id="rId29"/>
    <p:sldId id="294" r:id="rId30"/>
    <p:sldId id="295" r:id="rId31"/>
    <p:sldId id="296" r:id="rId32"/>
    <p:sldId id="297" r:id="rId33"/>
    <p:sldId id="298" r:id="rId34"/>
    <p:sldId id="333" r:id="rId35"/>
    <p:sldId id="334" r:id="rId36"/>
    <p:sldId id="335" r:id="rId37"/>
    <p:sldId id="336" r:id="rId38"/>
    <p:sldId id="337" r:id="rId39"/>
    <p:sldId id="338" r:id="rId40"/>
    <p:sldId id="339" r:id="rId41"/>
    <p:sldId id="340" r:id="rId42"/>
    <p:sldId id="341" r:id="rId43"/>
    <p:sldId id="342" r:id="rId44"/>
    <p:sldId id="343" r:id="rId45"/>
    <p:sldId id="344" r:id="rId46"/>
    <p:sldId id="345" r:id="rId47"/>
    <p:sldId id="346" r:id="rId48"/>
    <p:sldId id="347" r:id="rId49"/>
    <p:sldId id="348" r:id="rId50"/>
    <p:sldId id="349" r:id="rId51"/>
    <p:sldId id="350" r:id="rId52"/>
    <p:sldId id="351" r:id="rId53"/>
    <p:sldId id="352" r:id="rId54"/>
    <p:sldId id="355" r:id="rId55"/>
    <p:sldId id="356" r:id="rId56"/>
    <p:sldId id="357" r:id="rId57"/>
    <p:sldId id="358" r:id="rId58"/>
    <p:sldId id="361" r:id="rId59"/>
    <p:sldId id="362" r:id="rId60"/>
    <p:sldId id="363" r:id="rId61"/>
    <p:sldId id="364" r:id="rId62"/>
    <p:sldId id="366" r:id="rId63"/>
    <p:sldId id="367" r:id="rId64"/>
    <p:sldId id="368" r:id="rId65"/>
    <p:sldId id="369" r:id="rId66"/>
    <p:sldId id="370" r:id="rId67"/>
    <p:sldId id="371" r:id="rId68"/>
    <p:sldId id="372" r:id="rId69"/>
    <p:sldId id="373" r:id="rId70"/>
    <p:sldId id="374" r:id="rId71"/>
    <p:sldId id="375" r:id="rId72"/>
    <p:sldId id="376" r:id="rId73"/>
    <p:sldId id="377" r:id="rId74"/>
    <p:sldId id="378" r:id="rId75"/>
    <p:sldId id="379" r:id="rId76"/>
    <p:sldId id="380" r:id="rId77"/>
    <p:sldId id="381" r:id="rId78"/>
    <p:sldId id="382" r:id="rId79"/>
    <p:sldId id="383" r:id="rId80"/>
    <p:sldId id="384" r:id="rId81"/>
    <p:sldId id="385" r:id="rId82"/>
    <p:sldId id="386" r:id="rId83"/>
    <p:sldId id="387" r:id="rId84"/>
    <p:sldId id="388" r:id="rId85"/>
    <p:sldId id="389" r:id="rId86"/>
    <p:sldId id="390" r:id="rId87"/>
    <p:sldId id="391" r:id="rId88"/>
    <p:sldId id="392" r:id="rId89"/>
    <p:sldId id="393" r:id="rId90"/>
    <p:sldId id="394" r:id="rId91"/>
    <p:sldId id="395" r:id="rId9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57E1E5-4ED4-4662-B814-3E65D2C7D585}" v="7" dt="2026-05-19T04:21:16.2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2269" autoAdjust="0"/>
    <p:restoredTop sz="63597" autoAdjust="0"/>
  </p:normalViewPr>
  <p:slideViewPr>
    <p:cSldViewPr snapToGrid="0" showGuides="1">
      <p:cViewPr varScale="1">
        <p:scale>
          <a:sx n="70" d="100"/>
          <a:sy n="70" d="100"/>
        </p:scale>
        <p:origin x="621" y="36"/>
      </p:cViewPr>
      <p:guideLst/>
    </p:cSldViewPr>
  </p:slideViewPr>
  <p:outlineViewPr>
    <p:cViewPr>
      <p:scale>
        <a:sx n="33" d="100"/>
        <a:sy n="33" d="100"/>
      </p:scale>
      <p:origin x="0" y="-16152"/>
    </p:cViewPr>
  </p:outlineViewPr>
  <p:notesTextViewPr>
    <p:cViewPr>
      <p:scale>
        <a:sx n="3" d="2"/>
        <a:sy n="3" d="2"/>
      </p:scale>
      <p:origin x="0" y="0"/>
    </p:cViewPr>
  </p:notesTextViewPr>
  <p:sorterViewPr>
    <p:cViewPr>
      <p:scale>
        <a:sx n="100" d="100"/>
        <a:sy n="100" d="100"/>
      </p:scale>
      <p:origin x="0" y="-3851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iller" userId="70e70d2d-fa72-4952-98cf-67858fa4ef7a" providerId="ADAL" clId="{3C0F8D48-B805-4732-975A-89F26263F015}"/>
    <pc:docChg chg="undo custSel modSld">
      <pc:chgData name="John Miller" userId="70e70d2d-fa72-4952-98cf-67858fa4ef7a" providerId="ADAL" clId="{3C0F8D48-B805-4732-975A-89F26263F015}" dt="2026-05-19T04:21:15.183" v="323" actId="20577"/>
      <pc:docMkLst>
        <pc:docMk/>
      </pc:docMkLst>
      <pc:sldChg chg="mod modShow">
        <pc:chgData name="John Miller" userId="70e70d2d-fa72-4952-98cf-67858fa4ef7a" providerId="ADAL" clId="{3C0F8D48-B805-4732-975A-89F26263F015}" dt="2026-05-18T04:00:47.355" v="0" actId="729"/>
        <pc:sldMkLst>
          <pc:docMk/>
          <pc:sldMk cId="0" sldId="256"/>
        </pc:sldMkLst>
      </pc:sldChg>
      <pc:sldChg chg="mod modShow">
        <pc:chgData name="John Miller" userId="70e70d2d-fa72-4952-98cf-67858fa4ef7a" providerId="ADAL" clId="{3C0F8D48-B805-4732-975A-89F26263F015}" dt="2026-05-18T04:01:49.983" v="1" actId="729"/>
        <pc:sldMkLst>
          <pc:docMk/>
          <pc:sldMk cId="0" sldId="262"/>
        </pc:sldMkLst>
      </pc:sldChg>
      <pc:sldChg chg="mod modShow">
        <pc:chgData name="John Miller" userId="70e70d2d-fa72-4952-98cf-67858fa4ef7a" providerId="ADAL" clId="{3C0F8D48-B805-4732-975A-89F26263F015}" dt="2026-05-18T04:02:04.637" v="2" actId="729"/>
        <pc:sldMkLst>
          <pc:docMk/>
          <pc:sldMk cId="0" sldId="263"/>
        </pc:sldMkLst>
      </pc:sldChg>
      <pc:sldChg chg="modSp mod">
        <pc:chgData name="John Miller" userId="70e70d2d-fa72-4952-98cf-67858fa4ef7a" providerId="ADAL" clId="{3C0F8D48-B805-4732-975A-89F26263F015}" dt="2026-05-19T02:52:34.237" v="266" actId="113"/>
        <pc:sldMkLst>
          <pc:docMk/>
          <pc:sldMk cId="0" sldId="264"/>
        </pc:sldMkLst>
        <pc:graphicFrameChg chg="modGraphic">
          <ac:chgData name="John Miller" userId="70e70d2d-fa72-4952-98cf-67858fa4ef7a" providerId="ADAL" clId="{3C0F8D48-B805-4732-975A-89F26263F015}" dt="2026-05-19T02:52:34.237" v="266" actId="113"/>
          <ac:graphicFrameMkLst>
            <pc:docMk/>
            <pc:sldMk cId="0" sldId="264"/>
            <ac:graphicFrameMk id="3" creationId="{00000000-0000-0000-0000-000000000000}"/>
          </ac:graphicFrameMkLst>
        </pc:graphicFrameChg>
      </pc:sldChg>
      <pc:sldChg chg="modSp mod">
        <pc:chgData name="John Miller" userId="70e70d2d-fa72-4952-98cf-67858fa4ef7a" providerId="ADAL" clId="{3C0F8D48-B805-4732-975A-89F26263F015}" dt="2026-05-19T03:05:40.663" v="292" actId="20577"/>
        <pc:sldMkLst>
          <pc:docMk/>
          <pc:sldMk cId="0" sldId="269"/>
        </pc:sldMkLst>
        <pc:spChg chg="mod">
          <ac:chgData name="John Miller" userId="70e70d2d-fa72-4952-98cf-67858fa4ef7a" providerId="ADAL" clId="{3C0F8D48-B805-4732-975A-89F26263F015}" dt="2026-05-19T03:05:40.663" v="292" actId="20577"/>
          <ac:spMkLst>
            <pc:docMk/>
            <pc:sldMk cId="0" sldId="269"/>
            <ac:spMk id="2" creationId="{00000000-0000-0000-0000-000000000000}"/>
          </ac:spMkLst>
        </pc:spChg>
        <pc:spChg chg="mod">
          <ac:chgData name="John Miller" userId="70e70d2d-fa72-4952-98cf-67858fa4ef7a" providerId="ADAL" clId="{3C0F8D48-B805-4732-975A-89F26263F015}" dt="2026-05-19T03:05:27.646" v="289" actId="27636"/>
          <ac:spMkLst>
            <pc:docMk/>
            <pc:sldMk cId="0" sldId="269"/>
            <ac:spMk id="3" creationId="{00000000-0000-0000-0000-000000000000}"/>
          </ac:spMkLst>
        </pc:spChg>
      </pc:sldChg>
      <pc:sldChg chg="modSp mod">
        <pc:chgData name="John Miller" userId="70e70d2d-fa72-4952-98cf-67858fa4ef7a" providerId="ADAL" clId="{3C0F8D48-B805-4732-975A-89F26263F015}" dt="2026-05-19T03:06:11.301" v="297" actId="15"/>
        <pc:sldMkLst>
          <pc:docMk/>
          <pc:sldMk cId="0" sldId="270"/>
        </pc:sldMkLst>
        <pc:spChg chg="mod">
          <ac:chgData name="John Miller" userId="70e70d2d-fa72-4952-98cf-67858fa4ef7a" providerId="ADAL" clId="{3C0F8D48-B805-4732-975A-89F26263F015}" dt="2026-05-19T03:06:01.247" v="293" actId="6549"/>
          <ac:spMkLst>
            <pc:docMk/>
            <pc:sldMk cId="0" sldId="270"/>
            <ac:spMk id="2" creationId="{00000000-0000-0000-0000-000000000000}"/>
          </ac:spMkLst>
        </pc:spChg>
        <pc:spChg chg="mod">
          <ac:chgData name="John Miller" userId="70e70d2d-fa72-4952-98cf-67858fa4ef7a" providerId="ADAL" clId="{3C0F8D48-B805-4732-975A-89F26263F015}" dt="2026-05-19T03:06:11.301" v="297" actId="15"/>
          <ac:spMkLst>
            <pc:docMk/>
            <pc:sldMk cId="0" sldId="270"/>
            <ac:spMk id="3" creationId="{00000000-0000-0000-0000-000000000000}"/>
          </ac:spMkLst>
        </pc:spChg>
      </pc:sldChg>
      <pc:sldChg chg="modSp mod">
        <pc:chgData name="John Miller" userId="70e70d2d-fa72-4952-98cf-67858fa4ef7a" providerId="ADAL" clId="{3C0F8D48-B805-4732-975A-89F26263F015}" dt="2026-05-19T03:08:12.089" v="309" actId="27636"/>
        <pc:sldMkLst>
          <pc:docMk/>
          <pc:sldMk cId="0" sldId="271"/>
        </pc:sldMkLst>
        <pc:spChg chg="mod">
          <ac:chgData name="John Miller" userId="70e70d2d-fa72-4952-98cf-67858fa4ef7a" providerId="ADAL" clId="{3C0F8D48-B805-4732-975A-89F26263F015}" dt="2026-05-18T04:03:48.307" v="8" actId="20577"/>
          <ac:spMkLst>
            <pc:docMk/>
            <pc:sldMk cId="0" sldId="271"/>
            <ac:spMk id="2" creationId="{00000000-0000-0000-0000-000000000000}"/>
          </ac:spMkLst>
        </pc:spChg>
        <pc:spChg chg="mod">
          <ac:chgData name="John Miller" userId="70e70d2d-fa72-4952-98cf-67858fa4ef7a" providerId="ADAL" clId="{3C0F8D48-B805-4732-975A-89F26263F015}" dt="2026-05-19T03:08:12.089" v="309" actId="27636"/>
          <ac:spMkLst>
            <pc:docMk/>
            <pc:sldMk cId="0" sldId="271"/>
            <ac:spMk id="3" creationId="{00000000-0000-0000-0000-000000000000}"/>
          </ac:spMkLst>
        </pc:spChg>
      </pc:sldChg>
      <pc:sldChg chg="modSp mod">
        <pc:chgData name="John Miller" userId="70e70d2d-fa72-4952-98cf-67858fa4ef7a" providerId="ADAL" clId="{3C0F8D48-B805-4732-975A-89F26263F015}" dt="2026-05-19T03:09:07.660" v="322" actId="403"/>
        <pc:sldMkLst>
          <pc:docMk/>
          <pc:sldMk cId="0" sldId="272"/>
        </pc:sldMkLst>
        <pc:spChg chg="mod">
          <ac:chgData name="John Miller" userId="70e70d2d-fa72-4952-98cf-67858fa4ef7a" providerId="ADAL" clId="{3C0F8D48-B805-4732-975A-89F26263F015}" dt="2026-05-19T03:09:07.660" v="322" actId="403"/>
          <ac:spMkLst>
            <pc:docMk/>
            <pc:sldMk cId="0" sldId="272"/>
            <ac:spMk id="3" creationId="{00000000-0000-0000-0000-000000000000}"/>
          </ac:spMkLst>
        </pc:spChg>
      </pc:sldChg>
      <pc:sldChg chg="mod modShow">
        <pc:chgData name="John Miller" userId="70e70d2d-fa72-4952-98cf-67858fa4ef7a" providerId="ADAL" clId="{3C0F8D48-B805-4732-975A-89F26263F015}" dt="2026-05-18T04:04:11.125" v="9" actId="729"/>
        <pc:sldMkLst>
          <pc:docMk/>
          <pc:sldMk cId="0" sldId="275"/>
        </pc:sldMkLst>
      </pc:sldChg>
      <pc:sldChg chg="mod modShow">
        <pc:chgData name="John Miller" userId="70e70d2d-fa72-4952-98cf-67858fa4ef7a" providerId="ADAL" clId="{3C0F8D48-B805-4732-975A-89F26263F015}" dt="2026-05-18T04:05:10.794" v="10" actId="729"/>
        <pc:sldMkLst>
          <pc:docMk/>
          <pc:sldMk cId="0" sldId="285"/>
        </pc:sldMkLst>
      </pc:sldChg>
      <pc:sldChg chg="modSp mod modShow">
        <pc:chgData name="John Miller" userId="70e70d2d-fa72-4952-98cf-67858fa4ef7a" providerId="ADAL" clId="{3C0F8D48-B805-4732-975A-89F26263F015}" dt="2026-05-18T04:08:31.263" v="63" actId="27636"/>
        <pc:sldMkLst>
          <pc:docMk/>
          <pc:sldMk cId="0" sldId="286"/>
        </pc:sldMkLst>
        <pc:spChg chg="mod">
          <ac:chgData name="John Miller" userId="70e70d2d-fa72-4952-98cf-67858fa4ef7a" providerId="ADAL" clId="{3C0F8D48-B805-4732-975A-89F26263F015}" dt="2026-05-18T04:08:31.263" v="63" actId="27636"/>
          <ac:spMkLst>
            <pc:docMk/>
            <pc:sldMk cId="0" sldId="286"/>
            <ac:spMk id="3" creationId="{00000000-0000-0000-0000-000000000000}"/>
          </ac:spMkLst>
        </pc:spChg>
        <pc:spChg chg="mod">
          <ac:chgData name="John Miller" userId="70e70d2d-fa72-4952-98cf-67858fa4ef7a" providerId="ADAL" clId="{3C0F8D48-B805-4732-975A-89F26263F015}" dt="2026-05-18T04:08:31.259" v="62" actId="27636"/>
          <ac:spMkLst>
            <pc:docMk/>
            <pc:sldMk cId="0" sldId="286"/>
            <ac:spMk id="4" creationId="{00000000-0000-0000-0000-000000000000}"/>
          </ac:spMkLst>
        </pc:spChg>
      </pc:sldChg>
      <pc:sldChg chg="modSp mod modShow">
        <pc:chgData name="John Miller" userId="70e70d2d-fa72-4952-98cf-67858fa4ef7a" providerId="ADAL" clId="{3C0F8D48-B805-4732-975A-89F26263F015}" dt="2026-05-18T04:08:31.288" v="65" actId="27636"/>
        <pc:sldMkLst>
          <pc:docMk/>
          <pc:sldMk cId="0" sldId="287"/>
        </pc:sldMkLst>
        <pc:spChg chg="mod">
          <ac:chgData name="John Miller" userId="70e70d2d-fa72-4952-98cf-67858fa4ef7a" providerId="ADAL" clId="{3C0F8D48-B805-4732-975A-89F26263F015}" dt="2026-05-18T04:08:31.288" v="64" actId="27636"/>
          <ac:spMkLst>
            <pc:docMk/>
            <pc:sldMk cId="0" sldId="287"/>
            <ac:spMk id="3" creationId="{00000000-0000-0000-0000-000000000000}"/>
          </ac:spMkLst>
        </pc:spChg>
        <pc:spChg chg="mod">
          <ac:chgData name="John Miller" userId="70e70d2d-fa72-4952-98cf-67858fa4ef7a" providerId="ADAL" clId="{3C0F8D48-B805-4732-975A-89F26263F015}" dt="2026-05-18T04:08:31.288" v="65" actId="27636"/>
          <ac:spMkLst>
            <pc:docMk/>
            <pc:sldMk cId="0" sldId="287"/>
            <ac:spMk id="4" creationId="{00000000-0000-0000-0000-000000000000}"/>
          </ac:spMkLst>
        </pc:spChg>
      </pc:sldChg>
      <pc:sldChg chg="modSp mod modShow">
        <pc:chgData name="John Miller" userId="70e70d2d-fa72-4952-98cf-67858fa4ef7a" providerId="ADAL" clId="{3C0F8D48-B805-4732-975A-89F26263F015}" dt="2026-05-18T04:08:31.321" v="67" actId="27636"/>
        <pc:sldMkLst>
          <pc:docMk/>
          <pc:sldMk cId="0" sldId="288"/>
        </pc:sldMkLst>
        <pc:spChg chg="mod">
          <ac:chgData name="John Miller" userId="70e70d2d-fa72-4952-98cf-67858fa4ef7a" providerId="ADAL" clId="{3C0F8D48-B805-4732-975A-89F26263F015}" dt="2026-05-18T04:08:31.317" v="66" actId="27636"/>
          <ac:spMkLst>
            <pc:docMk/>
            <pc:sldMk cId="0" sldId="288"/>
            <ac:spMk id="3" creationId="{00000000-0000-0000-0000-000000000000}"/>
          </ac:spMkLst>
        </pc:spChg>
        <pc:spChg chg="mod">
          <ac:chgData name="John Miller" userId="70e70d2d-fa72-4952-98cf-67858fa4ef7a" providerId="ADAL" clId="{3C0F8D48-B805-4732-975A-89F26263F015}" dt="2026-05-18T04:08:31.321" v="67" actId="27636"/>
          <ac:spMkLst>
            <pc:docMk/>
            <pc:sldMk cId="0" sldId="288"/>
            <ac:spMk id="4" creationId="{00000000-0000-0000-0000-000000000000}"/>
          </ac:spMkLst>
        </pc:spChg>
      </pc:sldChg>
      <pc:sldChg chg="mod modShow">
        <pc:chgData name="John Miller" userId="70e70d2d-fa72-4952-98cf-67858fa4ef7a" providerId="ADAL" clId="{3C0F8D48-B805-4732-975A-89F26263F015}" dt="2026-05-18T04:05:48.694" v="14" actId="729"/>
        <pc:sldMkLst>
          <pc:docMk/>
          <pc:sldMk cId="0" sldId="290"/>
        </pc:sldMkLst>
      </pc:sldChg>
      <pc:sldChg chg="modSp mod">
        <pc:chgData name="John Miller" userId="70e70d2d-fa72-4952-98cf-67858fa4ef7a" providerId="ADAL" clId="{3C0F8D48-B805-4732-975A-89F26263F015}" dt="2026-05-18T04:06:42.198" v="24" actId="15"/>
        <pc:sldMkLst>
          <pc:docMk/>
          <pc:sldMk cId="0" sldId="291"/>
        </pc:sldMkLst>
        <pc:spChg chg="mod">
          <ac:chgData name="John Miller" userId="70e70d2d-fa72-4952-98cf-67858fa4ef7a" providerId="ADAL" clId="{3C0F8D48-B805-4732-975A-89F26263F015}" dt="2026-05-18T04:06:42.198" v="24" actId="15"/>
          <ac:spMkLst>
            <pc:docMk/>
            <pc:sldMk cId="0" sldId="291"/>
            <ac:spMk id="3" creationId="{00000000-0000-0000-0000-000000000000}"/>
          </ac:spMkLst>
        </pc:spChg>
      </pc:sldChg>
      <pc:sldChg chg="modSp mod modShow">
        <pc:chgData name="John Miller" userId="70e70d2d-fa72-4952-98cf-67858fa4ef7a" providerId="ADAL" clId="{3C0F8D48-B805-4732-975A-89F26263F015}" dt="2026-05-18T04:08:31.362" v="69" actId="27636"/>
        <pc:sldMkLst>
          <pc:docMk/>
          <pc:sldMk cId="0" sldId="293"/>
        </pc:sldMkLst>
        <pc:spChg chg="mod">
          <ac:chgData name="John Miller" userId="70e70d2d-fa72-4952-98cf-67858fa4ef7a" providerId="ADAL" clId="{3C0F8D48-B805-4732-975A-89F26263F015}" dt="2026-05-18T04:08:31.362" v="68" actId="27636"/>
          <ac:spMkLst>
            <pc:docMk/>
            <pc:sldMk cId="0" sldId="293"/>
            <ac:spMk id="3" creationId="{00000000-0000-0000-0000-000000000000}"/>
          </ac:spMkLst>
        </pc:spChg>
        <pc:spChg chg="mod">
          <ac:chgData name="John Miller" userId="70e70d2d-fa72-4952-98cf-67858fa4ef7a" providerId="ADAL" clId="{3C0F8D48-B805-4732-975A-89F26263F015}" dt="2026-05-18T04:08:31.362" v="69" actId="27636"/>
          <ac:spMkLst>
            <pc:docMk/>
            <pc:sldMk cId="0" sldId="293"/>
            <ac:spMk id="4" creationId="{00000000-0000-0000-0000-000000000000}"/>
          </ac:spMkLst>
        </pc:spChg>
      </pc:sldChg>
      <pc:sldChg chg="modSp mod">
        <pc:chgData name="John Miller" userId="70e70d2d-fa72-4952-98cf-67858fa4ef7a" providerId="ADAL" clId="{3C0F8D48-B805-4732-975A-89F26263F015}" dt="2026-05-18T04:08:31.399" v="71" actId="27636"/>
        <pc:sldMkLst>
          <pc:docMk/>
          <pc:sldMk cId="0" sldId="294"/>
        </pc:sldMkLst>
        <pc:spChg chg="mod">
          <ac:chgData name="John Miller" userId="70e70d2d-fa72-4952-98cf-67858fa4ef7a" providerId="ADAL" clId="{3C0F8D48-B805-4732-975A-89F26263F015}" dt="2026-05-18T04:08:31.392" v="70" actId="27636"/>
          <ac:spMkLst>
            <pc:docMk/>
            <pc:sldMk cId="0" sldId="294"/>
            <ac:spMk id="3" creationId="{00000000-0000-0000-0000-000000000000}"/>
          </ac:spMkLst>
        </pc:spChg>
        <pc:spChg chg="mod">
          <ac:chgData name="John Miller" userId="70e70d2d-fa72-4952-98cf-67858fa4ef7a" providerId="ADAL" clId="{3C0F8D48-B805-4732-975A-89F26263F015}" dt="2026-05-18T04:08:31.399" v="71" actId="27636"/>
          <ac:spMkLst>
            <pc:docMk/>
            <pc:sldMk cId="0" sldId="294"/>
            <ac:spMk id="4" creationId="{00000000-0000-0000-0000-000000000000}"/>
          </ac:spMkLst>
        </pc:spChg>
      </pc:sldChg>
      <pc:sldChg chg="addSp delSp modSp mod chgLayout">
        <pc:chgData name="John Miller" userId="70e70d2d-fa72-4952-98cf-67858fa4ef7a" providerId="ADAL" clId="{3C0F8D48-B805-4732-975A-89F26263F015}" dt="2026-05-18T04:11:13.871" v="115" actId="27636"/>
        <pc:sldMkLst>
          <pc:docMk/>
          <pc:sldMk cId="0" sldId="295"/>
        </pc:sldMkLst>
        <pc:spChg chg="mod ord">
          <ac:chgData name="John Miller" userId="70e70d2d-fa72-4952-98cf-67858fa4ef7a" providerId="ADAL" clId="{3C0F8D48-B805-4732-975A-89F26263F015}" dt="2026-05-18T04:07:59.772" v="36" actId="700"/>
          <ac:spMkLst>
            <pc:docMk/>
            <pc:sldMk cId="0" sldId="295"/>
            <ac:spMk id="2" creationId="{00000000-0000-0000-0000-000000000000}"/>
          </ac:spMkLst>
        </pc:spChg>
        <pc:spChg chg="mod ord">
          <ac:chgData name="John Miller" userId="70e70d2d-fa72-4952-98cf-67858fa4ef7a" providerId="ADAL" clId="{3C0F8D48-B805-4732-975A-89F26263F015}" dt="2026-05-18T04:11:01.761" v="113" actId="404"/>
          <ac:spMkLst>
            <pc:docMk/>
            <pc:sldMk cId="0" sldId="295"/>
            <ac:spMk id="3" creationId="{00000000-0000-0000-0000-000000000000}"/>
          </ac:spMkLst>
        </pc:spChg>
        <pc:spChg chg="del mod">
          <ac:chgData name="John Miller" userId="70e70d2d-fa72-4952-98cf-67858fa4ef7a" providerId="ADAL" clId="{3C0F8D48-B805-4732-975A-89F26263F015}" dt="2026-05-18T04:07:59.772" v="36" actId="700"/>
          <ac:spMkLst>
            <pc:docMk/>
            <pc:sldMk cId="0" sldId="295"/>
            <ac:spMk id="4" creationId="{00000000-0000-0000-0000-000000000000}"/>
          </ac:spMkLst>
        </pc:spChg>
        <pc:spChg chg="add mod ord">
          <ac:chgData name="John Miller" userId="70e70d2d-fa72-4952-98cf-67858fa4ef7a" providerId="ADAL" clId="{3C0F8D48-B805-4732-975A-89F26263F015}" dt="2026-05-18T04:11:13.871" v="115" actId="27636"/>
          <ac:spMkLst>
            <pc:docMk/>
            <pc:sldMk cId="0" sldId="295"/>
            <ac:spMk id="5" creationId="{182BBA4C-5827-2693-502E-7A769B300549}"/>
          </ac:spMkLst>
        </pc:spChg>
      </pc:sldChg>
      <pc:sldChg chg="modSp mod">
        <pc:chgData name="John Miller" userId="70e70d2d-fa72-4952-98cf-67858fa4ef7a" providerId="ADAL" clId="{3C0F8D48-B805-4732-975A-89F26263F015}" dt="2026-05-18T04:11:36.153" v="116" actId="6549"/>
        <pc:sldMkLst>
          <pc:docMk/>
          <pc:sldMk cId="0" sldId="297"/>
        </pc:sldMkLst>
        <pc:spChg chg="mod">
          <ac:chgData name="John Miller" userId="70e70d2d-fa72-4952-98cf-67858fa4ef7a" providerId="ADAL" clId="{3C0F8D48-B805-4732-975A-89F26263F015}" dt="2026-05-18T04:11:36.153" v="116" actId="6549"/>
          <ac:spMkLst>
            <pc:docMk/>
            <pc:sldMk cId="0" sldId="297"/>
            <ac:spMk id="2" creationId="{00000000-0000-0000-0000-000000000000}"/>
          </ac:spMkLst>
        </pc:spChg>
      </pc:sldChg>
      <pc:sldChg chg="mod modShow">
        <pc:chgData name="John Miller" userId="70e70d2d-fa72-4952-98cf-67858fa4ef7a" providerId="ADAL" clId="{3C0F8D48-B805-4732-975A-89F26263F015}" dt="2026-05-18T17:41:18.286" v="264" actId="729"/>
        <pc:sldMkLst>
          <pc:docMk/>
          <pc:sldMk cId="0" sldId="299"/>
        </pc:sldMkLst>
      </pc:sldChg>
      <pc:sldChg chg="modSp mod modShow">
        <pc:chgData name="John Miller" userId="70e70d2d-fa72-4952-98cf-67858fa4ef7a" providerId="ADAL" clId="{3C0F8D48-B805-4732-975A-89F26263F015}" dt="2026-05-18T17:41:18.286" v="264" actId="729"/>
        <pc:sldMkLst>
          <pc:docMk/>
          <pc:sldMk cId="0" sldId="300"/>
        </pc:sldMkLst>
        <pc:spChg chg="mod">
          <ac:chgData name="John Miller" userId="70e70d2d-fa72-4952-98cf-67858fa4ef7a" providerId="ADAL" clId="{3C0F8D48-B805-4732-975A-89F26263F015}" dt="2026-05-18T04:12:14.663" v="127" actId="27636"/>
          <ac:spMkLst>
            <pc:docMk/>
            <pc:sldMk cId="0" sldId="300"/>
            <ac:spMk id="3" creationId="{00000000-0000-0000-0000-000000000000}"/>
          </ac:spMkLst>
        </pc:spChg>
        <pc:spChg chg="mod">
          <ac:chgData name="John Miller" userId="70e70d2d-fa72-4952-98cf-67858fa4ef7a" providerId="ADAL" clId="{3C0F8D48-B805-4732-975A-89F26263F015}" dt="2026-05-18T04:12:22.678" v="131" actId="6549"/>
          <ac:spMkLst>
            <pc:docMk/>
            <pc:sldMk cId="0" sldId="300"/>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01"/>
        </pc:sldMkLst>
        <pc:spChg chg="mod">
          <ac:chgData name="John Miller" userId="70e70d2d-fa72-4952-98cf-67858fa4ef7a" providerId="ADAL" clId="{3C0F8D48-B805-4732-975A-89F26263F015}" dt="2026-05-18T04:12:41.087" v="141" actId="20577"/>
          <ac:spMkLst>
            <pc:docMk/>
            <pc:sldMk cId="0" sldId="301"/>
            <ac:spMk id="3" creationId="{00000000-0000-0000-0000-000000000000}"/>
          </ac:spMkLst>
        </pc:spChg>
      </pc:sldChg>
      <pc:sldChg chg="mod modShow">
        <pc:chgData name="John Miller" userId="70e70d2d-fa72-4952-98cf-67858fa4ef7a" providerId="ADAL" clId="{3C0F8D48-B805-4732-975A-89F26263F015}" dt="2026-05-18T17:41:18.286" v="264" actId="729"/>
        <pc:sldMkLst>
          <pc:docMk/>
          <pc:sldMk cId="0" sldId="302"/>
        </pc:sldMkLst>
      </pc:sldChg>
      <pc:sldChg chg="modSp mod modShow">
        <pc:chgData name="John Miller" userId="70e70d2d-fa72-4952-98cf-67858fa4ef7a" providerId="ADAL" clId="{3C0F8D48-B805-4732-975A-89F26263F015}" dt="2026-05-18T17:41:18.286" v="264" actId="729"/>
        <pc:sldMkLst>
          <pc:docMk/>
          <pc:sldMk cId="0" sldId="303"/>
        </pc:sldMkLst>
        <pc:spChg chg="mod">
          <ac:chgData name="John Miller" userId="70e70d2d-fa72-4952-98cf-67858fa4ef7a" providerId="ADAL" clId="{3C0F8D48-B805-4732-975A-89F26263F015}" dt="2026-05-18T04:12:59.245" v="143" actId="6549"/>
          <ac:spMkLst>
            <pc:docMk/>
            <pc:sldMk cId="0" sldId="303"/>
            <ac:spMk id="3" creationId="{00000000-0000-0000-0000-000000000000}"/>
          </ac:spMkLst>
        </pc:spChg>
        <pc:spChg chg="mod">
          <ac:chgData name="John Miller" userId="70e70d2d-fa72-4952-98cf-67858fa4ef7a" providerId="ADAL" clId="{3C0F8D48-B805-4732-975A-89F26263F015}" dt="2026-05-18T04:13:03.614" v="144" actId="6549"/>
          <ac:spMkLst>
            <pc:docMk/>
            <pc:sldMk cId="0" sldId="303"/>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04"/>
        </pc:sldMkLst>
        <pc:spChg chg="mod">
          <ac:chgData name="John Miller" userId="70e70d2d-fa72-4952-98cf-67858fa4ef7a" providerId="ADAL" clId="{3C0F8D48-B805-4732-975A-89F26263F015}" dt="2026-05-18T04:13:17.141" v="148" actId="6549"/>
          <ac:spMkLst>
            <pc:docMk/>
            <pc:sldMk cId="0" sldId="304"/>
            <ac:spMk id="3"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05"/>
        </pc:sldMkLst>
        <pc:spChg chg="mod">
          <ac:chgData name="John Miller" userId="70e70d2d-fa72-4952-98cf-67858fa4ef7a" providerId="ADAL" clId="{3C0F8D48-B805-4732-975A-89F26263F015}" dt="2026-05-18T04:13:28.141" v="153" actId="6549"/>
          <ac:spMkLst>
            <pc:docMk/>
            <pc:sldMk cId="0" sldId="305"/>
            <ac:spMk id="3" creationId="{00000000-0000-0000-0000-000000000000}"/>
          </ac:spMkLst>
        </pc:spChg>
        <pc:spChg chg="mod">
          <ac:chgData name="John Miller" userId="70e70d2d-fa72-4952-98cf-67858fa4ef7a" providerId="ADAL" clId="{3C0F8D48-B805-4732-975A-89F26263F015}" dt="2026-05-18T04:13:32.310" v="154" actId="6549"/>
          <ac:spMkLst>
            <pc:docMk/>
            <pc:sldMk cId="0" sldId="305"/>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06"/>
        </pc:sldMkLst>
        <pc:spChg chg="mod">
          <ac:chgData name="John Miller" userId="70e70d2d-fa72-4952-98cf-67858fa4ef7a" providerId="ADAL" clId="{3C0F8D48-B805-4732-975A-89F26263F015}" dt="2026-05-18T04:13:40.390" v="156" actId="6549"/>
          <ac:spMkLst>
            <pc:docMk/>
            <pc:sldMk cId="0" sldId="306"/>
            <ac:spMk id="3" creationId="{00000000-0000-0000-0000-000000000000}"/>
          </ac:spMkLst>
        </pc:spChg>
        <pc:spChg chg="mod">
          <ac:chgData name="John Miller" userId="70e70d2d-fa72-4952-98cf-67858fa4ef7a" providerId="ADAL" clId="{3C0F8D48-B805-4732-975A-89F26263F015}" dt="2026-05-18T04:13:45.377" v="157" actId="6549"/>
          <ac:spMkLst>
            <pc:docMk/>
            <pc:sldMk cId="0" sldId="306"/>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07"/>
        </pc:sldMkLst>
        <pc:spChg chg="mod">
          <ac:chgData name="John Miller" userId="70e70d2d-fa72-4952-98cf-67858fa4ef7a" providerId="ADAL" clId="{3C0F8D48-B805-4732-975A-89F26263F015}" dt="2026-05-18T04:13:56.038" v="159" actId="6549"/>
          <ac:spMkLst>
            <pc:docMk/>
            <pc:sldMk cId="0" sldId="307"/>
            <ac:spMk id="3" creationId="{00000000-0000-0000-0000-000000000000}"/>
          </ac:spMkLst>
        </pc:spChg>
        <pc:spChg chg="mod">
          <ac:chgData name="John Miller" userId="70e70d2d-fa72-4952-98cf-67858fa4ef7a" providerId="ADAL" clId="{3C0F8D48-B805-4732-975A-89F26263F015}" dt="2026-05-18T04:13:59.851" v="160" actId="6549"/>
          <ac:spMkLst>
            <pc:docMk/>
            <pc:sldMk cId="0" sldId="307"/>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08"/>
        </pc:sldMkLst>
        <pc:spChg chg="mod">
          <ac:chgData name="John Miller" userId="70e70d2d-fa72-4952-98cf-67858fa4ef7a" providerId="ADAL" clId="{3C0F8D48-B805-4732-975A-89F26263F015}" dt="2026-05-18T04:14:07.973" v="162" actId="6549"/>
          <ac:spMkLst>
            <pc:docMk/>
            <pc:sldMk cId="0" sldId="308"/>
            <ac:spMk id="3" creationId="{00000000-0000-0000-0000-000000000000}"/>
          </ac:spMkLst>
        </pc:spChg>
        <pc:spChg chg="mod">
          <ac:chgData name="John Miller" userId="70e70d2d-fa72-4952-98cf-67858fa4ef7a" providerId="ADAL" clId="{3C0F8D48-B805-4732-975A-89F26263F015}" dt="2026-05-18T04:14:10.814" v="163" actId="6549"/>
          <ac:spMkLst>
            <pc:docMk/>
            <pc:sldMk cId="0" sldId="308"/>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09"/>
        </pc:sldMkLst>
        <pc:spChg chg="mod">
          <ac:chgData name="John Miller" userId="70e70d2d-fa72-4952-98cf-67858fa4ef7a" providerId="ADAL" clId="{3C0F8D48-B805-4732-975A-89F26263F015}" dt="2026-05-18T04:14:19.198" v="167" actId="6549"/>
          <ac:spMkLst>
            <pc:docMk/>
            <pc:sldMk cId="0" sldId="309"/>
            <ac:spMk id="3" creationId="{00000000-0000-0000-0000-000000000000}"/>
          </ac:spMkLst>
        </pc:spChg>
        <pc:spChg chg="mod">
          <ac:chgData name="John Miller" userId="70e70d2d-fa72-4952-98cf-67858fa4ef7a" providerId="ADAL" clId="{3C0F8D48-B805-4732-975A-89F26263F015}" dt="2026-05-18T04:14:23.936" v="168" actId="6549"/>
          <ac:spMkLst>
            <pc:docMk/>
            <pc:sldMk cId="0" sldId="309"/>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10"/>
        </pc:sldMkLst>
        <pc:spChg chg="mod">
          <ac:chgData name="John Miller" userId="70e70d2d-fa72-4952-98cf-67858fa4ef7a" providerId="ADAL" clId="{3C0F8D48-B805-4732-975A-89F26263F015}" dt="2026-05-18T04:14:32.407" v="175" actId="6549"/>
          <ac:spMkLst>
            <pc:docMk/>
            <pc:sldMk cId="0" sldId="310"/>
            <ac:spMk id="3" creationId="{00000000-0000-0000-0000-000000000000}"/>
          </ac:spMkLst>
        </pc:spChg>
        <pc:spChg chg="mod">
          <ac:chgData name="John Miller" userId="70e70d2d-fa72-4952-98cf-67858fa4ef7a" providerId="ADAL" clId="{3C0F8D48-B805-4732-975A-89F26263F015}" dt="2026-05-18T04:14:38.357" v="177" actId="6549"/>
          <ac:spMkLst>
            <pc:docMk/>
            <pc:sldMk cId="0" sldId="310"/>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11"/>
        </pc:sldMkLst>
        <pc:spChg chg="mod">
          <ac:chgData name="John Miller" userId="70e70d2d-fa72-4952-98cf-67858fa4ef7a" providerId="ADAL" clId="{3C0F8D48-B805-4732-975A-89F26263F015}" dt="2026-05-18T04:14:48.823" v="184" actId="6549"/>
          <ac:spMkLst>
            <pc:docMk/>
            <pc:sldMk cId="0" sldId="311"/>
            <ac:spMk id="3" creationId="{00000000-0000-0000-0000-000000000000}"/>
          </ac:spMkLst>
        </pc:spChg>
        <pc:spChg chg="mod">
          <ac:chgData name="John Miller" userId="70e70d2d-fa72-4952-98cf-67858fa4ef7a" providerId="ADAL" clId="{3C0F8D48-B805-4732-975A-89F26263F015}" dt="2026-05-18T04:14:53.950" v="185" actId="6549"/>
          <ac:spMkLst>
            <pc:docMk/>
            <pc:sldMk cId="0" sldId="311"/>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12"/>
        </pc:sldMkLst>
        <pc:spChg chg="mod">
          <ac:chgData name="John Miller" userId="70e70d2d-fa72-4952-98cf-67858fa4ef7a" providerId="ADAL" clId="{3C0F8D48-B805-4732-975A-89F26263F015}" dt="2026-05-18T04:15:02.694" v="187" actId="6549"/>
          <ac:spMkLst>
            <pc:docMk/>
            <pc:sldMk cId="0" sldId="312"/>
            <ac:spMk id="3" creationId="{00000000-0000-0000-0000-000000000000}"/>
          </ac:spMkLst>
        </pc:spChg>
        <pc:spChg chg="mod">
          <ac:chgData name="John Miller" userId="70e70d2d-fa72-4952-98cf-67858fa4ef7a" providerId="ADAL" clId="{3C0F8D48-B805-4732-975A-89F26263F015}" dt="2026-05-18T04:15:09.161" v="188" actId="6549"/>
          <ac:spMkLst>
            <pc:docMk/>
            <pc:sldMk cId="0" sldId="312"/>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13"/>
        </pc:sldMkLst>
        <pc:spChg chg="mod">
          <ac:chgData name="John Miller" userId="70e70d2d-fa72-4952-98cf-67858fa4ef7a" providerId="ADAL" clId="{3C0F8D48-B805-4732-975A-89F26263F015}" dt="2026-05-18T04:15:20.230" v="190" actId="6549"/>
          <ac:spMkLst>
            <pc:docMk/>
            <pc:sldMk cId="0" sldId="313"/>
            <ac:spMk id="3" creationId="{00000000-0000-0000-0000-000000000000}"/>
          </ac:spMkLst>
        </pc:spChg>
        <pc:spChg chg="mod">
          <ac:chgData name="John Miller" userId="70e70d2d-fa72-4952-98cf-67858fa4ef7a" providerId="ADAL" clId="{3C0F8D48-B805-4732-975A-89F26263F015}" dt="2026-05-18T04:15:23.793" v="191" actId="6549"/>
          <ac:spMkLst>
            <pc:docMk/>
            <pc:sldMk cId="0" sldId="313"/>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14"/>
        </pc:sldMkLst>
        <pc:spChg chg="mod">
          <ac:chgData name="John Miller" userId="70e70d2d-fa72-4952-98cf-67858fa4ef7a" providerId="ADAL" clId="{3C0F8D48-B805-4732-975A-89F26263F015}" dt="2026-05-18T04:15:38.700" v="195" actId="1076"/>
          <ac:spMkLst>
            <pc:docMk/>
            <pc:sldMk cId="0" sldId="314"/>
            <ac:spMk id="3" creationId="{00000000-0000-0000-0000-000000000000}"/>
          </ac:spMkLst>
        </pc:spChg>
        <pc:spChg chg="mod">
          <ac:chgData name="John Miller" userId="70e70d2d-fa72-4952-98cf-67858fa4ef7a" providerId="ADAL" clId="{3C0F8D48-B805-4732-975A-89F26263F015}" dt="2026-05-18T04:15:36.378" v="194" actId="6549"/>
          <ac:spMkLst>
            <pc:docMk/>
            <pc:sldMk cId="0" sldId="314"/>
            <ac:spMk id="4" creationId="{00000000-0000-0000-0000-000000000000}"/>
          </ac:spMkLst>
        </pc:spChg>
      </pc:sldChg>
      <pc:sldChg chg="modSp mod modShow">
        <pc:chgData name="John Miller" userId="70e70d2d-fa72-4952-98cf-67858fa4ef7a" providerId="ADAL" clId="{3C0F8D48-B805-4732-975A-89F26263F015}" dt="2026-05-18T17:41:18.286" v="264" actId="729"/>
        <pc:sldMkLst>
          <pc:docMk/>
          <pc:sldMk cId="0" sldId="315"/>
        </pc:sldMkLst>
        <pc:spChg chg="mod">
          <ac:chgData name="John Miller" userId="70e70d2d-fa72-4952-98cf-67858fa4ef7a" providerId="ADAL" clId="{3C0F8D48-B805-4732-975A-89F26263F015}" dt="2026-05-18T04:15:47.589" v="197" actId="6549"/>
          <ac:spMkLst>
            <pc:docMk/>
            <pc:sldMk cId="0" sldId="315"/>
            <ac:spMk id="3" creationId="{00000000-0000-0000-0000-000000000000}"/>
          </ac:spMkLst>
        </pc:spChg>
        <pc:spChg chg="mod">
          <ac:chgData name="John Miller" userId="70e70d2d-fa72-4952-98cf-67858fa4ef7a" providerId="ADAL" clId="{3C0F8D48-B805-4732-975A-89F26263F015}" dt="2026-05-18T04:15:51.333" v="198" actId="6549"/>
          <ac:spMkLst>
            <pc:docMk/>
            <pc:sldMk cId="0" sldId="315"/>
            <ac:spMk id="4" creationId="{00000000-0000-0000-0000-000000000000}"/>
          </ac:spMkLst>
        </pc:spChg>
      </pc:sldChg>
      <pc:sldChg chg="mod modShow">
        <pc:chgData name="John Miller" userId="70e70d2d-fa72-4952-98cf-67858fa4ef7a" providerId="ADAL" clId="{3C0F8D48-B805-4732-975A-89F26263F015}" dt="2026-05-18T17:41:18.286" v="264" actId="729"/>
        <pc:sldMkLst>
          <pc:docMk/>
          <pc:sldMk cId="0" sldId="316"/>
        </pc:sldMkLst>
      </pc:sldChg>
      <pc:sldChg chg="addSp modSp mod modClrScheme modShow chgLayout">
        <pc:chgData name="John Miller" userId="70e70d2d-fa72-4952-98cf-67858fa4ef7a" providerId="ADAL" clId="{3C0F8D48-B805-4732-975A-89F26263F015}" dt="2026-05-18T17:41:18.286" v="264" actId="729"/>
        <pc:sldMkLst>
          <pc:docMk/>
          <pc:sldMk cId="0" sldId="317"/>
        </pc:sldMkLst>
        <pc:spChg chg="mod ord">
          <ac:chgData name="John Miller" userId="70e70d2d-fa72-4952-98cf-67858fa4ef7a" providerId="ADAL" clId="{3C0F8D48-B805-4732-975A-89F26263F015}" dt="2026-05-18T04:16:08.382" v="199" actId="700"/>
          <ac:spMkLst>
            <pc:docMk/>
            <pc:sldMk cId="0" sldId="317"/>
            <ac:spMk id="2" creationId="{00000000-0000-0000-0000-000000000000}"/>
          </ac:spMkLst>
        </pc:spChg>
        <pc:spChg chg="mod ord">
          <ac:chgData name="John Miller" userId="70e70d2d-fa72-4952-98cf-67858fa4ef7a" providerId="ADAL" clId="{3C0F8D48-B805-4732-975A-89F26263F015}" dt="2026-05-18T04:17:32.144" v="227" actId="21"/>
          <ac:spMkLst>
            <pc:docMk/>
            <pc:sldMk cId="0" sldId="317"/>
            <ac:spMk id="3" creationId="{00000000-0000-0000-0000-000000000000}"/>
          </ac:spMkLst>
        </pc:spChg>
        <pc:spChg chg="add mod ord">
          <ac:chgData name="John Miller" userId="70e70d2d-fa72-4952-98cf-67858fa4ef7a" providerId="ADAL" clId="{3C0F8D48-B805-4732-975A-89F26263F015}" dt="2026-05-18T04:17:54.182" v="230" actId="255"/>
          <ac:spMkLst>
            <pc:docMk/>
            <pc:sldMk cId="0" sldId="317"/>
            <ac:spMk id="4" creationId="{EB459DDA-2D90-E1FB-8F2B-39DCD560F811}"/>
          </ac:spMkLst>
        </pc:spChg>
      </pc:sldChg>
      <pc:sldChg chg="mod modShow">
        <pc:chgData name="John Miller" userId="70e70d2d-fa72-4952-98cf-67858fa4ef7a" providerId="ADAL" clId="{3C0F8D48-B805-4732-975A-89F26263F015}" dt="2026-05-18T17:41:18.286" v="264" actId="729"/>
        <pc:sldMkLst>
          <pc:docMk/>
          <pc:sldMk cId="0" sldId="318"/>
        </pc:sldMkLst>
      </pc:sldChg>
      <pc:sldChg chg="modSp mod modShow">
        <pc:chgData name="John Miller" userId="70e70d2d-fa72-4952-98cf-67858fa4ef7a" providerId="ADAL" clId="{3C0F8D48-B805-4732-975A-89F26263F015}" dt="2026-05-18T17:41:18.286" v="264" actId="729"/>
        <pc:sldMkLst>
          <pc:docMk/>
          <pc:sldMk cId="0" sldId="319"/>
        </pc:sldMkLst>
        <pc:spChg chg="mod">
          <ac:chgData name="John Miller" userId="70e70d2d-fa72-4952-98cf-67858fa4ef7a" providerId="ADAL" clId="{3C0F8D48-B805-4732-975A-89F26263F015}" dt="2026-05-18T04:18:39.934" v="244" actId="27636"/>
          <ac:spMkLst>
            <pc:docMk/>
            <pc:sldMk cId="0" sldId="319"/>
            <ac:spMk id="3" creationId="{00000000-0000-0000-0000-000000000000}"/>
          </ac:spMkLst>
        </pc:spChg>
        <pc:spChg chg="mod">
          <ac:chgData name="John Miller" userId="70e70d2d-fa72-4952-98cf-67858fa4ef7a" providerId="ADAL" clId="{3C0F8D48-B805-4732-975A-89F26263F015}" dt="2026-05-18T04:18:42.966" v="246" actId="6549"/>
          <ac:spMkLst>
            <pc:docMk/>
            <pc:sldMk cId="0" sldId="319"/>
            <ac:spMk id="4" creationId="{00000000-0000-0000-0000-000000000000}"/>
          </ac:spMkLst>
        </pc:spChg>
      </pc:sldChg>
      <pc:sldChg chg="mod modShow">
        <pc:chgData name="John Miller" userId="70e70d2d-fa72-4952-98cf-67858fa4ef7a" providerId="ADAL" clId="{3C0F8D48-B805-4732-975A-89F26263F015}" dt="2026-05-18T17:41:18.286" v="264" actId="729"/>
        <pc:sldMkLst>
          <pc:docMk/>
          <pc:sldMk cId="0" sldId="320"/>
        </pc:sldMkLst>
      </pc:sldChg>
      <pc:sldChg chg="mod modShow">
        <pc:chgData name="John Miller" userId="70e70d2d-fa72-4952-98cf-67858fa4ef7a" providerId="ADAL" clId="{3C0F8D48-B805-4732-975A-89F26263F015}" dt="2026-05-18T17:41:18.286" v="264" actId="729"/>
        <pc:sldMkLst>
          <pc:docMk/>
          <pc:sldMk cId="0" sldId="321"/>
        </pc:sldMkLst>
      </pc:sldChg>
      <pc:sldChg chg="mod modShow">
        <pc:chgData name="John Miller" userId="70e70d2d-fa72-4952-98cf-67858fa4ef7a" providerId="ADAL" clId="{3C0F8D48-B805-4732-975A-89F26263F015}" dt="2026-05-18T17:41:18.286" v="264" actId="729"/>
        <pc:sldMkLst>
          <pc:docMk/>
          <pc:sldMk cId="0" sldId="322"/>
        </pc:sldMkLst>
      </pc:sldChg>
      <pc:sldChg chg="mod modShow">
        <pc:chgData name="John Miller" userId="70e70d2d-fa72-4952-98cf-67858fa4ef7a" providerId="ADAL" clId="{3C0F8D48-B805-4732-975A-89F26263F015}" dt="2026-05-18T17:41:18.286" v="264" actId="729"/>
        <pc:sldMkLst>
          <pc:docMk/>
          <pc:sldMk cId="0" sldId="323"/>
        </pc:sldMkLst>
      </pc:sldChg>
      <pc:sldChg chg="mod modShow">
        <pc:chgData name="John Miller" userId="70e70d2d-fa72-4952-98cf-67858fa4ef7a" providerId="ADAL" clId="{3C0F8D48-B805-4732-975A-89F26263F015}" dt="2026-05-18T17:41:18.286" v="264" actId="729"/>
        <pc:sldMkLst>
          <pc:docMk/>
          <pc:sldMk cId="0" sldId="324"/>
        </pc:sldMkLst>
      </pc:sldChg>
      <pc:sldChg chg="mod modShow">
        <pc:chgData name="John Miller" userId="70e70d2d-fa72-4952-98cf-67858fa4ef7a" providerId="ADAL" clId="{3C0F8D48-B805-4732-975A-89F26263F015}" dt="2026-05-18T17:41:18.286" v="264" actId="729"/>
        <pc:sldMkLst>
          <pc:docMk/>
          <pc:sldMk cId="0" sldId="325"/>
        </pc:sldMkLst>
      </pc:sldChg>
      <pc:sldChg chg="mod modShow">
        <pc:chgData name="John Miller" userId="70e70d2d-fa72-4952-98cf-67858fa4ef7a" providerId="ADAL" clId="{3C0F8D48-B805-4732-975A-89F26263F015}" dt="2026-05-18T04:19:57.016" v="247" actId="729"/>
        <pc:sldMkLst>
          <pc:docMk/>
          <pc:sldMk cId="0" sldId="326"/>
        </pc:sldMkLst>
      </pc:sldChg>
      <pc:sldChg chg="mod modShow">
        <pc:chgData name="John Miller" userId="70e70d2d-fa72-4952-98cf-67858fa4ef7a" providerId="ADAL" clId="{3C0F8D48-B805-4732-975A-89F26263F015}" dt="2026-05-18T04:19:57.016" v="247" actId="729"/>
        <pc:sldMkLst>
          <pc:docMk/>
          <pc:sldMk cId="0" sldId="327"/>
        </pc:sldMkLst>
      </pc:sldChg>
      <pc:sldChg chg="mod modShow">
        <pc:chgData name="John Miller" userId="70e70d2d-fa72-4952-98cf-67858fa4ef7a" providerId="ADAL" clId="{3C0F8D48-B805-4732-975A-89F26263F015}" dt="2026-05-18T04:19:57.016" v="247" actId="729"/>
        <pc:sldMkLst>
          <pc:docMk/>
          <pc:sldMk cId="0" sldId="328"/>
        </pc:sldMkLst>
      </pc:sldChg>
      <pc:sldChg chg="mod modShow">
        <pc:chgData name="John Miller" userId="70e70d2d-fa72-4952-98cf-67858fa4ef7a" providerId="ADAL" clId="{3C0F8D48-B805-4732-975A-89F26263F015}" dt="2026-05-18T04:19:57.016" v="247" actId="729"/>
        <pc:sldMkLst>
          <pc:docMk/>
          <pc:sldMk cId="0" sldId="329"/>
        </pc:sldMkLst>
      </pc:sldChg>
      <pc:sldChg chg="mod modShow">
        <pc:chgData name="John Miller" userId="70e70d2d-fa72-4952-98cf-67858fa4ef7a" providerId="ADAL" clId="{3C0F8D48-B805-4732-975A-89F26263F015}" dt="2026-05-18T04:19:57.016" v="247" actId="729"/>
        <pc:sldMkLst>
          <pc:docMk/>
          <pc:sldMk cId="0" sldId="330"/>
        </pc:sldMkLst>
      </pc:sldChg>
      <pc:sldChg chg="mod modShow">
        <pc:chgData name="John Miller" userId="70e70d2d-fa72-4952-98cf-67858fa4ef7a" providerId="ADAL" clId="{3C0F8D48-B805-4732-975A-89F26263F015}" dt="2026-05-18T04:19:57.016" v="247" actId="729"/>
        <pc:sldMkLst>
          <pc:docMk/>
          <pc:sldMk cId="0" sldId="331"/>
        </pc:sldMkLst>
      </pc:sldChg>
      <pc:sldChg chg="mod modShow">
        <pc:chgData name="John Miller" userId="70e70d2d-fa72-4952-98cf-67858fa4ef7a" providerId="ADAL" clId="{3C0F8D48-B805-4732-975A-89F26263F015}" dt="2026-05-18T04:19:57.016" v="247" actId="729"/>
        <pc:sldMkLst>
          <pc:docMk/>
          <pc:sldMk cId="0" sldId="332"/>
        </pc:sldMkLst>
      </pc:sldChg>
      <pc:sldChg chg="modSp mod modShow">
        <pc:chgData name="John Miller" userId="70e70d2d-fa72-4952-98cf-67858fa4ef7a" providerId="ADAL" clId="{3C0F8D48-B805-4732-975A-89F26263F015}" dt="2026-05-18T04:21:12.577" v="248" actId="729"/>
        <pc:sldMkLst>
          <pc:docMk/>
          <pc:sldMk cId="0" sldId="353"/>
        </pc:sldMkLst>
        <pc:spChg chg="mod">
          <ac:chgData name="John Miller" userId="70e70d2d-fa72-4952-98cf-67858fa4ef7a" providerId="ADAL" clId="{3C0F8D48-B805-4732-975A-89F26263F015}" dt="2026-05-18T04:08:31.088" v="58" actId="27636"/>
          <ac:spMkLst>
            <pc:docMk/>
            <pc:sldMk cId="0" sldId="353"/>
            <ac:spMk id="3" creationId="{00000000-0000-0000-0000-000000000000}"/>
          </ac:spMkLst>
        </pc:spChg>
      </pc:sldChg>
      <pc:sldChg chg="modSp mod modShow">
        <pc:chgData name="John Miller" userId="70e70d2d-fa72-4952-98cf-67858fa4ef7a" providerId="ADAL" clId="{3C0F8D48-B805-4732-975A-89F26263F015}" dt="2026-05-18T04:21:15.842" v="249" actId="729"/>
        <pc:sldMkLst>
          <pc:docMk/>
          <pc:sldMk cId="0" sldId="354"/>
        </pc:sldMkLst>
        <pc:spChg chg="mod">
          <ac:chgData name="John Miller" userId="70e70d2d-fa72-4952-98cf-67858fa4ef7a" providerId="ADAL" clId="{3C0F8D48-B805-4732-975A-89F26263F015}" dt="2026-05-18T04:08:31.108" v="59" actId="27636"/>
          <ac:spMkLst>
            <pc:docMk/>
            <pc:sldMk cId="0" sldId="354"/>
            <ac:spMk id="3" creationId="{00000000-0000-0000-0000-000000000000}"/>
          </ac:spMkLst>
        </pc:spChg>
      </pc:sldChg>
      <pc:sldChg chg="mod modShow">
        <pc:chgData name="John Miller" userId="70e70d2d-fa72-4952-98cf-67858fa4ef7a" providerId="ADAL" clId="{3C0F8D48-B805-4732-975A-89F26263F015}" dt="2026-05-18T04:25:28.708" v="258" actId="729"/>
        <pc:sldMkLst>
          <pc:docMk/>
          <pc:sldMk cId="0" sldId="359"/>
        </pc:sldMkLst>
      </pc:sldChg>
      <pc:sldChg chg="mod modShow">
        <pc:chgData name="John Miller" userId="70e70d2d-fa72-4952-98cf-67858fa4ef7a" providerId="ADAL" clId="{3C0F8D48-B805-4732-975A-89F26263F015}" dt="2026-05-18T04:25:31.789" v="259" actId="729"/>
        <pc:sldMkLst>
          <pc:docMk/>
          <pc:sldMk cId="0" sldId="360"/>
        </pc:sldMkLst>
      </pc:sldChg>
      <pc:sldChg chg="modSp mod">
        <pc:chgData name="John Miller" userId="70e70d2d-fa72-4952-98cf-67858fa4ef7a" providerId="ADAL" clId="{3C0F8D48-B805-4732-975A-89F26263F015}" dt="2026-05-18T04:22:33.615" v="251" actId="1076"/>
        <pc:sldMkLst>
          <pc:docMk/>
          <pc:sldMk cId="0" sldId="362"/>
        </pc:sldMkLst>
        <pc:picChg chg="mod">
          <ac:chgData name="John Miller" userId="70e70d2d-fa72-4952-98cf-67858fa4ef7a" providerId="ADAL" clId="{3C0F8D48-B805-4732-975A-89F26263F015}" dt="2026-05-18T04:22:33.615" v="251" actId="1076"/>
          <ac:picMkLst>
            <pc:docMk/>
            <pc:sldMk cId="0" sldId="362"/>
            <ac:picMk id="3" creationId="{00000000-0000-0000-0000-000000000000}"/>
          </ac:picMkLst>
        </pc:picChg>
      </pc:sldChg>
      <pc:sldChg chg="mod modShow">
        <pc:chgData name="John Miller" userId="70e70d2d-fa72-4952-98cf-67858fa4ef7a" providerId="ADAL" clId="{3C0F8D48-B805-4732-975A-89F26263F015}" dt="2026-05-18T04:23:10.337" v="252" actId="729"/>
        <pc:sldMkLst>
          <pc:docMk/>
          <pc:sldMk cId="0" sldId="365"/>
        </pc:sldMkLst>
      </pc:sldChg>
      <pc:sldChg chg="modSp mod">
        <pc:chgData name="John Miller" userId="70e70d2d-fa72-4952-98cf-67858fa4ef7a" providerId="ADAL" clId="{3C0F8D48-B805-4732-975A-89F26263F015}" dt="2026-05-18T04:23:52.698" v="255" actId="6549"/>
        <pc:sldMkLst>
          <pc:docMk/>
          <pc:sldMk cId="0" sldId="376"/>
        </pc:sldMkLst>
        <pc:spChg chg="mod">
          <ac:chgData name="John Miller" userId="70e70d2d-fa72-4952-98cf-67858fa4ef7a" providerId="ADAL" clId="{3C0F8D48-B805-4732-975A-89F26263F015}" dt="2026-05-18T04:23:52.698" v="255" actId="6549"/>
          <ac:spMkLst>
            <pc:docMk/>
            <pc:sldMk cId="0" sldId="376"/>
            <ac:spMk id="2" creationId="{00000000-0000-0000-0000-000000000000}"/>
          </ac:spMkLst>
        </pc:spChg>
      </pc:sldChg>
      <pc:sldChg chg="modSp mod">
        <pc:chgData name="John Miller" userId="70e70d2d-fa72-4952-98cf-67858fa4ef7a" providerId="ADAL" clId="{3C0F8D48-B805-4732-975A-89F26263F015}" dt="2026-05-18T04:24:02.512" v="257" actId="20577"/>
        <pc:sldMkLst>
          <pc:docMk/>
          <pc:sldMk cId="0" sldId="377"/>
        </pc:sldMkLst>
        <pc:spChg chg="mod">
          <ac:chgData name="John Miller" userId="70e70d2d-fa72-4952-98cf-67858fa4ef7a" providerId="ADAL" clId="{3C0F8D48-B805-4732-975A-89F26263F015}" dt="2026-05-18T04:24:02.512" v="257" actId="20577"/>
          <ac:spMkLst>
            <pc:docMk/>
            <pc:sldMk cId="0" sldId="377"/>
            <ac:spMk id="2" creationId="{00000000-0000-0000-0000-000000000000}"/>
          </ac:spMkLst>
        </pc:spChg>
      </pc:sldChg>
      <pc:sldChg chg="modNotesTx">
        <pc:chgData name="John Miller" userId="70e70d2d-fa72-4952-98cf-67858fa4ef7a" providerId="ADAL" clId="{3C0F8D48-B805-4732-975A-89F26263F015}" dt="2026-05-19T04:21:15.183" v="323" actId="20577"/>
        <pc:sldMkLst>
          <pc:docMk/>
          <pc:sldMk cId="0" sldId="380"/>
        </pc:sldMkLst>
      </pc:sldChg>
      <pc:sldChg chg="modSp mod">
        <pc:chgData name="John Miller" userId="70e70d2d-fa72-4952-98cf-67858fa4ef7a" providerId="ADAL" clId="{3C0F8D48-B805-4732-975A-89F26263F015}" dt="2026-05-18T04:26:02.544" v="262" actId="1076"/>
        <pc:sldMkLst>
          <pc:docMk/>
          <pc:sldMk cId="0" sldId="390"/>
        </pc:sldMkLst>
        <pc:picChg chg="mod">
          <ac:chgData name="John Miller" userId="70e70d2d-fa72-4952-98cf-67858fa4ef7a" providerId="ADAL" clId="{3C0F8D48-B805-4732-975A-89F26263F015}" dt="2026-05-18T04:26:02.544" v="262" actId="1076"/>
          <ac:picMkLst>
            <pc:docMk/>
            <pc:sldMk cId="0" sldId="390"/>
            <ac:picMk id="3" creationId="{00000000-0000-0000-0000-000000000000}"/>
          </ac:picMkLst>
        </pc:picChg>
      </pc:sldChg>
      <pc:sldChg chg="modSp mod">
        <pc:chgData name="John Miller" userId="70e70d2d-fa72-4952-98cf-67858fa4ef7a" providerId="ADAL" clId="{3C0F8D48-B805-4732-975A-89F26263F015}" dt="2026-05-18T04:26:44.011" v="263" actId="6549"/>
        <pc:sldMkLst>
          <pc:docMk/>
          <pc:sldMk cId="0" sldId="393"/>
        </pc:sldMkLst>
        <pc:spChg chg="mod">
          <ac:chgData name="John Miller" userId="70e70d2d-fa72-4952-98cf-67858fa4ef7a" providerId="ADAL" clId="{3C0F8D48-B805-4732-975A-89F26263F015}" dt="2026-05-18T04:26:44.011" v="263" actId="6549"/>
          <ac:spMkLst>
            <pc:docMk/>
            <pc:sldMk cId="0" sldId="393"/>
            <ac:spMk id="3" creationId="{00000000-0000-0000-0000-000000000000}"/>
          </ac:spMkLst>
        </pc:spChg>
      </pc:sldChg>
      <pc:sldChg chg="modSp mod">
        <pc:chgData name="John Miller" userId="70e70d2d-fa72-4952-98cf-67858fa4ef7a" providerId="ADAL" clId="{3C0F8D48-B805-4732-975A-89F26263F015}" dt="2026-05-18T04:08:31.199" v="61" actId="27636"/>
        <pc:sldMkLst>
          <pc:docMk/>
          <pc:sldMk cId="0" sldId="395"/>
        </pc:sldMkLst>
        <pc:spChg chg="mod">
          <ac:chgData name="John Miller" userId="70e70d2d-fa72-4952-98cf-67858fa4ef7a" providerId="ADAL" clId="{3C0F8D48-B805-4732-975A-89F26263F015}" dt="2026-05-18T04:08:31.199" v="61" actId="27636"/>
          <ac:spMkLst>
            <pc:docMk/>
            <pc:sldMk cId="0" sldId="395"/>
            <ac:spMk id="3" creationId="{00000000-0000-0000-0000-000000000000}"/>
          </ac:spMkLst>
        </pc:spChg>
        <pc:spChg chg="mod">
          <ac:chgData name="John Miller" userId="70e70d2d-fa72-4952-98cf-67858fa4ef7a" providerId="ADAL" clId="{3C0F8D48-B805-4732-975A-89F26263F015}" dt="2026-05-18T04:08:31.192" v="60" actId="27636"/>
          <ac:spMkLst>
            <pc:docMk/>
            <pc:sldMk cId="0" sldId="395"/>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participants to the AI Assisted Software Development course. This is your opening slide, so set a positive and engaging tone. Introduce the course name and tagline "From Code to Copilot" which emphasizes the journey from traditional software development to AI-augmented practices.</a:t>
            </a:r>
          </a:p>
          <a:p>
            <a:endParaRPr/>
          </a:p>
          <a:p>
            <a:r>
              <a:t>Key talking points:</a:t>
            </a:r>
          </a:p>
          <a:p>
            <a:endParaRPr/>
          </a:p>
          <a:p>
            <a:r>
              <a:t>- Express enthusiasm about the learning journey ahead</a:t>
            </a:r>
          </a:p>
          <a:p>
            <a:r>
              <a:t>- Acknowledge the transformative nature of AI in software development</a:t>
            </a:r>
          </a:p>
          <a:p>
            <a:r>
              <a:t>- Set expectations that this will be hands-on and practical</a:t>
            </a:r>
          </a:p>
          <a:p>
            <a:r>
              <a:t>- Encourage questions and participation throughout</a:t>
            </a:r>
          </a:p>
          <a:p>
            <a:endParaRPr/>
          </a:p>
          <a:p>
            <a:r>
              <a:t>Transition: "Let's start by introducing ourselves..."</a:t>
            </a:r>
          </a:p>
          <a:p>
            <a:endParaRPr/>
          </a:p>
          <a:p>
            <a:r>
              <a:t>---</a:t>
            </a:r>
          </a:p>
          <a:p>
            <a:endParaRPr/>
          </a:p>
          <a:p>
            <a:r>
              <a:t>Source: slides\marp\welcome-to-aiasd.deck.md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John Michael Miller is a Principal Software Engineer at CODE with over 15 years of experience in software development. He has held various roles including developer, architect, DevOps engineer, platform engineer, test architect, and release manager. John is an AI/ML enthusiast and advocates for effectively using AI to write code. You can connect with him on LinkedIn, reach out via email, or read his blog posts on AI-assisted software development.</a:t>
            </a:r>
          </a:p>
          <a:p>
            <a:endParaRPr/>
          </a:p>
          <a:p>
            <a:r>
              <a:t>- [AI Practitioner Resources](codemag.com/aipractitioner)</a:t>
            </a:r>
          </a:p>
          <a:p>
            <a:endParaRPr/>
          </a:p>
          <a:p>
            <a:r>
              <a:t>---</a:t>
            </a:r>
          </a:p>
          <a:p>
            <a:endParaRPr/>
          </a:p>
          <a:p>
            <a:r>
              <a:t>Source: slides\marp\instructors\john-michael-miller-intro.deck.md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~00:01</a:t>
            </a:r>
          </a:p>
          <a:p>
            <a:endParaRPr dirty="0"/>
          </a:p>
          <a:p>
            <a:r>
              <a:rPr dirty="0"/>
              <a:t>Opening slide for the introduction section. The centered two-title layout displays "Course Introductions" as the main title and "Hi, I'm a Developer Who Has Talked to a Robot" as the subtitle, creating a friendly and approachable tone for the personal introductions that follow.</a:t>
            </a:r>
          </a:p>
          <a:p>
            <a:endParaRPr dirty="0"/>
          </a:p>
          <a:p>
            <a:r>
              <a:rPr dirty="0"/>
              <a:t>Key talking points:</a:t>
            </a:r>
          </a:p>
          <a:p>
            <a:endParaRPr dirty="0"/>
          </a:p>
          <a:p>
            <a:r>
              <a:rPr dirty="0"/>
              <a:t>- This is an icebreaker moment</a:t>
            </a:r>
          </a:p>
          <a:p>
            <a:r>
              <a:rPr dirty="0"/>
              <a:t>- Set a casual, engaging tone</a:t>
            </a:r>
          </a:p>
          <a:p>
            <a:r>
              <a:rPr dirty="0"/>
              <a:t>- The witty subtitle helps create rapport</a:t>
            </a:r>
          </a:p>
          <a:p>
            <a:r>
              <a:rPr dirty="0"/>
              <a:t>- Brief pause after displaying to let attendees read</a:t>
            </a:r>
          </a:p>
          <a:p>
            <a:endParaRPr dirty="0"/>
          </a:p>
          <a:p>
            <a:r>
              <a:rPr dirty="0"/>
              <a:t>Transition: "Let's go around the room and introduce ourselves..."</a:t>
            </a:r>
          </a:p>
          <a:p>
            <a:endParaRPr dirty="0"/>
          </a:p>
          <a:p>
            <a:r>
              <a:rPr dirty="0"/>
              <a:t>---</a:t>
            </a:r>
          </a:p>
          <a:p>
            <a:endParaRPr dirty="0"/>
          </a:p>
          <a:p>
            <a:r>
              <a:rPr dirty="0"/>
              <a:t>Source: slides\marp\introductions.deck.md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~00:10-15 (depending on class size)</a:t>
            </a:r>
          </a:p>
          <a:p>
            <a:endParaRPr/>
          </a:p>
          <a:p>
            <a:r>
              <a:t>Facilitate round-robin introductions. This is valuable for building rapport and understanding the experience level and expectations of the group.</a:t>
            </a:r>
          </a:p>
          <a:p>
            <a:endParaRPr/>
          </a:p>
          <a:p>
            <a:r>
              <a:t>Facilitation tips:</a:t>
            </a:r>
          </a:p>
          <a:p>
            <a:endParaRPr/>
          </a:p>
          <a:p>
            <a:r>
              <a:t>- Start by modeling with your own introduction</a:t>
            </a:r>
          </a:p>
          <a:p>
            <a:r>
              <a:t>- Keep each person to ~2 minutes</a:t>
            </a:r>
          </a:p>
          <a:p>
            <a:r>
              <a:t>- Note common themes or interests for later reference</a:t>
            </a:r>
          </a:p>
          <a:p>
            <a:r>
              <a:t>- Pay attention to AI experience levels to adjust pace</a:t>
            </a:r>
          </a:p>
          <a:p>
            <a:r>
              <a:t>- Listen for specific learning goals to address during the course</a:t>
            </a:r>
          </a:p>
          <a:p>
            <a:endParaRPr/>
          </a:p>
          <a:p>
            <a:r>
              <a:t>Key observations to note:</a:t>
            </a:r>
          </a:p>
          <a:p>
            <a:endParaRPr/>
          </a:p>
          <a:p>
            <a:r>
              <a:t>- Who has extensive AI coding experience vs. newcomers</a:t>
            </a:r>
          </a:p>
          <a:p>
            <a:r>
              <a:t>- What tools people have tried (Copilot, ChatGPT, Cursor, etc.)</a:t>
            </a:r>
          </a:p>
          <a:p>
            <a:r>
              <a:t>- Common pain points or challenges mentioned</a:t>
            </a:r>
          </a:p>
          <a:p>
            <a:r>
              <a:t>- Areas of particular interest</a:t>
            </a:r>
          </a:p>
          <a:p>
            <a:endParaRPr/>
          </a:p>
          <a:p>
            <a:r>
              <a:t>Transition: "Great to meet everyone! Now let's talk about why we're all here..."</a:t>
            </a:r>
          </a:p>
          <a:p>
            <a:endParaRPr/>
          </a:p>
          <a:p>
            <a:r>
              <a:t>---</a:t>
            </a:r>
          </a:p>
          <a:p>
            <a:endParaRPr/>
          </a:p>
          <a:p>
            <a:r>
              <a:t>Source: slides\marp\introductions.deck.md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Introduce this deck with a short section-title slide before moving into the content slide.</a:t>
            </a:r>
          </a:p>
          <a:p>
            <a:r>
              <a:rPr dirty="0"/>
              <a:t>Use the witty subtitle to set the tone, then transition to the company overview on the next slide.</a:t>
            </a:r>
          </a:p>
          <a:p>
            <a:endParaRPr dirty="0"/>
          </a:p>
          <a:p>
            <a:r>
              <a:rPr dirty="0"/>
              <a:t>---</a:t>
            </a:r>
          </a:p>
          <a:p>
            <a:endParaRPr dirty="0"/>
          </a:p>
          <a:p>
            <a:r>
              <a:rPr dirty="0"/>
              <a:t>Source: slides\marp\about-code.deck.md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dirty="0"/>
              <a:t>Present the week-long course structure. This overview helps participants understand the progression and big-picture organization of the training.</a:t>
            </a:r>
          </a:p>
          <a:p>
            <a:endParaRPr dirty="0"/>
          </a:p>
          <a:p>
            <a:r>
              <a:rPr dirty="0"/>
              <a:t>Key talking points:</a:t>
            </a:r>
          </a:p>
          <a:p>
            <a:endParaRPr dirty="0"/>
          </a:p>
          <a:p>
            <a:r>
              <a:rPr dirty="0"/>
              <a:t>- Days 1-3 focus on building AI guardrails through instructions, prompts, and agents</a:t>
            </a:r>
          </a:p>
          <a:p>
            <a:r>
              <a:rPr dirty="0"/>
              <a:t>- Thursday shifts to brownfield (existing codebases) scenarios</a:t>
            </a:r>
          </a:p>
          <a:p>
            <a:r>
              <a:rPr dirty="0"/>
              <a:t>- Friday covers greenfield (new projects) development</a:t>
            </a:r>
          </a:p>
          <a:p>
            <a:r>
              <a:rPr dirty="0"/>
              <a:t>- Each day builds on previous concepts</a:t>
            </a:r>
          </a:p>
          <a:p>
            <a:r>
              <a:rPr dirty="0"/>
              <a:t>- The progression moves from foundational controls to practical application</a:t>
            </a:r>
          </a:p>
          <a:p>
            <a:endParaRPr dirty="0"/>
          </a:p>
          <a:p>
            <a:r>
              <a:rPr dirty="0"/>
              <a:t>Emphasize that guardrails come first because they're essential for safe, effective AI-assisted development. The brownfield/greenfield split acknowledges that these scenarios have different challenges and considerations.</a:t>
            </a:r>
          </a:p>
          <a:p>
            <a:endParaRPr dirty="0"/>
          </a:p>
          <a:p>
            <a:r>
              <a:rPr dirty="0"/>
              <a:t>Transition: "Today we'll start with the foundation..."</a:t>
            </a:r>
          </a:p>
          <a:p>
            <a:endParaRPr dirty="0"/>
          </a:p>
          <a:p>
            <a:r>
              <a:rPr dirty="0"/>
              <a:t>---</a:t>
            </a:r>
          </a:p>
          <a:p>
            <a:endParaRPr dirty="0"/>
          </a:p>
          <a:p>
            <a:r>
              <a:rPr dirty="0"/>
              <a:t>Source: slides\marp\daily-themes.deck.md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Start with the provocative quote to capture attention. Pause for effect after reading it aloud. **Key Message**: Emphasize that we're not witnessing a revolution but an evolution—AI tools are the latest step in a continuous chain of improvements. **Delivery**: Speak slowly and deliberately on the core thesis. Ask audience: "How many of you thought AI was going to replace programmers?" Acknowledge concerns but pivot to optimism. **Transition**: "To understand why this is evolutionary, let's look at where we've been..."</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**Narrative Arc**: This compressed history shows the unwavering trajectory—each generation solved the previous era's friction point. **Key Insight to Emphasize**: "We're not abandoning what came before; we're standing on its shoulders. Assembly enabled C. C enabled Python. Python enabled web frameworks. Each step made the developer experience more human-centered." **Transition**: "So when AI arrives, it's not revolutionary—it's the next rung on a ladder we've been climbing for 80 years. The question isn't 'will this replace programming?' but 'what new problems will it let us solve?'"</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**Synthesis Point**: This slide ties together the history—every era raised the abstraction level. **Visual Metaphor**: "Think of programming as a ladder—each rung takes you higher above the hardware, making it easier to see the big picture but relying on more layers below." **Modern Developer Reality**: Today's developers rarely think about memory management, CPU registers, or even which physical server runs their code. They think in terms of business logic and user experiences. **Key Question for Audience**: "How many of you have ever written assembly or C code?" Then: "How many wrote Java or Python today?" Shows the abstraction trajectory. **Transition**: "Now here comes AI. It's not a different ladder—it's another rung on the same ladder we've been climbing."</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**Paradigm Shift**: This is the key slide—AI enables expressing intent in natural language, not just formal syntax. **LLM Training**: Models trained on billions of lines of public code (GitHub, Stack Overflow, etc.) learn patterns and best practices. **IDE Integration**: Copilot, Cursor, </a:t>
            </a:r>
            <a:r>
              <a:rPr dirty="0" err="1"/>
              <a:t>Tabnine</a:t>
            </a:r>
            <a:r>
              <a:rPr dirty="0"/>
              <a:t>—AI is embedded in our daily tools, not separate applications. **Dialogue Metaphor**: "Programming becomes conversation. You say what you want, AI suggests how to do it, you refine through iteration." **Live Demo Opportunity**: If appropriate, show quick Copilot example here. **Audience Engagement**: "How many of you have tried GitHub Copilot or ChatGPT for coding?" **Transition**: "This natural language interaction is the crucial breakthrough. Let's explore what that means..."</a:t>
            </a:r>
          </a:p>
          <a:p>
            <a:endParaRPr dirty="0"/>
          </a:p>
          <a:p>
            <a:r>
              <a:rPr dirty="0"/>
              <a:t>---</a:t>
            </a:r>
          </a:p>
          <a:p>
            <a:endParaRPr dirty="0"/>
          </a:p>
          <a:p>
            <a:r>
              <a:rPr dirty="0"/>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**Role Evolution**: This is about identity—developers worry "Am I being replaced?" Address this directly. **Curator of Context**: You provide requirements, constraints, examples, test cases. The better the context, the better the AI output. **Validator Role**: AI generates fast, but you must verify it's correct, secure, performant, maintainable. Critical thinking is MORE important, not less. **Steward of Alignment**: Ensuring the code does what users need, not just what you asked for. **Example**: "AI can generate a sorting algorithm, but you decide if sorting is even the right solution." **Reassurance**: "Your expertise shifts from syntax to strategy, from typing to thinking." **Transition**: "Let's look at specific examples of how AI understands intent..."</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**Intent Understanding**: This is what makes AI different from traditional autocomplete or code snippets. **Examples Walkthrough**: Go through each example slowly. "Make this faster" could mean caching, algorithm optimization, database indexing—AI considers context to choose. **Test-Driven Development**: "You can write tests first, AI generates implementation that passes tests. TDD on steroids!" **Bug Reports as Input**: Show how AI can read a bug report ("Users getting 500 error when submitting form") and suggest fixes. **Conversational Iteration**: "Too much like code that..." "Actually, make it more like..." — Natural back-and-forth refinement. **Live Example Opportunity**: If time permits, demonstrate a conversational refinement with AI. **Transition**: "This sounds revolutionary, but remember—it's just another tool in a long line of tools..."</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**Reassurance Slide**: This slide is the antidote to hype and fear. Speak with calm authority. **Historical Pattern**: Every new tool was feared—"High-level languages will make us lazy!" "IDEs will dumb down programmers!" Didn't happen. **Tool, Not Replacement**: Hammer didn't replace carpenters. Calculator didn't replace mathematicians. AI won't replace developers. **Speed and Scale**: "AI lets you work faster, tackle bigger problems, spend more time on creative and strategic work rather than boilerplate." **Personal Testimony**: If you have personal experience where AI helped you—share it. Humanizes the technology. **Address Anxiety**: Acknowledge that change is uncomfortable but emphasize continuity. **Transition**: "But this doesn't mean we can skip the hard parts..."</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**Critical Reality Check**: This slide balances the optimism. AI is powerful but not infallible. **Testing Remains Essential**: AI-generated code needs the same rigorous testing as human-written code. Maybe more, since you didn't write it. **Security Responsibility**: AI doesn't understand your threat model, compliance requirements, or security policies. You do. **Ethics and Bias**: AI trained on public code may reproduce problematic patterns (hardcoded credentials, insecure practices, biased algorithms). You're the filter. **Architecture Decisions**: AI can implement patterns, but you choose which patterns fit your system's needs. **Analogy**: "GPS tells you the route, but you still drive the car. You watch for hazards, make judgment calls, take responsibility." **Transition**: "So what does the future actually look like?"</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**Future Vision**: This slide looks forward while maintaining historical perspective. **Intent-Driven Continuity**: From assembly to C to Python to AI prompts—each step made intent clearer, implementation more abstracted. **Skills Evolution**: "Learning Python took time. Learning prompt engineering will take time. But it's the same kind of skill acquisition we've always done." **Learning Curve Reality**: Don't sugarcoat—there will be frustration, mistakes, and learning. But also breakthroughs and productivity gains. **Continuity Message**: "You're not starting over. You're building on everything you know. Your domain knowledge, debugging skills, design sense—all still essential." **Encouragement**: "This is an exciting time to be a developer. AI removes drudgery, letting us focus on the interesting problems." **Transition**: "Let me wrap up with the key takeaways..."</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Career Transformation: - Those who adapt: become 10x more productive, tackle bigger challenges, expand skill sets - Those who resist: may find themselves struggling with modern development expectations - New roles emerging: AI prompt engineers, AI code reviewers, AI-assisted architects</a:t>
            </a:r>
          </a:p>
          <a:p>
            <a:endParaRPr/>
          </a:p>
          <a:p>
            <a:r>
              <a:t>Superpowers Explained: - Legacy codebases: AI can quickly understand and explain complex, undocumented systems - New technologies: Learn frameworks/languages faster with AI as a coding partner - Code quality: AI suggests improvements, catches bugs, generates comprehensive tests - Nice to haves: Features that were “too time-consuming” become feasible</a:t>
            </a:r>
          </a:p>
          <a:p>
            <a:endParaRPr/>
          </a:p>
          <a:p>
            <a:r>
              <a:t>Examples to share: - Developer who used AI to modernize a 15-year-old PHP codebase in weeks instead of months - Team that adopted a new framework (React to Vue) with AI assistance in days - 80% reduction in boilerplate code writing time - Comprehensive test suites generated automatically</a:t>
            </a:r>
          </a:p>
          <a:p>
            <a:endParaRPr/>
          </a:p>
          <a:p>
            <a:r>
              <a:t>Key message: AI doesn't replace developers—it amplifies their capabilities</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AI-First is the broad philosophy. Prompt-First is the tactical layer that enables predictable AI behavior. You can do Prompt-First without being AI-First, but not the reverse.</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is the heart of the comparison. AI-First is about organizational and architectural change. Prompt-First is about artifact discipline and predictable outputs.</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AI-First changes what you build and how you build it. Prompt-First changes how you communicate intent to the AI.</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conceptual hierarchy. Prompt-First is necessary but not sufficient for AI-First maturity.</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frames what we mean by AI-First development. The key idea is that AI isn't an add-on or a productivity booster—it becomes a core capability of the software lifecycle. When we design systems today, we assume AI will participate in requirements, architecture, coding, testing, and documentation.</a:t>
            </a:r>
          </a:p>
          <a:p>
            <a:endParaRPr/>
          </a:p>
          <a:p>
            <a:r>
              <a:t>Why AI-First</a:t>
            </a:r>
          </a:p>
          <a:p>
            <a:r>
              <a:t>“Teams increasingly express requirements in natural language. AI can interpret those requirements and generate scaffolding, code, tests, and documentation.”</a:t>
            </a:r>
          </a:p>
          <a:p>
            <a:r>
              <a:t>“This shifts the developer's role from writing every line of code to defining intent, constraints, and quality expectations.”</a:t>
            </a:r>
          </a:p>
          <a:p>
            <a:r>
              <a:t>“The goal isn't to replace engineering judgment—it's to amplify it.”</a:t>
            </a:r>
          </a:p>
          <a:p>
            <a:endParaRPr/>
          </a:p>
          <a:p>
            <a:r>
              <a:t>Core Principles</a:t>
            </a:r>
          </a:p>
          <a:p>
            <a:endParaRPr/>
          </a:p>
          <a:p>
            <a:r>
              <a:t>Prompt-First Design</a:t>
            </a:r>
          </a:p>
          <a:p>
            <a:r>
              <a:t>“We start with structured prompts that capture behaviors, invariants, and interfaces. These become durable artifacts, just like design docs.”</a:t>
            </a:r>
          </a:p>
          <a:p>
            <a:endParaRPr/>
          </a:p>
          <a:p>
            <a:r>
              <a:t>AI-Native Architecture</a:t>
            </a:r>
          </a:p>
          <a:p>
            <a:r>
              <a:t>“We design modules with clear boundaries so AI-generated components remain predictable and testable. Deterministic interfaces are essential.”</a:t>
            </a:r>
          </a:p>
          <a:p>
            <a:endParaRPr/>
          </a:p>
          <a:p>
            <a:r>
              <a:t>Human-in-the-Loop</a:t>
            </a:r>
          </a:p>
          <a:p>
            <a:r>
              <a:t>“AI accelerates creation, but humans validate correctness, safety, and alignment with business intent. Review is built into the workflow.”</a:t>
            </a:r>
          </a:p>
          <a:p>
            <a:endParaRPr/>
          </a:p>
          <a:p>
            <a:r>
              <a:t>Continuous Verification</a:t>
            </a:r>
          </a:p>
          <a:p>
            <a:r>
              <a:t>“Every AI-generated artifact—code, tests, docs—runs through automated checks. Static analysis, unit tests, and guardrails catch drift early.”</a:t>
            </a:r>
          </a:p>
          <a:p>
            <a:endParaRPr/>
          </a:p>
          <a:p>
            <a:r>
              <a:t>Lifecycle Governance</a:t>
            </a:r>
          </a:p>
          <a:p>
            <a:r>
              <a:t>“We treat prompts, outputs, and revisions as versioned assets. Provenance and traceability matter for compliance, debugging, and long-term maintainability.”</a:t>
            </a:r>
          </a:p>
          <a:p>
            <a:endParaRPr/>
          </a:p>
          <a:p>
            <a:r>
              <a:t>Outcomes</a:t>
            </a:r>
          </a:p>
          <a:p>
            <a:r>
              <a:t>“Teams iterate faster because intent moves directly into working prototypes.”</a:t>
            </a:r>
          </a:p>
          <a:p>
            <a:r>
              <a:t>“Documentation and test coverage improve because AI can generate them continuously.”</a:t>
            </a:r>
          </a:p>
          <a:p>
            <a:r>
              <a:t>“Developers spend more time on architecture and correctness, less on boilerplate.”</a:t>
            </a:r>
          </a:p>
          <a:p>
            <a:r>
              <a:t>“The result is software that's more adaptable and resilient over time.”</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introduces the core idea behind Prompt-First development. Instead of starting with code, we start with intent. Prompts become the primary design artifact, and AI becomes the mechanism that turns intent into implementation.”</a:t>
            </a:r>
          </a:p>
          <a:p>
            <a:endParaRPr/>
          </a:p>
          <a:p>
            <a:r>
              <a:t>Why Prompt-First</a:t>
            </a:r>
          </a:p>
          <a:p>
            <a:r>
              <a:t>“Modern development increasingly begins with natural-language descriptions of behavior. Prompt-First formalizes that by treating prompts as first-class inputs to the software lifecycle.”</a:t>
            </a:r>
          </a:p>
          <a:p>
            <a:r>
              <a:t>“The developer's role shifts from writing code line-by-line to defining outcomes, constraints, invariants, and interfaces.”</a:t>
            </a:r>
          </a:p>
          <a:p>
            <a:r>
              <a:t>“This creates a tighter alignment between business intent and the resulting system.”</a:t>
            </a:r>
          </a:p>
          <a:p>
            <a:endParaRPr/>
          </a:p>
          <a:p>
            <a:r>
              <a:t>Core Practices</a:t>
            </a:r>
          </a:p>
          <a:p>
            <a:endParaRPr/>
          </a:p>
          <a:p>
            <a:r>
              <a:t>Structured Prompts</a:t>
            </a:r>
          </a:p>
          <a:p>
            <a:r>
              <a:t>“We don't rely on ad-hoc prompting. We use templates for features, APIs, data models, tests, and refactors. This creates consistency and reduces ambiguity.”</a:t>
            </a:r>
          </a:p>
          <a:p>
            <a:endParaRPr/>
          </a:p>
          <a:p>
            <a:r>
              <a:t>Instruction Files</a:t>
            </a:r>
          </a:p>
          <a:p>
            <a:r>
              <a:t>“These are durable, versioned prompt artifacts that guide AI generation. They act like living design documents that the AI reads every time it produces code.”</a:t>
            </a:r>
          </a:p>
          <a:p>
            <a:endParaRPr/>
          </a:p>
          <a:p>
            <a:r>
              <a:t>Deterministic Boundaries</a:t>
            </a:r>
          </a:p>
          <a:p>
            <a:r>
              <a:t>“We design modules with clear contracts so AI-generated code stays predictable. The AI can generate the internals, but the interfaces remain stable and human-controlled.”</a:t>
            </a:r>
          </a:p>
          <a:p>
            <a:endParaRPr/>
          </a:p>
          <a:p>
            <a:r>
              <a:t>Validation Loops</a:t>
            </a:r>
          </a:p>
          <a:p>
            <a:r>
              <a:t>“Every AI-generated artifact goes through automated tests and human review. The goal is to catch drift early and ensure correctness.”</a:t>
            </a:r>
          </a:p>
          <a:p>
            <a:endParaRPr/>
          </a:p>
          <a:p>
            <a:r>
              <a:t>Prompt Versioning</a:t>
            </a:r>
          </a:p>
          <a:p>
            <a:r>
              <a:t>“Prompts evolve just like code. Tracking changes helps with debugging, reproducibility, and compliance.”</a:t>
            </a:r>
          </a:p>
          <a:p>
            <a:endParaRPr/>
          </a:p>
          <a:p>
            <a:r>
              <a:t>Benefits</a:t>
            </a:r>
          </a:p>
          <a:p>
            <a:r>
              <a:t>“Teams move from idea to working software much faster because intent flows directly into generation.”</a:t>
            </a:r>
          </a:p>
          <a:p>
            <a:r>
              <a:t>“Generated components become more consistent because they're driven by structured prompts, not one-off instructions.”</a:t>
            </a:r>
          </a:p>
          <a:p>
            <a:r>
              <a:t>“Developers spend more time on architecture and correctness, less on boilerplate.”</a:t>
            </a:r>
          </a:p>
          <a:p>
            <a:r>
              <a:t>“The end result is a system that's easier to maintain and adapt over time.”</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**Delivery Instructions:**</a:t>
            </a:r>
          </a:p>
          <a:p>
            <a:r>
              <a:t>This slide demonstrates the progression from terrible to excellent prompts—walk through each example deliberately.</a:t>
            </a:r>
          </a:p>
          <a:p>
            <a:endParaRPr/>
          </a:p>
          <a:p>
            <a:r>
              <a:t>**Example 1 (Bad):** "Add error handling to my code" - Read this with a slightly exasperated tone. Point out: What code? What language? What kind of errors? Copilot literally has no context to work with. This is like asking a contractor to "fix your house" with no other information.</a:t>
            </a:r>
          </a:p>
          <a:p>
            <a:endParaRPr/>
          </a:p>
          <a:p>
            <a:r>
              <a:t>**Example 2 (Better):** Read the second prompt and note improvements: specifies JavaScript, specifies function purpose (external API call), lists specific error types (network timeouts, 404, JSON parsing). But emphasize the problem: "still generic without seeing actual code structure." Copilot doesn't know your coding patterns, your existing error handling approach, or your project structure.</a:t>
            </a:r>
          </a:p>
          <a:p>
            <a:endParaRPr/>
          </a:p>
          <a:p>
            <a:r>
              <a:t>**Example 3 (Best):** Read the third prompt slowly, highlighting key improvements:</a:t>
            </a:r>
          </a:p>
          <a:p>
            <a:endParaRPr/>
          </a:p>
          <a:p>
            <a:r>
              <a:t>- Uses `@file:api-client.js` to reference specific file (Copilot can see the actual code)</a:t>
            </a:r>
          </a:p>
          <a:p>
            <a:r>
              <a:t>- Names the exact function (`fetchUserData`)</a:t>
            </a:r>
          </a:p>
          <a:p>
            <a:r>
              <a:t>- Provides precise timeout threshold (&gt;5s, not just "timeouts")</a:t>
            </a:r>
          </a:p>
          <a:p>
            <a:r>
              <a:t>- Lists specific HTTP codes (404, 500, etc.)</a:t>
            </a:r>
          </a:p>
          <a:p>
            <a:r>
              <a:t>- References another file `@file:error-types.js` for consistency with existing patterns</a:t>
            </a:r>
          </a:p>
          <a:p>
            <a:endParaRPr/>
          </a:p>
          <a:p>
            <a:r>
              <a:t>**Key Teaching Point:** "The difference between prompt 1 and prompt 3 is the difference between Copilot asking YOU 10 clarifying questions versus Copilot just doing exactly what you need. Specificity saves time."</a:t>
            </a:r>
          </a:p>
          <a:p>
            <a:endParaRPr/>
          </a:p>
          <a:p>
            <a:r>
              <a:t>**Audience Interaction:** Ask: "How many of you have written prompts like example 1? Don't worry—we all start there. By the end of today, you'll be writing prompts like example 3 automatically."</a:t>
            </a:r>
          </a:p>
          <a:p>
            <a:endParaRPr/>
          </a:p>
          <a:p>
            <a:r>
              <a:t>**Transition:** "Now let's practice this in a hands-on lab where you'll learn to add context using @ symbols..."</a:t>
            </a:r>
          </a:p>
          <a:p>
            <a:endParaRPr/>
          </a:p>
          <a:p>
            <a:r>
              <a:t>---</a:t>
            </a:r>
          </a:p>
          <a:p>
            <a:endParaRPr/>
          </a:p>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slides\marp\exercise\exercise-github-copilot-vscode-workflows.deck.md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Frame this as the first skill that directly improves Copilot output quality without changing tools or models. During the @ symbol walkthrough, have participants perform each step live and explain what new information Copilot gains from each context type. For the prompt comparison, ask learners to keep the same goal and only change context quality so the difference is obvious and measurable. End by normalizing context window limits as expected behavior, then reinforce the habit that new topic equals new chat.</a:t>
            </a:r>
          </a:p>
          <a:p>
            <a:endParaRPr/>
          </a:p>
          <a:p>
            <a:r>
              <a:t>---</a:t>
            </a:r>
          </a:p>
          <a:p>
            <a:endParaRPr/>
          </a:p>
          <a:p>
            <a:r>
              <a:t>Source: slides\marp\exercise\exercise-github-copilot-vscode-workflows.deck.md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Introduce this lab as productivity hygiene that prevents context fatigue and low-quality responses later in the day. Coach participants to separate work streams by topic, and use quick chat for interruptions so their main conversation remains coherent and reusable. During the history review, have each learner identify one prompt that worked well and explain why it worked, which helps them build a personal prompting playbook. Finish with the context window management bullets as operational rules they can apply in every future session.</a:t>
            </a:r>
          </a:p>
          <a:p>
            <a:endParaRPr/>
          </a:p>
          <a:p>
            <a:r>
              <a:t>---</a:t>
            </a:r>
          </a:p>
          <a:p>
            <a:endParaRPr/>
          </a:p>
          <a:p>
            <a:r>
              <a:t>Source: slides\marp\exercise\exercise-github-copilot-vscode-workflows.deck.md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vibe coding as a collaborative, facilitator-led development mode.</a:t>
            </a:r>
          </a:p>
          <a:p>
            <a:r>
              <a:t>Use this slide to set tone and explain that the next slide turns that idea into a concrete working backlog.</a:t>
            </a:r>
          </a:p>
          <a:p>
            <a:endParaRPr/>
          </a:p>
          <a:p>
            <a:r>
              <a:t>---</a:t>
            </a:r>
          </a:p>
          <a:p>
            <a:endParaRPr/>
          </a:p>
          <a:p>
            <a:r>
              <a:t>Source: slides\marp\vibe-coding.deck.md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the collaborative development process we'll follow for building our calculator application — and mob programming will be central to how we work together.</a:t>
            </a:r>
          </a:p>
          <a:p>
            <a:endParaRPr/>
          </a:p>
          <a:p>
            <a:r>
              <a:t>Except for Project Setup and Basic Arithmetic functions, the mob controls the direction of the implementation. The other labs are optional and can be used when the mob directs the development of that feature or as suggestions should the mob struggle for direction.</a:t>
            </a:r>
          </a:p>
          <a:p>
            <a:endParaRPr/>
          </a:p>
          <a:p>
            <a:r>
              <a:t>We begin with Project Setup, where the team configures the environment, aligns on goals, and prepares the repo. This is done as a mob — one keyboard, one screen, and everyone contributing ideas in real time. It ensures shared understanding from the start.</a:t>
            </a:r>
          </a:p>
          <a:p>
            <a:endParaRPr/>
          </a:p>
          <a:p>
            <a:r>
              <a:t>At the end of the day, we introduce Evergreen Software Development — a mindset of continuous improvement.</a:t>
            </a:r>
          </a:p>
          <a:p>
            <a:endParaRPr/>
          </a:p>
          <a:p>
            <a:r>
              <a:t>Random ideas:</a:t>
            </a:r>
          </a:p>
          <a:p>
            <a:r>
              <a:t>Implementing Observability</a:t>
            </a:r>
          </a:p>
          <a:p>
            <a:endParaRPr/>
          </a:p>
          <a:p>
            <a:r>
              <a:t>Scaffold a new C# command line project using .NET. The project should include:</a:t>
            </a:r>
          </a:p>
          <a:p>
            <a:r>
              <a:t>A Program.cs file with a simple "Hello, World!" example.</a:t>
            </a:r>
          </a:p>
          <a:p>
            <a:r>
              <a:t>A .csproj file configured for a console application.</a:t>
            </a:r>
          </a:p>
          <a:p>
            <a:r>
              <a:t>A README.md with build and run instructions.</a:t>
            </a:r>
          </a:p>
          <a:p>
            <a:r>
              <a:t>The project should be ready to build and run from the command line.</a:t>
            </a:r>
          </a:p>
          <a:p>
            <a:endParaRPr/>
          </a:p>
          <a:p>
            <a:r>
              <a:t>---</a:t>
            </a:r>
          </a:p>
          <a:p>
            <a:endParaRPr/>
          </a:p>
          <a:p>
            <a:r>
              <a:t>Source: slides\marp\vibe-coding.deck.md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slides\marp\evergreen-software-core-principles.deck.md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Introduce Evergreen Software Development as a philosophy for building systems that can evolve indefinitely without degrading. This is crucial for AI-assisted development.</a:t>
            </a:r>
          </a:p>
          <a:p>
            <a:endParaRPr/>
          </a:p>
          <a:p>
            <a:r>
              <a:t>Explain each principle:</a:t>
            </a:r>
          </a:p>
          <a:p>
            <a:endParaRPr/>
          </a:p>
          <a:p>
            <a:r>
              <a:t>1. Intent-First Design: Document WHY before WHAT. AI can regenerate code but needs clear intent.</a:t>
            </a:r>
          </a:p>
          <a:p>
            <a:r>
              <a:t>2. Stable Interfaces: Public contracts stay stable while implementations improve continuously.</a:t>
            </a:r>
          </a:p>
          <a:p>
            <a:r>
              <a:t>3. Continuous Regeneration: AI can safely rewrite components when guardrails (tests, specs) exist.</a:t>
            </a:r>
          </a:p>
          <a:p>
            <a:r>
              <a:t>4. Modular Components: Any piece can be regenerated without breaking the system.</a:t>
            </a:r>
          </a:p>
          <a:p>
            <a:r>
              <a:t>5. Lifecycle Governance: Quality maintained through automation and human oversight.</a:t>
            </a:r>
          </a:p>
          <a:p>
            <a:endParaRPr/>
          </a:p>
          <a:p>
            <a:r>
              <a:t>Key insight: Traditional software rots over time. Evergreen software is designed to be continuously regenerated and improved.</a:t>
            </a:r>
          </a:p>
          <a:p>
            <a:endParaRPr/>
          </a:p>
          <a:p>
            <a:r>
              <a:t>Transition: "Let's see why software fails to be evergreen..."</a:t>
            </a:r>
          </a:p>
          <a:p>
            <a:endParaRPr/>
          </a:p>
          <a:p>
            <a:r>
              <a:t>---</a:t>
            </a:r>
          </a:p>
          <a:p>
            <a:endParaRPr/>
          </a:p>
          <a:p>
            <a:r>
              <a:t>Source: slides\marp\evergreen-software-core-principles.deck.md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Explain the common anti-patterns that prevent software from being evergreen. These are the enemies of long-term maintainability.</a:t>
            </a:r>
          </a:p>
          <a:p>
            <a:endParaRPr/>
          </a:p>
          <a:p>
            <a:r>
              <a:t>1. Intent Rot: Documentation becomes outdated or nonexistent. AI can't regenerate code when it doesn't know the purpose.</a:t>
            </a:r>
          </a:p>
          <a:p>
            <a:r>
              <a:t>2. Unstable Interfaces: Breaking changes cascade through the system. AI regeneration requires stable contracts.</a:t>
            </a:r>
          </a:p>
          <a:p>
            <a:r>
              <a:t>3. Tight Coupling: Changes in one component break others. AI can't safely regenerate tightly coupled code.</a:t>
            </a:r>
          </a:p>
          <a:p>
            <a:r>
              <a:t>4. Insufficient Guardrails: Without tests and specs, AI-generated code can't be validated.</a:t>
            </a:r>
          </a:p>
          <a:p>
            <a:r>
              <a:t>5. Drift: Ad-hoc fixes create divergence from the design. The system becomes unpredictable.</a:t>
            </a:r>
          </a:p>
          <a:p>
            <a:endParaRPr/>
          </a:p>
          <a:p>
            <a:r>
              <a:t>Real-world examples:</a:t>
            </a:r>
          </a:p>
          <a:p>
            <a:endParaRPr/>
          </a:p>
          <a:p>
            <a:r>
              <a:t>- Legacy system with no documentation (intent rot)</a:t>
            </a:r>
          </a:p>
          <a:p>
            <a:r>
              <a:t>- Microservices with frequently changing APIs (unstable interfaces)</a:t>
            </a:r>
          </a:p>
          <a:p>
            <a:r>
              <a:t>- Monolith with circular dependencies (tight coupling)</a:t>
            </a:r>
          </a:p>
          <a:p>
            <a:endParaRPr/>
          </a:p>
          <a:p>
            <a:r>
              <a:t>Transition: "Let's see how to avoid these pitfalls..."</a:t>
            </a:r>
          </a:p>
          <a:p>
            <a:endParaRPr/>
          </a:p>
          <a:p>
            <a:r>
              <a:t>---</a:t>
            </a:r>
          </a:p>
          <a:p>
            <a:endParaRPr/>
          </a:p>
          <a:p>
            <a:r>
              <a:t>Source: slides\marp\evergreen-software-core-principles.deck.md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foundation for safe, predictable AI-assisted development.</a:t>
            </a:r>
          </a:p>
          <a:p>
            <a:endParaRPr/>
          </a:p>
          <a:p>
            <a:r>
              <a:t>Guardrails ensure that AI output is intentional, reviewable, and aligned with architectural and organizational standards.</a:t>
            </a:r>
          </a:p>
          <a:p>
            <a:endParaRPr/>
          </a:p>
          <a:p>
            <a:r>
              <a:t>These practices turn AI from a novelty into a disciplined engineering tool.</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asking AI to generate an artifact, be explicit about structure and constraints.</a:t>
            </a:r>
          </a:p>
          <a:p>
            <a:endParaRPr/>
          </a:p>
          <a:p>
            <a:r>
              <a:t>This prevents drift and ensures the output is usable without heavy editing.</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Provenance is essential for conformance, auditability, and long-term maintainability.</a:t>
            </a:r>
          </a:p>
          <a:p>
            <a:endParaRPr/>
          </a:p>
          <a:p>
            <a:r>
              <a:t>It ensures teams know which artifacts were AI-generated, which were human-generated, and which were hybrid.</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Provenance is essential for conformance, auditability, and long-term maintainability.</a:t>
            </a:r>
          </a:p>
          <a:p>
            <a:endParaRPr/>
          </a:p>
          <a:p>
            <a:r>
              <a:t>It ensures teams know which artifacts were AI-generated, which were human-generated, and which were hybrid.</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introduces the purpose of the AI-Assisted Output Instructions file: to enforce traceability, quality, and compliance for all AI-generated artifacts in the repository.</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lists the mandatory metadata fields that must be embedded in every AI-generated file.</a:t>
            </a:r>
          </a:p>
          <a:p>
            <a:endParaRPr/>
          </a:p>
          <a:p>
            <a:r>
              <a:t>These fields ensure each artifact can be traced back to its origin, model, and operator.</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where and how to place provenance metadata.</a:t>
            </a:r>
          </a:p>
          <a:p>
            <a:endParaRPr/>
          </a:p>
          <a:p>
            <a:r>
              <a:t>Markdown files must use embedded YAML front matter; only non-embeddable formats use sidecar files.</a:t>
            </a:r>
          </a:p>
          <a:p>
            <a:endParaRPr/>
          </a:p>
          <a:p>
            <a:r>
              <a:t>Note: Instructions files have limited support for metadata and must use sidecar files</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describes the logging structure for AI chats.</a:t>
            </a:r>
          </a:p>
          <a:p>
            <a:endParaRPr/>
          </a:p>
          <a:p>
            <a:r>
              <a:t>Each session gets its own folder, transcript, and summary, ensuring clear separation and traceability.</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summarizes the quality gates and PR requirements.</a:t>
            </a:r>
          </a:p>
          <a:p>
            <a:endParaRPr/>
          </a:p>
          <a:p>
            <a:r>
              <a:t>Artifacts must be fully documented, logs must exist, and sensitive data must be avoided.</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highlights the requirements for GitHub Copilot integration.</a:t>
            </a:r>
          </a:p>
          <a:p>
            <a:endParaRPr/>
          </a:p>
          <a:p>
            <a:r>
              <a:t>Copilot should automate chat management, metadata injection, and enforce compliance before generating files.</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enforcement:</a:t>
            </a:r>
          </a:p>
          <a:p>
            <a:endParaRPr/>
          </a:p>
          <a:p>
            <a:r>
              <a:t>PRs are blocked if requirements are not met.</a:t>
            </a:r>
          </a:p>
          <a:p>
            <a:endParaRPr/>
          </a:p>
          <a:p>
            <a:r>
              <a:t>Any missing provenance must be remediated before merging.</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exercise reinforces the importance of maintaining consistent AI-assisted output policies across repositories. By copying the instructions file, participants learn to manage compliance and provenance requirements for AI-generated artifacts. Ensure the copied file is identical and properly placed to support future AI work.</a:t>
            </a:r>
          </a:p>
          <a:p>
            <a:endParaRPr/>
          </a:p>
          <a:p>
            <a:r>
              <a:t>---</a:t>
            </a:r>
          </a:p>
          <a:p>
            <a:endParaRPr/>
          </a:p>
          <a:p>
            <a:r>
              <a:t>Source: slides\marp\exercise\exercise-copy-the-core-instructions.deck.md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This reinforces the evergreen mindset and produces a reusable artifact for future AI-assisted work.</a:t>
            </a:r>
          </a:p>
          <a:p>
            <a:endParaRPr/>
          </a:p>
          <a:p>
            <a:r>
              <a:t>Prompt: Submit the prompt #file:create-evergreen-software-instructions.prompt.md</a:t>
            </a:r>
          </a:p>
          <a:p>
            <a:endParaRPr/>
          </a:p>
          <a:p>
            <a:r>
              <a:t>---</a:t>
            </a:r>
          </a:p>
          <a:p>
            <a:endParaRPr/>
          </a:p>
          <a:p>
            <a:r>
              <a:t>Source: slides\marp\exercise\exercise-create-an-instruction-file-for-evergreen-development.deck.md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~00:10</a:t>
            </a:r>
          </a:p>
          <a:p>
            <a:endParaRPr dirty="0"/>
          </a:p>
          <a:p>
            <a:r>
              <a:rPr dirty="0"/>
              <a:t>This exercise builds intuition for context management—one of the most important AI-era engineering skills.</a:t>
            </a:r>
          </a:p>
          <a:p>
            <a:endParaRPr dirty="0"/>
          </a:p>
          <a:p>
            <a:r>
              <a:rPr dirty="0"/>
              <a:t>---</a:t>
            </a:r>
          </a:p>
          <a:p>
            <a:endParaRPr dirty="0"/>
          </a:p>
          <a:p>
            <a:r>
              <a:rPr dirty="0"/>
              <a:t>Source: slides\marp\exercise\exercise-context-related-issues.deck.md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This is the title slide introducing the concept of instruction files. **Keep It Brief**: Simply say "Let's talk about instruction files—a powerful way to guide AI behavior persistently across your projects." **Visual Cue**: Let the title appear, pause for 2-3 seconds. **No Content Yet**: Don't explain what they are—that's the next slide's job. **Transition**: "First, let me frame what we mean by 'persistent AI behavioral guidelines'..."</a:t>
            </a:r>
          </a:p>
          <a:p>
            <a:endParaRPr/>
          </a:p>
          <a:p>
            <a:r>
              <a:t>**Frame the Concept**: This subtitle slide sets up the key mental model. **Persistent**: Emphasize that unlike one-time prompts, these rules stay active across multiple interactions. **Behavioral**: These files tell AI _how_ to work, not _what_ to build. **Guidelines vs Commands**: "Think of instruction files as automated code review rules that apply every time AI generates code." **Analogy**: "Like .editorconfig or .eslintrc files, but for AI behavior instead of code formatting." **Transition**: "So what exactly are instruction files? Let's define them..."</a:t>
            </a:r>
          </a:p>
          <a:p>
            <a:endParaRPr/>
          </a:p>
          <a:p>
            <a:r>
              <a:t>---</a:t>
            </a:r>
          </a:p>
          <a:p>
            <a:endParaRPr/>
          </a:p>
          <a:p>
            <a:r>
              <a:t>Source: slides\marp\instruction-files.deck.md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 Emphasis**: Read the definition slowly—this is foundational. **Configuration Metaphor**: "Just like you configure your IDE or linter, you configure your AI assistant with instruction files." **Automatic Application**: Key point: once created, they're automatically applied. No need to paste instructions repeatedly. **Standards Example**: "Example: All Azure code must use managed identities, no hardcoded keys. Put that in azure-dev.instructions.md, and AI will follow it automatically." **Scope Explanation**: Can apply broadly (`applyTo: "**"`) or narrowly (`applyTo: "*.cs"`). **How vs What**: Clarify: Instructions define _style_ ("use dependency injection") not _tasks_ ("build a login system"). **Audience Check**: "Does this distinction make sense—how versus what?" **Transition**: "Let me show you what one looks like..."</a:t>
            </a:r>
          </a:p>
          <a:p>
            <a:endParaRPr/>
          </a:p>
          <a:p>
            <a:r>
              <a:t>---</a:t>
            </a:r>
          </a:p>
          <a:p>
            <a:endParaRPr/>
          </a:p>
          <a:p>
            <a:r>
              <a:t>Source: slides\marp\instruction-files.deck.md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Cases Overview**: These are the "why" behind instruction files. **Coding Standards**: "Every team has style preferences—indentation, naming, file organization. Instruction files codify this for AI." **Security Example**: "You can mandate: 'Never log passwords', 'Always sanitize user input', 'Use parameterized queries'. AI will follow these rules automatically." **Quality Gates**: "Require test coverage thresholds, code review checklists, documentation standards." **Technology Constraints**: "Enterprise scenario: only approved libraries/frameworks allowed. Instruction file enforces this." **Real Examples**: Point to each example filename and briefly explain: azure-development covers cloud-specific patterns, testing-standards defines test structure, security-requirements enforces security policies. **Team Benefit**: "This is especially powerful for teams—everyone's AI assistant follows the same rules, producing consistent output." **Transition**: "Before we move on, let me share some best practices..."</a:t>
            </a:r>
          </a:p>
          <a:p>
            <a:endParaRPr/>
          </a:p>
          <a:p>
            <a:r>
              <a:t>---</a:t>
            </a:r>
          </a:p>
          <a:p>
            <a:endParaRPr/>
          </a:p>
          <a:p>
            <a:r>
              <a:t>Source: slides\marp\instruction-files.deck.md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opening slide frames instruction files as durable behavior controls, not one-time prompts. Emphasize that teams can encode standards once and then reuse them in every Copilot interaction. Call out that this lowers drift and improves consistency across contributors. Transition by saying we will define what instruction files are, where they live, and how they are applied.</a:t>
            </a:r>
          </a:p>
          <a:p>
            <a:endParaRPr dirty="0"/>
          </a:p>
          <a:p>
            <a:r>
              <a:rPr dirty="0"/>
              <a:t>---</a:t>
            </a:r>
          </a:p>
          <a:p>
            <a:endParaRPr dirty="0"/>
          </a:p>
          <a:p>
            <a:r>
              <a:rPr dirty="0"/>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table to show that the example file is a behavior contract and not just style guidance. Mention that each category can be reviewed in code review as an explicit quality gate. Explain that this structure makes AI behavior more predictable and easier to audit. Transition by mapping these rules to a practical lifecycle for Copilot responses.</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the behavior pipeline Copilot follows during a task. Stress that matching instructions are loaded before implementation decisions, which changes both scope and tone of output. Explain that validation is part of the chain, not an optional afterthought. Transition into authoring practices for writing strong instruction files.</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a maintenance practice, not a one-time writing task. Explain that quality comes from clear ordering, concrete phrasing, and periodic cleanup. Call out that instruction bloat can weaken relevance and consume context budget. Transition to an applied example showing how these rules change result quality.</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comparison to show impact on speed, relevance, and quality. Explain that the biggest gains usually come from reduced context sprawl and sharper acceptance criteria. Mention that concise output is a feature when paired with strong validation. Transition to closing guidance on adopting instruction files as team standards.</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summarizes the functional difference between the two instruction file types GitHub Copilot supports inside `.</a:t>
            </a:r>
            <a:r>
              <a:rPr dirty="0" err="1"/>
              <a:t>github</a:t>
            </a:r>
            <a:r>
              <a:rPr dirty="0"/>
              <a:t>/instructions/`.</a:t>
            </a:r>
          </a:p>
          <a:p>
            <a:r>
              <a:rPr dirty="0"/>
              <a:t>Repo‑level `.md` files are unconditional and always included.</a:t>
            </a:r>
          </a:p>
          <a:p>
            <a:r>
              <a:rPr dirty="0"/>
              <a:t>Scoped `.instructions.md` files are conditional, support `</a:t>
            </a:r>
            <a:r>
              <a:rPr dirty="0" err="1"/>
              <a:t>applyTo</a:t>
            </a:r>
            <a:r>
              <a:rPr dirty="0"/>
              <a:t>` and `exclude`, and only activate when relevant.</a:t>
            </a:r>
          </a:p>
          <a:p>
            <a:r>
              <a:rPr dirty="0"/>
              <a:t>The decision rule gives teams a simple, auditable way to choose the correct mechanism.</a:t>
            </a:r>
          </a:p>
          <a:p>
            <a:endParaRPr dirty="0"/>
          </a:p>
          <a:p>
            <a:r>
              <a:rPr dirty="0"/>
              <a:t>---</a:t>
            </a:r>
          </a:p>
          <a:p>
            <a:endParaRPr dirty="0"/>
          </a:p>
          <a:p>
            <a:r>
              <a:rPr dirty="0"/>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~00:01</a:t>
            </a:r>
          </a:p>
          <a:p>
            <a:endParaRPr dirty="0"/>
          </a:p>
          <a:p>
            <a:r>
              <a:rPr dirty="0"/>
              <a:t>Welcome to this presentation on instruction file </a:t>
            </a:r>
            <a:r>
              <a:rPr dirty="0" err="1"/>
              <a:t>applyTo</a:t>
            </a:r>
            <a:r>
              <a:rPr dirty="0"/>
              <a:t> patterns. This is a critical concept for managing GitHub Copilot's behavior across your codebase. By the end of this session, you'll understand how to precisely control which files your instruction files apply to using glob patterns.</a:t>
            </a:r>
          </a:p>
          <a:p>
            <a:endParaRPr dirty="0"/>
          </a:p>
          <a:p>
            <a:r>
              <a:rPr dirty="0"/>
              <a:t>**Key Point**: This is about precision - getting Copilot to apply the right rules to the right files</a:t>
            </a:r>
          </a:p>
          <a:p>
            <a:r>
              <a:rPr dirty="0"/>
              <a:t>**Transition**: "Let's start by understanding what the </a:t>
            </a:r>
            <a:r>
              <a:rPr dirty="0" err="1"/>
              <a:t>applyTo</a:t>
            </a:r>
            <a:r>
              <a:rPr dirty="0"/>
              <a:t> field actually does"</a:t>
            </a:r>
          </a:p>
          <a:p>
            <a:endParaRPr dirty="0"/>
          </a:p>
          <a:p>
            <a:r>
              <a:rPr dirty="0"/>
              <a:t>---</a:t>
            </a:r>
          </a:p>
          <a:p>
            <a:endParaRPr dirty="0"/>
          </a:p>
          <a:p>
            <a:r>
              <a:rPr dirty="0"/>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`appliesTo` is not a guardrail itself. It's a routing</a:t>
            </a:r>
          </a:p>
          <a:p>
            <a:r>
              <a:t>rule. It prevents irrelevant instructions from polluting the stack and</a:t>
            </a:r>
          </a:p>
          <a:p>
            <a:r>
              <a:t>keeps the assistant focused.</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means you can have many instruction files in</a:t>
            </a:r>
          </a:p>
          <a:p>
            <a:r>
              <a:t>`.github/instructions/`, but only the ones whose `appliesTo` match the</a:t>
            </a:r>
          </a:p>
          <a:p>
            <a:r>
              <a:t>current context will be included.</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The double asterisk wildcard is the universal matcher. Use this for repository-wide policies that should apply everywhere - things like your AI-assisted output instructions, general quality standards, or compliance requirements.</a:t>
            </a:r>
          </a:p>
          <a:p>
            <a:endParaRPr/>
          </a:p>
          <a:p>
            <a:r>
              <a:t>**Important warning**: Overusing universal patterns is a common mistake. Every universal instruction adds to the context Copilot needs to process for every file. If you have 10 instruction files all using "\*\*", Copilot has to load all 10 for every single file you open.</a:t>
            </a:r>
          </a:p>
          <a:p>
            <a:endParaRPr/>
          </a:p>
          <a:p>
            <a:r>
              <a:t>**Best practice**: Reserve universal patterns for truly universal policies. Most instructions should be more specific.</a:t>
            </a:r>
          </a:p>
          <a:p>
            <a:endParaRPr/>
          </a:p>
          <a:p>
            <a:r>
              <a:t>**Real example from the repo**: The ai-assisted-output.instructions.md uses "\*_/_" because AI provenance metadata requirements apply to all AI-generated content regardless of file type.</a:t>
            </a:r>
          </a:p>
          <a:p>
            <a:endParaRPr/>
          </a:p>
          <a:p>
            <a:r>
              <a:t>**Ask audience**: "How many instruction files do you think should realistically use universal patterns? Usually no more than 2-3."</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File extension matching is probably the most common pattern you'll use. The key syntax here is the brace expansion - that's the curly braces with comma-separated extensions.</a:t>
            </a:r>
          </a:p>
          <a:p>
            <a:endParaRPr/>
          </a:p>
          <a:p>
            <a:r>
              <a:t>**Walking through the examples**:</a:t>
            </a:r>
          </a:p>
          <a:p>
            <a:endParaRPr/>
          </a:p>
          <a:p>
            <a:r>
              <a:t>1. "\*_/_.md" - Double star means any directory depth, forward slash, star means any filename, dot md means must end with .md</a:t>
            </a:r>
          </a:p>
          <a:p>
            <a:r>
              <a:t>2. The brace expansion lets you list multiple extensions without repeating the pattern</a:t>
            </a:r>
          </a:p>
          <a:p>
            <a:r>
              <a:t>3. You can be even more specific with compound extensions like .instructions.md</a:t>
            </a:r>
          </a:p>
          <a:p>
            <a:endParaRPr/>
          </a:p>
          <a:p>
            <a:r>
              <a:t>**Pro tip**: When you need to apply instructions to code files across multiple languages, use the brace expansion. In this repo, vertical slice architecture instructions use "\*_/_.{cs,ts,js,py,java,go,rb}" to cover all supported languages.</a:t>
            </a:r>
          </a:p>
          <a:p>
            <a:endParaRPr/>
          </a:p>
          <a:p>
            <a:r>
              <a:t>**Common mistake**: Forgetting the **/ at the start means only files in the root directory match</a:t>
            </a:r>
          </a:p>
          <a:p>
            <a:r>
              <a:t>**Correct**: "**/_.md" matches all markdown files recursively</a:t>
            </a:r>
          </a:p>
          <a:p>
            <a:r>
              <a:t>**Incorrect**: "_.md" only matches markdown files in root directory</a:t>
            </a:r>
          </a:p>
          <a:p>
            <a:endParaRPr/>
          </a:p>
          <a:p>
            <a:r>
              <a:t>**Demonstrate**: Show how the pattern breaks down visually</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Directory-specific patterns are crucial for organizing large codebases. They let you say "these architecture rules only apply to source code" or "these formatting rules only apply to slides."</a:t>
            </a:r>
          </a:p>
          <a:p>
            <a:endParaRPr/>
          </a:p>
          <a:p>
            <a:r>
              <a:t>**Breaking down the syntax**:</a:t>
            </a:r>
          </a:p>
          <a:p>
            <a:endParaRPr/>
          </a:p>
          <a:p>
            <a:r>
              <a:t>- "slides/marp/**" - Note there's no leading slash or asterisks. This matches the specific directory path, then /** means everything underneath it</a:t>
            </a:r>
          </a:p>
          <a:p>
            <a:r>
              <a:t>- "src/Features/\*_/_.cs" - Combines directory path with file extension filter</a:t>
            </a:r>
          </a:p>
          <a:p>
            <a:r>
              <a:t>- The pattern is always relative to the repository root</a:t>
            </a:r>
          </a:p>
          <a:p>
            <a:endParaRPr/>
          </a:p>
          <a:p>
            <a:r>
              <a:t>**Real-world example from this repo**: The marp-slides.instructions.md uses "slides/marp/\*\*" because those formatting rules should only apply to presentation slides, not to other markdown files like README.md or documentation.</a:t>
            </a:r>
          </a:p>
          <a:p>
            <a:endParaRPr/>
          </a:p>
          <a:p>
            <a:r>
              <a:t>**Another example**: You might have vertical-slice.instructions.md with "src/Features/\*_/_.cs" so those architectural patterns only apply to feature code, not to infrastructure or configuration code.</a:t>
            </a:r>
          </a:p>
          <a:p>
            <a:endParaRPr/>
          </a:p>
          <a:p>
            <a:r>
              <a:t>**Visual aid**: If possible, show the repository structure and how the pattern matches</a:t>
            </a:r>
          </a:p>
          <a:p>
            <a:r>
              <a:t>**Transition**: "Let's dive deeper into the glob syntax itself"</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slide is your reference guide for glob pattern syntax. Let's walk through each one with careful attention to the distinctions:</a:t>
            </a:r>
          </a:p>
          <a:p>
            <a:endParaRPr/>
          </a:p>
          <a:p>
            <a:r>
              <a:t>**Single asterisk (\*)**:</a:t>
            </a:r>
          </a:p>
          <a:p>
            <a:endParaRPr/>
          </a:p>
          <a:p>
            <a:r>
              <a:t>- Matches any characters EXCEPT forward slash</a:t>
            </a:r>
          </a:p>
          <a:p>
            <a:r>
              <a:t>- "\*.md" matches "README.md" in the current directory</a:t>
            </a:r>
          </a:p>
          <a:p>
            <a:r>
              <a:t>- Does NOT match "docs/README.md" - the slash breaks the match</a:t>
            </a:r>
          </a:p>
          <a:p>
            <a:r>
              <a:t>- Think of it as "wildcard within one directory level"</a:t>
            </a:r>
          </a:p>
          <a:p>
            <a:endParaRPr/>
          </a:p>
          <a:p>
            <a:r>
              <a:t>**Double asterisk (**)\*\*:</a:t>
            </a:r>
          </a:p>
          <a:p>
            <a:endParaRPr/>
          </a:p>
          <a:p>
            <a:r>
              <a:t>- This is the recursive directory matcher</a:t>
            </a:r>
          </a:p>
          <a:p>
            <a:r>
              <a:t>- Can match zero or more directory levels</a:t>
            </a:r>
          </a:p>
          <a:p>
            <a:r>
              <a:t>- "\*_/_.md" matches files at any depth</a:t>
            </a:r>
          </a:p>
          <a:p>
            <a:r>
              <a:t>- Critical: It must be its own path segment - "**/" not "**/file.md"</a:t>
            </a:r>
          </a:p>
          <a:p>
            <a:endParaRPr/>
          </a:p>
          <a:p>
            <a:r>
              <a:t>**Question mark (?)**:</a:t>
            </a:r>
          </a:p>
          <a:p>
            <a:endParaRPr/>
          </a:p>
          <a:p>
            <a:r>
              <a:t>- Exactly one character (useful for versioned files)</a:t>
            </a:r>
          </a:p>
          <a:p>
            <a:r>
              <a:t>- "config?.json" matches "config1.json" and "configA.json"</a:t>
            </a:r>
          </a:p>
          <a:p>
            <a:r>
              <a:t>- Does NOT match "config10.json" (that's two characters)</a:t>
            </a:r>
          </a:p>
          <a:p>
            <a:endParaRPr/>
          </a:p>
          <a:p>
            <a:r>
              <a:t>**Brackets [abc] and [a-z]**:</a:t>
            </a:r>
          </a:p>
          <a:p>
            <a:endParaRPr/>
          </a:p>
          <a:p>
            <a:r>
              <a:t>- Character classes - match one character from the set</a:t>
            </a:r>
          </a:p>
          <a:p>
            <a:r>
              <a:t>- Useful for version numbers or variant files</a:t>
            </a:r>
          </a:p>
          <a:p>
            <a:r>
              <a:t>- "file[123].md" matches file1.md, file2.md, file3.md</a:t>
            </a:r>
          </a:p>
          <a:p>
            <a:endParaRPr/>
          </a:p>
          <a:p>
            <a:r>
              <a:t>**Braces {a,b}**:</a:t>
            </a:r>
          </a:p>
          <a:p>
            <a:endParaRPr/>
          </a:p>
          <a:p>
            <a:r>
              <a:t>- This is alternation - match any of the alternatives</a:t>
            </a:r>
          </a:p>
          <a:p>
            <a:r>
              <a:t>- Most commonly used for file extensions</a:t>
            </a:r>
          </a:p>
          <a:p>
            <a:r>
              <a:t>- "\*.{js,ts,jsx,tsx}" matches all JavaScript/TypeScript files</a:t>
            </a:r>
          </a:p>
          <a:p>
            <a:r>
              <a:t>- Each alternative can itself be a pattern</a:t>
            </a:r>
          </a:p>
          <a:p>
            <a:endParaRPr/>
          </a:p>
          <a:p>
            <a:r>
              <a:t>**Demonstrate**: Show 2-3 concrete examples with actual files</a:t>
            </a:r>
          </a:p>
          <a:p>
            <a:r>
              <a:t>**Transition**: "Now let's see these patterns in action with real examples from this repository"</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Let's consolidate the technical details about how pattern matching actually works in practice:</a:t>
            </a:r>
          </a:p>
          <a:p>
            <a:endParaRPr/>
          </a:p>
          <a:p>
            <a:r>
              <a:t>**Evaluation Timing**:</a:t>
            </a:r>
          </a:p>
          <a:p>
            <a:r>
              <a:t>Pattern matching happens dynamically. When you open a file, VS Code/Copilot:</a:t>
            </a:r>
          </a:p>
          <a:p>
            <a:endParaRPr/>
          </a:p>
          <a:p>
            <a:r>
              <a:t>1. Scans all instruction files in the workspace</a:t>
            </a:r>
          </a:p>
          <a:p>
            <a:r>
              <a:t>2. Evaluates each applyTo pattern against the current file path</a:t>
            </a:r>
          </a:p>
          <a:p>
            <a:r>
              <a:t>3. Loads matching instructions into Copilot's context window</a:t>
            </a:r>
          </a:p>
          <a:p>
            <a:r>
              <a:t>4. This context is then used for all Copilot operations in that file</a:t>
            </a:r>
          </a:p>
          <a:p>
            <a:endParaRPr/>
          </a:p>
          <a:p>
            <a:r>
              <a:t>This is important because it means pattern matching is NOT a one-time operation at startup - it happens constantly as you switch between files.</a:t>
            </a:r>
          </a:p>
          <a:p>
            <a:endParaRPr/>
          </a:p>
          <a:p>
            <a:r>
              <a:t>**Multiple Matches**:</a:t>
            </a:r>
          </a:p>
          <a:p>
            <a:r>
              <a:t>It's perfectly valid for multiple instruction files to match the same file. Copilot will try to follow all applicable instructions. This is why avoiding conflicts is so important - if two instructions contradict each other, Copilot will struggle.</a:t>
            </a:r>
          </a:p>
          <a:p>
            <a:endParaRPr/>
          </a:p>
          <a:p>
            <a:r>
              <a:t>**Example of intentional multiple matches**:</a:t>
            </a:r>
          </a:p>
          <a:p>
            <a:endParaRPr/>
          </a:p>
          <a:p>
            <a:r>
              <a:t>- general-coding-standards.instructions.md with "\*_/_.cs"</a:t>
            </a:r>
          </a:p>
          <a:p>
            <a:r>
              <a:t>- vertical-slice-architecture.instructions.md with "src/Features/\*_/_.cs"</a:t>
            </a:r>
          </a:p>
          <a:p>
            <a:r>
              <a:t>- A file at "src/Features/Users/CreateUser.cs" matches both</a:t>
            </a:r>
          </a:p>
          <a:p>
            <a:r>
              <a:t>- Both instruction sets apply (general standards + architecture patterns)</a:t>
            </a:r>
          </a:p>
          <a:p>
            <a:r>
              <a:t>- This works if the instructions are complementary</a:t>
            </a:r>
          </a:p>
          <a:p>
            <a:endParaRPr/>
          </a:p>
          <a:p>
            <a:r>
              <a:t>**Specificity and Precedence**:</a:t>
            </a:r>
          </a:p>
          <a:p>
            <a:r>
              <a:t>Unlike CSS, there's no formal "specificity" calculation where more specific patterns override less specific ones. Instead, ALL matching instructions are loaded. The idea of "precedence" is more about human clarity - more specific patterns make intent clearer, but don't technically override anything.</a:t>
            </a:r>
          </a:p>
          <a:p>
            <a:endParaRPr/>
          </a:p>
          <a:p>
            <a:r>
              <a:t>**Repository Root**:</a:t>
            </a:r>
          </a:p>
          <a:p>
            <a:r>
              <a:t>All patterns are relative to the workspace root (where .git directory is located). There's no way to use absolute paths, which is good for portability.</a:t>
            </a:r>
          </a:p>
          <a:p>
            <a:endParaRPr/>
          </a:p>
          <a:p>
            <a:r>
              <a:t>**Case Sensitivity**:</a:t>
            </a:r>
          </a:p>
          <a:p>
            <a:r>
              <a:t>Critical detail - this depends on the underlying file system:</a:t>
            </a:r>
          </a:p>
          <a:p>
            <a:endParaRPr/>
          </a:p>
          <a:p>
            <a:r>
              <a:t>- Windows: case-insensitive ("\*.MD" matches "file.md")</a:t>
            </a:r>
          </a:p>
          <a:p>
            <a:r>
              <a:t>- Linux: case-sensitive ("\*.MD" matches "file.MD" but not "file.md")</a:t>
            </a:r>
          </a:p>
          <a:p>
            <a:r>
              <a:t>- macOS: depends on file system format (usually case-insensitive)</a:t>
            </a:r>
          </a:p>
          <a:p>
            <a:endParaRPr/>
          </a:p>
          <a:p>
            <a:r>
              <a:t>Best practice: Always use lowercase in patterns and standardize file naming to lowercase to avoid cross-platform issues.</a:t>
            </a:r>
          </a:p>
          <a:p>
            <a:endParaRPr/>
          </a:p>
          <a:p>
            <a:r>
              <a:t>**Important**: "The dynamic evaluation means you can test instruction changes immediately - just close and reopen a file"</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slides\marp\core-instruction-files.deck.md</a:t>
            </a:r>
            <a:br>
              <a:rPr lang="en-US" dirty="0"/>
            </a:br>
            <a:r>
              <a:rPr lang="en-US" sz="1600" b="0" kern="1200" dirty="0">
                <a:solidFill>
                  <a:schemeClr val="tx1"/>
                </a:solidFill>
                <a:effectLst/>
                <a:latin typeface="+mn-lt"/>
                <a:ea typeface="+mn-ea"/>
                <a:cs typeface="+mn-cs"/>
              </a:rPr>
              <a:t>---</a:t>
            </a:r>
          </a:p>
          <a:p>
            <a:br>
              <a:rPr lang="en-US" sz="1600" b="0" kern="1200" dirty="0">
                <a:solidFill>
                  <a:schemeClr val="tx1"/>
                </a:solidFill>
                <a:effectLst/>
                <a:latin typeface="+mn-lt"/>
                <a:ea typeface="+mn-ea"/>
                <a:cs typeface="+mn-cs"/>
              </a:rPr>
            </a:br>
            <a:endParaRPr lang="en-US" sz="1600" b="0" kern="1200" dirty="0">
              <a:solidFill>
                <a:schemeClr val="tx1"/>
              </a:solidFill>
              <a:effectLst/>
              <a:latin typeface="+mn-lt"/>
              <a:ea typeface="+mn-ea"/>
              <a:cs typeface="+mn-cs"/>
            </a:endParaRPr>
          </a:p>
          <a:p>
            <a:r>
              <a:rPr lang="en-US" sz="1600" b="1" kern="1200" dirty="0">
                <a:solidFill>
                  <a:schemeClr val="tx1"/>
                </a:solidFill>
                <a:effectLst/>
                <a:latin typeface="+mn-lt"/>
                <a:ea typeface="+mn-ea"/>
                <a:cs typeface="+mn-cs"/>
              </a:rPr>
              <a:t>## Core Instruction files</a:t>
            </a:r>
            <a:endParaRPr lang="en-US" sz="1600" b="0" kern="1200" dirty="0">
              <a:solidFill>
                <a:schemeClr val="tx1"/>
              </a:solidFill>
              <a:effectLst/>
              <a:latin typeface="+mn-lt"/>
              <a:ea typeface="+mn-ea"/>
              <a:cs typeface="+mn-cs"/>
            </a:endParaRPr>
          </a:p>
          <a:p>
            <a:br>
              <a:rPr lang="en-US" sz="1600" b="0" kern="1200" dirty="0">
                <a:solidFill>
                  <a:schemeClr val="tx1"/>
                </a:solidFill>
                <a:effectLst/>
                <a:latin typeface="+mn-lt"/>
                <a:ea typeface="+mn-ea"/>
                <a:cs typeface="+mn-cs"/>
              </a:rPr>
            </a:br>
            <a:endParaRPr lang="en-US" sz="1600" b="0" kern="1200" dirty="0">
              <a:solidFill>
                <a:schemeClr val="tx1"/>
              </a:solidFill>
              <a:effectLst/>
              <a:latin typeface="+mn-lt"/>
              <a:ea typeface="+mn-ea"/>
              <a:cs typeface="+mn-cs"/>
            </a:endParaRPr>
          </a:p>
          <a:p>
            <a:r>
              <a:rPr lang="en-US" sz="1600" b="0" kern="1200" dirty="0">
                <a:solidFill>
                  <a:schemeClr val="tx1"/>
                </a:solidFill>
                <a:effectLst/>
                <a:latin typeface="+mn-lt"/>
                <a:ea typeface="+mn-ea"/>
                <a:cs typeface="+mn-cs"/>
              </a:rPr>
              <a:t>`agent-file.instructions.md`</a:t>
            </a:r>
          </a:p>
          <a:p>
            <a:r>
              <a:rPr lang="en-US" sz="1600" b="0" kern="1200" dirty="0">
                <a:solidFill>
                  <a:schemeClr val="tx1"/>
                </a:solidFill>
                <a:effectLst/>
                <a:latin typeface="+mn-lt"/>
                <a:ea typeface="+mn-ea"/>
                <a:cs typeface="+mn-cs"/>
              </a:rPr>
              <a:t>  - Defines the structure and contents of agents</a:t>
            </a:r>
          </a:p>
          <a:p>
            <a:br>
              <a:rPr lang="en-US" sz="1600" b="0" kern="1200" dirty="0">
                <a:solidFill>
                  <a:schemeClr val="tx1"/>
                </a:solidFill>
                <a:effectLst/>
                <a:latin typeface="+mn-lt"/>
                <a:ea typeface="+mn-ea"/>
                <a:cs typeface="+mn-cs"/>
              </a:rPr>
            </a:br>
            <a:endParaRPr lang="en-US" sz="1600" b="0" kern="1200" dirty="0">
              <a:solidFill>
                <a:schemeClr val="tx1"/>
              </a:solidFill>
              <a:effectLst/>
              <a:latin typeface="+mn-lt"/>
              <a:ea typeface="+mn-ea"/>
              <a:cs typeface="+mn-cs"/>
            </a:endParaRPr>
          </a:p>
          <a:p>
            <a:r>
              <a:rPr lang="en-US" sz="1600" b="0" kern="1200" dirty="0">
                <a:solidFill>
                  <a:schemeClr val="tx1"/>
                </a:solidFill>
                <a:effectLst/>
                <a:latin typeface="+mn-lt"/>
                <a:ea typeface="+mn-ea"/>
                <a:cs typeface="+mn-cs"/>
              </a:rPr>
              <a:t>`instruction-files.instructions.md`</a:t>
            </a:r>
          </a:p>
          <a:p>
            <a:r>
              <a:rPr lang="en-US" sz="1600" b="0" kern="1200" dirty="0">
                <a:solidFill>
                  <a:schemeClr val="tx1"/>
                </a:solidFill>
                <a:effectLst/>
                <a:latin typeface="+mn-lt"/>
                <a:ea typeface="+mn-ea"/>
                <a:cs typeface="+mn-cs"/>
              </a:rPr>
              <a:t>  - Defines the structure and contents of instruction files</a:t>
            </a:r>
          </a:p>
          <a:p>
            <a:br>
              <a:rPr lang="en-US" sz="1600" b="0" kern="1200" dirty="0">
                <a:solidFill>
                  <a:schemeClr val="tx1"/>
                </a:solidFill>
                <a:effectLst/>
                <a:latin typeface="+mn-lt"/>
                <a:ea typeface="+mn-ea"/>
                <a:cs typeface="+mn-cs"/>
              </a:rPr>
            </a:br>
            <a:endParaRPr lang="en-US" sz="1600" b="0" kern="1200" dirty="0">
              <a:solidFill>
                <a:schemeClr val="tx1"/>
              </a:solidFill>
              <a:effectLst/>
              <a:latin typeface="+mn-lt"/>
              <a:ea typeface="+mn-ea"/>
              <a:cs typeface="+mn-cs"/>
            </a:endParaRPr>
          </a:p>
          <a:p>
            <a:r>
              <a:rPr lang="en-US" sz="1600" b="0" kern="1200" dirty="0">
                <a:solidFill>
                  <a:schemeClr val="tx1"/>
                </a:solidFill>
                <a:effectLst/>
                <a:latin typeface="+mn-lt"/>
                <a:ea typeface="+mn-ea"/>
                <a:cs typeface="+mn-cs"/>
              </a:rPr>
              <a:t>`prompt-file.instructions.md`</a:t>
            </a:r>
          </a:p>
          <a:p>
            <a:r>
              <a:rPr lang="en-US" sz="1600" b="0" kern="1200" dirty="0">
                <a:solidFill>
                  <a:schemeClr val="tx1"/>
                </a:solidFill>
                <a:effectLst/>
                <a:latin typeface="+mn-lt"/>
                <a:ea typeface="+mn-ea"/>
                <a:cs typeface="+mn-cs"/>
              </a:rPr>
              <a:t>  - Defines the structure and contents of prompts</a:t>
            </a:r>
          </a:p>
          <a:p>
            <a:br>
              <a:rPr lang="en-US" sz="1600" b="0" kern="1200" dirty="0">
                <a:solidFill>
                  <a:schemeClr val="tx1"/>
                </a:solidFill>
                <a:effectLst/>
                <a:latin typeface="+mn-lt"/>
                <a:ea typeface="+mn-ea"/>
                <a:cs typeface="+mn-cs"/>
              </a:rPr>
            </a:br>
            <a:endParaRPr lang="en-US" sz="1600" b="0" kern="1200" dirty="0">
              <a:solidFill>
                <a:schemeClr val="tx1"/>
              </a:solidFill>
              <a:effectLst/>
              <a:latin typeface="+mn-lt"/>
              <a:ea typeface="+mn-ea"/>
              <a:cs typeface="+mn-cs"/>
            </a:endParaRPr>
          </a:p>
          <a:p>
            <a:r>
              <a:rPr lang="en-US" sz="1600" b="0" kern="1200" dirty="0">
                <a:solidFill>
                  <a:schemeClr val="tx1"/>
                </a:solidFill>
                <a:effectLst/>
                <a:latin typeface="+mn-lt"/>
                <a:ea typeface="+mn-ea"/>
                <a:cs typeface="+mn-cs"/>
              </a:rPr>
              <a:t>`instruction-prompt-files.instructions.md`</a:t>
            </a:r>
          </a:p>
          <a:p>
            <a:r>
              <a:rPr lang="en-US" sz="1600" b="0" kern="1200" dirty="0">
                <a:solidFill>
                  <a:schemeClr val="tx1"/>
                </a:solidFill>
                <a:effectLst/>
                <a:latin typeface="+mn-lt"/>
                <a:ea typeface="+mn-ea"/>
                <a:cs typeface="+mn-cs"/>
              </a:rPr>
              <a:t>  - Defines the structure and contents of prompts that create instruction files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dirty="0"/>
              <a:t>Present the core instruction files that govern AI-assisted development in this repository. These files are the foundation of the guardrails system.</a:t>
            </a:r>
          </a:p>
          <a:p>
            <a:endParaRPr dirty="0"/>
          </a:p>
          <a:p>
            <a:r>
              <a:rPr dirty="0"/>
              <a:t>Explain each file's purpose:</a:t>
            </a:r>
          </a:p>
          <a:p>
            <a:endParaRPr dirty="0"/>
          </a:p>
          <a:p>
            <a:r>
              <a:rPr dirty="0"/>
              <a:t>- ai-assisted-output.instructions.md: The master policy for ALL AI-generated content, covering provenance, logging, and compliance</a:t>
            </a:r>
          </a:p>
          <a:p>
            <a:r>
              <a:rPr dirty="0"/>
              <a:t>- chatmode-file.instructions.md: Defines how to create custom chat modes for specific development workflows</a:t>
            </a:r>
          </a:p>
          <a:p>
            <a:r>
              <a:rPr dirty="0"/>
              <a:t>- instruction-files.instructions.md: Meta-instructions for creating new instruction files</a:t>
            </a:r>
          </a:p>
          <a:p>
            <a:r>
              <a:rPr dirty="0"/>
              <a:t>- prompt-file.instructions.md: Guidelines for creating reusable prompt files</a:t>
            </a:r>
          </a:p>
          <a:p>
            <a:r>
              <a:rPr dirty="0"/>
              <a:t>- instruction-prompt-files.instructions.md: Meta-prompts that generate instruction files</a:t>
            </a:r>
          </a:p>
          <a:p>
            <a:endParaRPr dirty="0"/>
          </a:p>
          <a:p>
            <a:r>
              <a:rPr dirty="0"/>
              <a:t>Emphasize the hierarchical nature: ai-assisted-output is the root policy that all others reference.</a:t>
            </a:r>
          </a:p>
          <a:p>
            <a:endParaRPr dirty="0"/>
          </a:p>
          <a:p>
            <a:r>
              <a:rPr dirty="0"/>
              <a:t>Transition: "Let's dive into how to use these..."</a:t>
            </a:r>
          </a:p>
          <a:p>
            <a:endParaRPr dirty="0"/>
          </a:p>
          <a:p>
            <a:r>
              <a:rPr dirty="0"/>
              <a:t>---</a:t>
            </a:r>
          </a:p>
          <a:p>
            <a:endParaRPr dirty="0"/>
          </a:p>
          <a:p>
            <a:r>
              <a:rPr dirty="0"/>
              <a:t>Source: slides\marp\core-instruction-files.deck.md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a layering strategy, not an either-or choice. The audience should leave with a practical model for deciding what belongs at enterprise scope versus repository scope. Keep this opening to about 60-90 seconds.</a:t>
            </a:r>
          </a:p>
          <a:p>
            <a:endParaRPr/>
          </a:p>
          <a:p>
            <a:r>
              <a:t>---</a:t>
            </a:r>
          </a:p>
          <a:p>
            <a:endParaRPr/>
          </a:p>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teams usually fail by over-centralizing or over-fragmenting. Centralize non-negotiables, decentralize implementation guidance. Emphasize this prevents policy drift while keeping day-to-day delivery fast.</a:t>
            </a:r>
          </a:p>
          <a:p>
            <a:endParaRPr/>
          </a:p>
          <a:p>
            <a:r>
              <a:t>---</a:t>
            </a:r>
          </a:p>
          <a:p>
            <a:endParaRPr/>
          </a:p>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 out that enterprise-tier files should be stable and short. They should define constraints, not feature behavior. Give examples: required metadata fields, approved hosts, restricted operations, and mandatory security checks.</a:t>
            </a:r>
          </a:p>
          <a:p>
            <a:endParaRPr/>
          </a:p>
          <a:p>
            <a:r>
              <a:t>---</a:t>
            </a:r>
          </a:p>
          <a:p>
            <a:endParaRPr/>
          </a:p>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opening slide frames instruction files as durable behavior controls, not one-time prompts. Emphasize that teams can encode standards once and then reuse them in every Copilot interaction. Call out that this lowers drift and improves consistency across contributors. Transition by saying we will define what instruction files are, where they live, and how they are applied.</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instruction files let teams set policy-like guidance for Copilot output quality and safety. Clarify that these files are context rules, not executable automation scripts. Mention that repository instruction files travel with the codebase, while user-level prompt files can provide personal defaults across repositories. Transition to the concrete example path requested for this deck.</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that this is the exact file used as the example baseline for the session. Walk through how these rules improve signal quality by reducing over-exploration and unnecessary verbosity. Highlight the practical sequence: direct answer first, minimal context gathering, then validation. Transition to a closer look at the rule categories in that file.</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table to show that the example file is a behavior contract and not just style guidance. Mention that each category can be reviewed in code review as an explicit quality gate. Explain that this structure makes AI behavior more predictable and easier to audit. Transition by mapping these rules to a practical lifecycle for Copilot responses.</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the behavior pipeline Copilot follows during a task. Stress that matching instructions are loaded before implementation decisions, which changes both scope and tone of output. Explain that validation is part of the chain, not an optional afterthought. Transition into authoring practices for writing strong instruction files.</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a maintenance practice, not a one-time writing task. Explain that quality comes from clear ordering, concrete phrasing, and periodic cleanup. Call out that instruction bloat can weaken relevance and consume context budget. Transition to an applied example showing how these rules change result quality.</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comparison to show impact on speed, relevance, and quality. Explain that the biggest gains usually come from reduced context sprawl and sharper acceptance criteria. Mention that concise output is a feature when paired with strong validation. Transition to closing guidance on adopting instruction files as team standards.</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framing instruction files as part of engineering governance, not just AI convenience settings. Encourage incremental rollout: begin with a short core rule set, then add targeted scoped files where needed. Emphasize measuring outcomes with tests and review feedback to keep instruction quality grounded in results. End by recommending this deck as onboarding context together with repository Copilot instructions.</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parallel-work exercise here before switching to the detailed two-column instructions.</a:t>
            </a:r>
          </a:p>
          <a:p>
            <a:r>
              <a:t>Explain that the next slide contains the actual execution plan and success criteria.</a:t>
            </a:r>
          </a:p>
          <a:p>
            <a:endParaRPr/>
          </a:p>
          <a:p>
            <a:r>
              <a:t>---</a:t>
            </a:r>
          </a:p>
          <a:p>
            <a:endParaRPr/>
          </a:p>
          <a:p>
            <a:r>
              <a:t>Source: slides\marp\exercise\exercise-technology-inventory-instructions.deck.md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~00:30</a:t>
            </a:r>
          </a:p>
          <a:p>
            <a:endParaRPr/>
          </a:p>
          <a:p>
            <a:endParaRPr/>
          </a:p>
          <a:p>
            <a:r>
              <a:t>**Prerequisites:** Access to repository tree, instruction conventions, and team roles for parallel work</a:t>
            </a:r>
          </a:p>
          <a:p>
            <a:endParaRPr/>
          </a:p>
          <a:p>
            <a:r>
              <a:t>### Objectives</a:t>
            </a:r>
          </a:p>
          <a:p>
            <a:endParaRPr/>
          </a:p>
          <a:p>
            <a:r>
              <a:t>- Build a practical technology inventory that informs instruction planning.</a:t>
            </a:r>
          </a:p>
          <a:p>
            <a:r>
              <a:t>- Execute concurrent work safely with background sessions.</a:t>
            </a:r>
          </a:p>
          <a:p>
            <a:r>
              <a:t>- Produce multiple scoped instruction files in one coordinated workflow.</a:t>
            </a:r>
          </a:p>
          <a:p>
            <a:r>
              <a:t>- Use the session management interface to maintain control and traceability.</a:t>
            </a:r>
          </a:p>
          <a:p>
            <a:endParaRPr/>
          </a:p>
          <a:p>
            <a:r>
              <a:t>### Activities</a:t>
            </a:r>
          </a:p>
          <a:p>
            <a:endParaRPr/>
          </a:p>
          <a:p>
            <a:r>
              <a:t>1. Build a structured inventory first; avoid writing instruction files until the landscape is clear.</a:t>
            </a:r>
          </a:p>
          <a:p>
            <a:r>
              <a:t>2. Split participants into concurrent roles: inventory lead, instruction generator, and session coordinator.</a:t>
            </a:r>
          </a:p>
          <a:p>
            <a:r>
              <a:t>3. Generate scoped instruction files in parallel, then run a conflict review before acceptance.</a:t>
            </a:r>
          </a:p>
          <a:p>
            <a:r>
              <a:t>4. Finalize with a short session-management retrospective: what scaled, what collided, what to improve.</a:t>
            </a:r>
          </a:p>
          <a:p>
            <a:endParaRPr/>
          </a:p>
          <a:p>
            <a:r>
              <a:t>### Success Criteria</a:t>
            </a:r>
          </a:p>
          <a:p>
            <a:endParaRPr/>
          </a:p>
          <a:p>
            <a:r>
              <a:t>- Inventory coverage is complete enough to drive instruction priorities.</a:t>
            </a:r>
          </a:p>
          <a:p>
            <a:r>
              <a:t>- Parallel sessions finish with non-conflicting outputs.</a:t>
            </a:r>
          </a:p>
          <a:p>
            <a:r>
              <a:t>- Generated instruction files include clear scoping and ownership boundaries.</a:t>
            </a:r>
          </a:p>
          <a:p>
            <a:r>
              <a:t>- Team can reproduce the same workflow on another repository without redesigning the process.</a:t>
            </a:r>
          </a:p>
          <a:p>
            <a:endParaRPr/>
          </a:p>
          <a:p>
            <a:r>
              <a:t>### Facilitation Tip</a:t>
            </a:r>
          </a:p>
          <a:p>
            <a:endParaRPr/>
          </a:p>
          <a:p>
            <a:r>
              <a:t>Use a visible board (status: active, blocked, complete) for each session stream so the team can rebalance quickly when one stream stalls.</a:t>
            </a:r>
          </a:p>
          <a:p>
            <a:endParaRPr/>
          </a:p>
          <a:p>
            <a:r>
              <a:t>---</a:t>
            </a:r>
          </a:p>
          <a:p>
            <a:endParaRPr/>
          </a:p>
          <a:p>
            <a:r>
              <a:t>Source: slides\marp\exercise\exercise-technology-inventory-instructions.deck.md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Welcome to AI Assisted Software Development</a:t>
            </a:r>
          </a:p>
        </p:txBody>
      </p:sp>
      <p:sp>
        <p:nvSpPr>
          <p:cNvPr id="3" name="Subtitle 2"/>
          <p:cNvSpPr>
            <a:spLocks noGrp="1"/>
          </p:cNvSpPr>
          <p:nvPr>
            <p:ph type="subTitle" idx="1"/>
          </p:nvPr>
        </p:nvSpPr>
        <p:spPr/>
        <p:txBody>
          <a:bodyPr wrap="square">
            <a:normAutofit/>
          </a:bodyPr>
          <a:lstStyle/>
          <a:p>
            <a:pPr>
              <a:buNone/>
            </a:pPr>
            <a:r>
              <a:rPr sz="2800" b="0" i="0" u="none"/>
              <a:t>From Code to Copilot</a:t>
            </a:r>
            <a:endParaRPr sz="2800" b="0" i="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John Michael Miller</a:t>
            </a:r>
          </a:p>
        </p:txBody>
      </p:sp>
      <p:sp>
        <p:nvSpPr>
          <p:cNvPr id="3" name="Content Placeholder 2"/>
          <p:cNvSpPr>
            <a:spLocks noGrp="1"/>
          </p:cNvSpPr>
          <p:nvPr>
            <p:ph idx="1"/>
          </p:nvPr>
        </p:nvSpPr>
        <p:spPr/>
        <p:txBody>
          <a:bodyPr wrap="square">
            <a:normAutofit/>
          </a:bodyPr>
          <a:lstStyle/>
          <a:p>
            <a:pPr>
              <a:buNone/>
            </a:pPr>
            <a:r>
              <a:rPr sz="2650" b="1" i="0" u="none"/>
              <a:t>Principal Software Engineer at CODE</a:t>
            </a:r>
            <a:endParaRPr sz="2650" b="0" i="0">
              <a:latin typeface="Arial"/>
            </a:endParaRPr>
          </a:p>
          <a:p>
            <a:pPr>
              <a:buNone/>
            </a:pPr>
            <a:r>
              <a:rPr sz="2650" b="0" i="0" u="none"/>
              <a:t>Played roles of developer, architect, devops engineer, platform engineer, test architect, release manager</a:t>
            </a:r>
            <a:endParaRPr sz="2650" b="0" i="0">
              <a:latin typeface="Arial"/>
            </a:endParaRPr>
          </a:p>
          <a:p>
            <a:pPr>
              <a:buNone/>
            </a:pPr>
            <a:r>
              <a:rPr sz="2650" b="0" i="0" u="none"/>
              <a:t>AI Practitioner and advocate for effectively using AI to write code</a:t>
            </a:r>
            <a:endParaRPr sz="2650" b="0" i="0">
              <a:latin typeface="Arial"/>
            </a:endParaRPr>
          </a:p>
          <a:p>
            <a:pPr>
              <a:buNone/>
            </a:pPr>
            <a:endParaRPr sz="2650" b="0" i="0">
              <a:latin typeface="Arial"/>
            </a:endParaRPr>
          </a:p>
          <a:p>
            <a:r>
              <a:rPr sz="2650" b="0" i="0" u="none"/>
              <a:t>LinkedIn: www.linkedin.com/in/johnmichaelmiller</a:t>
            </a:r>
            <a:endParaRPr sz="2650" b="0" i="0">
              <a:latin typeface="Arial"/>
            </a:endParaRPr>
          </a:p>
          <a:p>
            <a:r>
              <a:rPr sz="2650" b="0" i="0" u="none"/>
              <a:t>Email: john.miller@codegroup.io</a:t>
            </a:r>
            <a:endParaRPr sz="2650" b="0" i="0">
              <a:latin typeface="Arial"/>
            </a:endParaRPr>
          </a:p>
          <a:p>
            <a:r>
              <a:rPr sz="2650" b="0" i="0" u="none"/>
              <a:t>Blog: codemag.com/blog/AIPractitioner</a:t>
            </a:r>
            <a:endParaRPr sz="265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Hi, I'm a Developer Who Has Talked to a Robot</a:t>
            </a:r>
          </a:p>
        </p:txBody>
      </p:sp>
      <p:sp>
        <p:nvSpPr>
          <p:cNvPr id="3" name="Subtitle 2"/>
          <p:cNvSpPr>
            <a:spLocks noGrp="1"/>
          </p:cNvSpPr>
          <p:nvPr>
            <p:ph type="subTitle" idx="1"/>
          </p:nvPr>
        </p:nvSpPr>
        <p:spPr/>
        <p:txBody>
          <a:bodyPr wrap="square">
            <a:normAutofit/>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Introductions</a:t>
            </a:r>
          </a:p>
        </p:txBody>
      </p:sp>
      <p:sp>
        <p:nvSpPr>
          <p:cNvPr id="3" name="Content Placeholder 2"/>
          <p:cNvSpPr>
            <a:spLocks noGrp="1"/>
          </p:cNvSpPr>
          <p:nvPr>
            <p:ph idx="1"/>
          </p:nvPr>
        </p:nvSpPr>
        <p:spPr/>
        <p:txBody>
          <a:bodyPr wrap="square">
            <a:normAutofit/>
          </a:bodyPr>
          <a:lstStyle/>
          <a:p>
            <a:r>
              <a:rPr sz="2800" b="0" i="0" u="none"/>
              <a:t>Who you are</a:t>
            </a:r>
            <a:endParaRPr sz="2800" b="0" i="0">
              <a:latin typeface="Arial"/>
            </a:endParaRPr>
          </a:p>
          <a:p>
            <a:r>
              <a:rPr sz="2800" b="0" i="0" u="none"/>
              <a:t>Who do you work for</a:t>
            </a:r>
            <a:endParaRPr sz="2800" b="0" i="0">
              <a:latin typeface="Arial"/>
            </a:endParaRPr>
          </a:p>
          <a:p>
            <a:r>
              <a:rPr sz="2800" b="0" i="0" u="none"/>
              <a:t>What you do</a:t>
            </a:r>
            <a:endParaRPr sz="2800" b="0" i="0">
              <a:latin typeface="Arial"/>
            </a:endParaRPr>
          </a:p>
          <a:p>
            <a:r>
              <a:rPr sz="2800" b="0" i="0" u="none"/>
              <a:t>What you've done with AI tools</a:t>
            </a:r>
            <a:endParaRPr sz="2800" b="0" i="0">
              <a:latin typeface="Arial"/>
            </a:endParaRPr>
          </a:p>
          <a:p>
            <a:r>
              <a:rPr sz="2800" b="0" i="0" u="none"/>
              <a:t>What you want to learn</a:t>
            </a:r>
            <a:endParaRPr sz="2800" b="0" i="0">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About CODE Magazine</a:t>
            </a:r>
          </a:p>
        </p:txBody>
      </p:sp>
      <p:sp>
        <p:nvSpPr>
          <p:cNvPr id="3" name="Subtitle 2"/>
          <p:cNvSpPr>
            <a:spLocks noGrp="1"/>
          </p:cNvSpPr>
          <p:nvPr>
            <p:ph type="subTitle" idx="1"/>
          </p:nvPr>
        </p:nvSpPr>
        <p:spPr/>
        <p:txBody>
          <a:bodyPr wrap="square">
            <a:normAutofit/>
          </a:bodyPr>
          <a:lstStyle/>
          <a:p>
            <a:pPr>
              <a:buNone/>
            </a:pPr>
            <a:r>
              <a:rPr b="0" i="0" u="none"/>
              <a:t>Thirty Years and Still Compiling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Daily Themes</a:t>
            </a:r>
          </a:p>
        </p:txBody>
      </p:sp>
      <p:graphicFrame>
        <p:nvGraphicFramePr>
          <p:cNvPr id="3" name="Table 2"/>
          <p:cNvGraphicFramePr>
            <a:graphicFrameLocks noGrp="1"/>
          </p:cNvGraphicFramePr>
          <p:nvPr>
            <p:extLst>
              <p:ext uri="{D42A27DB-BD31-4B8C-83A1-F6EECF244321}">
                <p14:modId xmlns:p14="http://schemas.microsoft.com/office/powerpoint/2010/main" val="302916990"/>
              </p:ext>
            </p:extLst>
          </p:nvPr>
        </p:nvGraphicFramePr>
        <p:xfrm>
          <a:off x="1219200" y="1828800"/>
          <a:ext cx="9753600" cy="469392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Day</a:t>
                      </a:r>
                    </a:p>
                  </a:txBody>
                  <a:tcPr>
                    <a:solidFill>
                      <a:schemeClr val="accent4"/>
                    </a:solidFill>
                  </a:tcPr>
                </a:tc>
                <a:tc>
                  <a:txBody>
                    <a:bodyPr/>
                    <a:lstStyle/>
                    <a:p>
                      <a:pPr>
                        <a:buNone/>
                        <a:defRPr sz="1600" b="1">
                          <a:solidFill>
                            <a:schemeClr val="bg1"/>
                          </a:solidFill>
                        </a:defRPr>
                      </a:pPr>
                      <a:r>
                        <a:rPr sz="1600" b="0" i="0" u="none"/>
                        <a:t>Theme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dirty="0"/>
                        <a:t>Monday</a:t>
                      </a:r>
                    </a:p>
                  </a:txBody>
                  <a:tcPr>
                    <a:solidFill>
                      <a:schemeClr val="accent4">
                        <a:lumMod val="20000"/>
                        <a:lumOff val="80000"/>
                      </a:schemeClr>
                    </a:solidFill>
                  </a:tcPr>
                </a:tc>
                <a:tc>
                  <a:txBody>
                    <a:bodyPr/>
                    <a:lstStyle/>
                    <a:p>
                      <a:pPr>
                        <a:buNone/>
                        <a:defRPr sz="1600" b="0">
                          <a:solidFill>
                            <a:schemeClr val="tx1"/>
                          </a:solidFill>
                        </a:defRPr>
                      </a:pPr>
                      <a:r>
                        <a:rPr sz="1600" b="1" i="0" u="none" dirty="0"/>
                        <a:t>AI Guardrails: Instructions, Copilot UI</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Tuesday</a:t>
                      </a:r>
                    </a:p>
                  </a:txBody>
                  <a:tcPr>
                    <a:solidFill>
                      <a:schemeClr val="accent4">
                        <a:lumMod val="8000"/>
                        <a:lumOff val="92000"/>
                      </a:schemeClr>
                    </a:solidFill>
                  </a:tcPr>
                </a:tc>
                <a:tc>
                  <a:txBody>
                    <a:bodyPr/>
                    <a:lstStyle/>
                    <a:p>
                      <a:pPr>
                        <a:buNone/>
                        <a:defRPr sz="1600" b="0">
                          <a:solidFill>
                            <a:schemeClr val="tx1"/>
                          </a:solidFill>
                        </a:defRPr>
                      </a:pPr>
                      <a:r>
                        <a:rPr sz="1600" b="0" i="0" u="none"/>
                        <a:t>AI Guardrails: Prompts, Copilot for Teams, Models and Context, LLMs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Wednesday</a:t>
                      </a:r>
                    </a:p>
                  </a:txBody>
                  <a:tcPr>
                    <a:solidFill>
                      <a:schemeClr val="accent4">
                        <a:lumMod val="20000"/>
                        <a:lumOff val="80000"/>
                      </a:schemeClr>
                    </a:solidFill>
                  </a:tcPr>
                </a:tc>
                <a:tc>
                  <a:txBody>
                    <a:bodyPr/>
                    <a:lstStyle/>
                    <a:p>
                      <a:pPr>
                        <a:buNone/>
                        <a:defRPr sz="1600" b="0">
                          <a:solidFill>
                            <a:schemeClr val="tx1"/>
                          </a:solidFill>
                        </a:defRPr>
                      </a:pPr>
                      <a:r>
                        <a:rPr sz="1600" b="0" i="0" u="none"/>
                        <a:t>AI Guardrails: Agents, Skills, Managing Context, Instructions vs Prompts vs Agents, Test Automation and Code Quality, MCP</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Thursday</a:t>
                      </a:r>
                    </a:p>
                  </a:txBody>
                  <a:tcPr>
                    <a:solidFill>
                      <a:schemeClr val="accent4">
                        <a:lumMod val="8000"/>
                        <a:lumOff val="92000"/>
                      </a:schemeClr>
                    </a:solidFill>
                  </a:tcPr>
                </a:tc>
                <a:tc>
                  <a:txBody>
                    <a:bodyPr/>
                    <a:lstStyle/>
                    <a:p>
                      <a:pPr>
                        <a:buNone/>
                        <a:defRPr sz="1600" b="0">
                          <a:solidFill>
                            <a:schemeClr val="tx1"/>
                          </a:solidFill>
                        </a:defRPr>
                      </a:pPr>
                      <a:r>
                        <a:rPr sz="1600" b="0" i="0" u="none"/>
                        <a:t>AI Assisted Brownfield SD: AI Implementation Workflow, Addressing Technical Debt, Building a Backlog, Multi-Implementation Comparison, AI Practitioner Resources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Friday</a:t>
                      </a:r>
                    </a:p>
                  </a:txBody>
                  <a:tcPr>
                    <a:solidFill>
                      <a:schemeClr val="accent4">
                        <a:lumMod val="20000"/>
                        <a:lumOff val="80000"/>
                      </a:schemeClr>
                    </a:solidFill>
                  </a:tcPr>
                </a:tc>
                <a:tc>
                  <a:txBody>
                    <a:bodyPr/>
                    <a:lstStyle/>
                    <a:p>
                      <a:pPr>
                        <a:buNone/>
                        <a:defRPr sz="1600" b="0">
                          <a:solidFill>
                            <a:schemeClr val="tx1"/>
                          </a:solidFill>
                        </a:defRPr>
                      </a:pPr>
                      <a:r>
                        <a:rPr sz="1600" b="0" i="0" u="none" dirty="0"/>
                        <a:t>AI Assisted Greenfield SD: Specification Driven Software Development, Architecture Specification, Technology Specification, Implementation Specification, Implementation Planning, Implementation Prompts, Vertical Slice Implementation, Code Review with GitHub Copilot</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1" i="0" u="none"/>
              <a:t>▶ AI Assisted Software Development</a:t>
            </a:r>
          </a:p>
          <a:p>
            <a:r>
              <a:rPr b="0" i="0" u="none"/>
              <a:t>Intro to Copilot</a:t>
            </a:r>
          </a:p>
          <a:p>
            <a:r>
              <a:rPr b="0" i="0" u="none"/>
              <a:t>AI Assistance in Action</a:t>
            </a:r>
          </a:p>
          <a:p>
            <a:r>
              <a:rPr b="0" i="0" u="none"/>
              <a:t>Adding AI Guardrails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700" b="0" i="0" u="none"/>
              <a:t>The More Things Change, the More They Still Compile</a:t>
            </a:r>
          </a:p>
        </p:txBody>
      </p:sp>
      <p:sp>
        <p:nvSpPr>
          <p:cNvPr id="3" name="Content Placeholder 2"/>
          <p:cNvSpPr>
            <a:spLocks noGrp="1"/>
          </p:cNvSpPr>
          <p:nvPr>
            <p:ph idx="1"/>
          </p:nvPr>
        </p:nvSpPr>
        <p:spPr/>
        <p:txBody>
          <a:bodyPr wrap="square">
            <a:normAutofit/>
          </a:bodyPr>
          <a:lstStyle/>
          <a:p>
            <a:pPr>
              <a:buNone/>
            </a:pPr>
            <a:r>
              <a:rPr sz="2400" b="0" i="1" u="none"/>
              <a:t>"Programming hasn't changed, but how we go about it has changed, again."</a:t>
            </a:r>
            <a:endParaRPr sz="2400" b="0" i="0">
              <a:latin typeface="Arial"/>
            </a:endParaRPr>
          </a:p>
          <a:p>
            <a:pPr>
              <a:buNone/>
            </a:pPr>
            <a:endParaRPr sz="2400" b="0" i="0">
              <a:latin typeface="Arial"/>
            </a:endParaRPr>
          </a:p>
          <a:p>
            <a:r>
              <a:rPr sz="2400" b="0" i="0" u="none"/>
              <a:t>AI-assisted development is </a:t>
            </a:r>
            <a:r>
              <a:rPr sz="2400" b="1" i="0" u="none"/>
              <a:t>evolutionary</a:t>
            </a:r>
            <a:r>
              <a:rPr sz="2400" b="0" i="0" u="none"/>
              <a:t>, not revolutionary</a:t>
            </a:r>
            <a:endParaRPr sz="2400" b="0" i="0">
              <a:latin typeface="Arial"/>
            </a:endParaRPr>
          </a:p>
          <a:p>
            <a:r>
              <a:rPr sz="2400" b="0" i="0" u="none"/>
              <a:t>Programming has always been about </a:t>
            </a:r>
            <a:r>
              <a:rPr sz="2400" b="1" i="0" u="none"/>
              <a:t>expressing human intent</a:t>
            </a:r>
            <a:r>
              <a:rPr sz="2400" b="0" i="0" u="none"/>
              <a:t> to machines</a:t>
            </a:r>
            <a:endParaRPr sz="2400" b="0" i="0">
              <a:latin typeface="Arial"/>
            </a:endParaRPr>
          </a:p>
          <a:p>
            <a:r>
              <a:rPr sz="2400" b="0" i="0" u="none"/>
              <a:t>What changes is the </a:t>
            </a:r>
            <a:r>
              <a:rPr sz="2400" b="1" i="0" u="none"/>
              <a:t>sophistication of our tools</a:t>
            </a:r>
            <a:r>
              <a:rPr sz="2400" b="0" i="0" u="none"/>
              <a:t> for expressing intent</a:t>
            </a:r>
            <a:endParaRPr sz="2400" b="0" i="0">
              <a:latin typeface="Arial"/>
            </a:endParaRPr>
          </a:p>
          <a:p>
            <a:r>
              <a:rPr sz="2400" b="0" i="0" u="none"/>
              <a:t>The essence remains: bridging the gap between what we want and what machines can do</a:t>
            </a:r>
            <a:endParaRPr sz="2400" b="0" i="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00" b="0" i="0" u="none"/>
              <a:t>Programming Evolution: Rising Abstraction Layers</a:t>
            </a:r>
          </a:p>
        </p:txBody>
      </p:sp>
      <p:graphicFrame>
        <p:nvGraphicFramePr>
          <p:cNvPr id="3" name="Table 2"/>
          <p:cNvGraphicFramePr>
            <a:graphicFrameLocks noGrp="1"/>
          </p:cNvGraphicFramePr>
          <p:nvPr/>
        </p:nvGraphicFramePr>
        <p:xfrm>
          <a:off x="1219200" y="1828800"/>
          <a:ext cx="9753600" cy="36576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Era</a:t>
                      </a:r>
                    </a:p>
                  </a:txBody>
                  <a:tcPr>
                    <a:solidFill>
                      <a:schemeClr val="accent4"/>
                    </a:solidFill>
                  </a:tcPr>
                </a:tc>
                <a:tc>
                  <a:txBody>
                    <a:bodyPr/>
                    <a:lstStyle/>
                    <a:p>
                      <a:pPr>
                        <a:buNone/>
                        <a:defRPr sz="1600" b="1">
                          <a:solidFill>
                            <a:schemeClr val="bg1"/>
                          </a:solidFill>
                        </a:defRPr>
                      </a:pPr>
                      <a:r>
                        <a:rPr sz="1600" b="0" i="0" u="none"/>
                        <a:t>Abstraction Level</a:t>
                      </a:r>
                    </a:p>
                  </a:txBody>
                  <a:tcPr>
                    <a:solidFill>
                      <a:schemeClr val="accent4"/>
                    </a:solidFill>
                  </a:tcPr>
                </a:tc>
                <a:tc>
                  <a:txBody>
                    <a:bodyPr/>
                    <a:lstStyle/>
                    <a:p>
                      <a:pPr>
                        <a:buNone/>
                        <a:defRPr sz="1600" b="1">
                          <a:solidFill>
                            <a:schemeClr val="bg1"/>
                          </a:solidFill>
                        </a:defRPr>
                      </a:pPr>
                      <a:r>
                        <a:rPr sz="1600" b="0" i="0" u="none"/>
                        <a:t>Key Technology</a:t>
                      </a:r>
                    </a:p>
                  </a:txBody>
                  <a:tcPr>
                    <a:solidFill>
                      <a:schemeClr val="accent4"/>
                    </a:solidFill>
                  </a:tcPr>
                </a:tc>
                <a:tc>
                  <a:txBody>
                    <a:bodyPr/>
                    <a:lstStyle/>
                    <a:p>
                      <a:pPr>
                        <a:buNone/>
                        <a:defRPr sz="1600" b="1">
                          <a:solidFill>
                            <a:schemeClr val="bg1"/>
                          </a:solidFill>
                        </a:defRPr>
                      </a:pPr>
                      <a:r>
                        <a:rPr sz="1600" b="0" i="0" u="none"/>
                        <a:t>Example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1940s</a:t>
                      </a:r>
                    </a:p>
                  </a:txBody>
                  <a:tcPr>
                    <a:solidFill>
                      <a:schemeClr val="accent4">
                        <a:lumMod val="20000"/>
                        <a:lumOff val="80000"/>
                      </a:schemeClr>
                    </a:solidFill>
                  </a:tcPr>
                </a:tc>
                <a:tc>
                  <a:txBody>
                    <a:bodyPr/>
                    <a:lstStyle/>
                    <a:p>
                      <a:pPr>
                        <a:buNone/>
                        <a:defRPr sz="1600" b="0">
                          <a:solidFill>
                            <a:schemeClr val="tx1"/>
                          </a:solidFill>
                        </a:defRPr>
                      </a:pPr>
                      <a:r>
                        <a:rPr sz="1600" b="0" i="0" u="none"/>
                        <a:t>Machine Code/Assembly</a:t>
                      </a:r>
                    </a:p>
                  </a:txBody>
                  <a:tcPr>
                    <a:solidFill>
                      <a:schemeClr val="accent4">
                        <a:lumMod val="20000"/>
                        <a:lumOff val="80000"/>
                      </a:schemeClr>
                    </a:solidFill>
                  </a:tcPr>
                </a:tc>
                <a:tc>
                  <a:txBody>
                    <a:bodyPr/>
                    <a:lstStyle/>
                    <a:p>
                      <a:pPr>
                        <a:buNone/>
                        <a:defRPr sz="1600" b="0">
                          <a:solidFill>
                            <a:schemeClr val="tx1"/>
                          </a:solidFill>
                        </a:defRPr>
                      </a:pPr>
                      <a:r>
                        <a:rPr sz="1600" b="0" i="0" u="none"/>
                        <a:t>Assemblers</a:t>
                      </a:r>
                    </a:p>
                  </a:txBody>
                  <a:tcPr>
                    <a:solidFill>
                      <a:schemeClr val="accent4">
                        <a:lumMod val="20000"/>
                        <a:lumOff val="80000"/>
                      </a:schemeClr>
                    </a:solidFill>
                  </a:tcPr>
                </a:tc>
                <a:tc>
                  <a:txBody>
                    <a:bodyPr/>
                    <a:lstStyle/>
                    <a:p>
                      <a:pPr>
                        <a:buNone/>
                        <a:defRPr sz="1600" b="0">
                          <a:solidFill>
                            <a:schemeClr val="tx1"/>
                          </a:solidFill>
                        </a:defRPr>
                      </a:pPr>
                      <a:r>
                        <a:rPr sz="1600" b="0" i="0" u="none">
                          <a:latin typeface="Consolas"/>
                        </a:rPr>
                        <a:t>MOV AX, BX</a:t>
                      </a:r>
                      <a:r>
                        <a:rPr sz="1600" b="0" i="0" u="none"/>
                        <a:t> vs binary</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1950s-70s</a:t>
                      </a:r>
                    </a:p>
                  </a:txBody>
                  <a:tcPr>
                    <a:solidFill>
                      <a:schemeClr val="accent4">
                        <a:lumMod val="8000"/>
                        <a:lumOff val="92000"/>
                      </a:schemeClr>
                    </a:solidFill>
                  </a:tcPr>
                </a:tc>
                <a:tc>
                  <a:txBody>
                    <a:bodyPr/>
                    <a:lstStyle/>
                    <a:p>
                      <a:pPr>
                        <a:buNone/>
                        <a:defRPr sz="1600" b="0">
                          <a:solidFill>
                            <a:schemeClr val="tx1"/>
                          </a:solidFill>
                        </a:defRPr>
                      </a:pPr>
                      <a:r>
                        <a:rPr sz="1600" b="0" i="0" u="none"/>
                        <a:t>High-Level Languages</a:t>
                      </a:r>
                    </a:p>
                  </a:txBody>
                  <a:tcPr>
                    <a:solidFill>
                      <a:schemeClr val="accent4">
                        <a:lumMod val="8000"/>
                        <a:lumOff val="92000"/>
                      </a:schemeClr>
                    </a:solidFill>
                  </a:tcPr>
                </a:tc>
                <a:tc>
                  <a:txBody>
                    <a:bodyPr/>
                    <a:lstStyle/>
                    <a:p>
                      <a:pPr>
                        <a:buNone/>
                        <a:defRPr sz="1600" b="0">
                          <a:solidFill>
                            <a:schemeClr val="tx1"/>
                          </a:solidFill>
                        </a:defRPr>
                      </a:pPr>
                      <a:r>
                        <a:rPr sz="1600" b="0" i="0" u="none"/>
                        <a:t>Compilers</a:t>
                      </a:r>
                    </a:p>
                  </a:txBody>
                  <a:tcPr>
                    <a:solidFill>
                      <a:schemeClr val="accent4">
                        <a:lumMod val="8000"/>
                        <a:lumOff val="92000"/>
                      </a:schemeClr>
                    </a:solidFill>
                  </a:tcPr>
                </a:tc>
                <a:tc>
                  <a:txBody>
                    <a:bodyPr/>
                    <a:lstStyle/>
                    <a:p>
                      <a:pPr>
                        <a:buNone/>
                        <a:defRPr sz="1600" b="0">
                          <a:solidFill>
                            <a:schemeClr val="tx1"/>
                          </a:solidFill>
                        </a:defRPr>
                      </a:pPr>
                      <a:r>
                        <a:rPr sz="1600" b="0" i="0" u="none"/>
                        <a:t>FORTRAN, COBOL, C</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1970s-80s</a:t>
                      </a:r>
                    </a:p>
                  </a:txBody>
                  <a:tcPr>
                    <a:solidFill>
                      <a:schemeClr val="accent4">
                        <a:lumMod val="20000"/>
                        <a:lumOff val="80000"/>
                      </a:schemeClr>
                    </a:solidFill>
                  </a:tcPr>
                </a:tc>
                <a:tc>
                  <a:txBody>
                    <a:bodyPr/>
                    <a:lstStyle/>
                    <a:p>
                      <a:pPr>
                        <a:buNone/>
                        <a:defRPr sz="1600" b="0">
                          <a:solidFill>
                            <a:schemeClr val="tx1"/>
                          </a:solidFill>
                        </a:defRPr>
                      </a:pPr>
                      <a:r>
                        <a:rPr sz="1600" b="0" i="0" u="none"/>
                        <a:t>Objects &amp; Structures</a:t>
                      </a:r>
                    </a:p>
                  </a:txBody>
                  <a:tcPr>
                    <a:solidFill>
                      <a:schemeClr val="accent4">
                        <a:lumMod val="20000"/>
                        <a:lumOff val="80000"/>
                      </a:schemeClr>
                    </a:solidFill>
                  </a:tcPr>
                </a:tc>
                <a:tc>
                  <a:txBody>
                    <a:bodyPr/>
                    <a:lstStyle/>
                    <a:p>
                      <a:pPr>
                        <a:buNone/>
                        <a:defRPr sz="1600" b="0">
                          <a:solidFill>
                            <a:schemeClr val="tx1"/>
                          </a:solidFill>
                        </a:defRPr>
                      </a:pPr>
                      <a:r>
                        <a:rPr sz="1600" b="0" i="0" u="none"/>
                        <a:t>OOP Compilers</a:t>
                      </a:r>
                    </a:p>
                  </a:txBody>
                  <a:tcPr>
                    <a:solidFill>
                      <a:schemeClr val="accent4">
                        <a:lumMod val="20000"/>
                        <a:lumOff val="80000"/>
                      </a:schemeClr>
                    </a:solidFill>
                  </a:tcPr>
                </a:tc>
                <a:tc>
                  <a:txBody>
                    <a:bodyPr/>
                    <a:lstStyle/>
                    <a:p>
                      <a:pPr>
                        <a:buNone/>
                        <a:defRPr sz="1600" b="0">
                          <a:solidFill>
                            <a:schemeClr val="tx1"/>
                          </a:solidFill>
                        </a:defRPr>
                      </a:pPr>
                      <a:r>
                        <a:rPr sz="1600" b="0" i="0" u="none"/>
                        <a:t>Classes, inheritance</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1" i="0" u="none"/>
                        <a:t>1990s</a:t>
                      </a:r>
                    </a:p>
                  </a:txBody>
                  <a:tcPr>
                    <a:solidFill>
                      <a:schemeClr val="accent4">
                        <a:lumMod val="8000"/>
                        <a:lumOff val="92000"/>
                      </a:schemeClr>
                    </a:solidFill>
                  </a:tcPr>
                </a:tc>
                <a:tc>
                  <a:txBody>
                    <a:bodyPr/>
                    <a:lstStyle/>
                    <a:p>
                      <a:pPr>
                        <a:buNone/>
                        <a:defRPr sz="1600" b="0">
                          <a:solidFill>
                            <a:schemeClr val="tx1"/>
                          </a:solidFill>
                        </a:defRPr>
                      </a:pPr>
                      <a:r>
                        <a:rPr sz="1600" b="0" i="0" u="none"/>
                        <a:t>Integrated Tools</a:t>
                      </a:r>
                    </a:p>
                  </a:txBody>
                  <a:tcPr>
                    <a:solidFill>
                      <a:schemeClr val="accent4">
                        <a:lumMod val="8000"/>
                        <a:lumOff val="92000"/>
                      </a:schemeClr>
                    </a:solidFill>
                  </a:tcPr>
                </a:tc>
                <a:tc>
                  <a:txBody>
                    <a:bodyPr/>
                    <a:lstStyle/>
                    <a:p>
                      <a:pPr>
                        <a:buNone/>
                        <a:defRPr sz="1600" b="0">
                          <a:solidFill>
                            <a:schemeClr val="tx1"/>
                          </a:solidFill>
                        </a:defRPr>
                      </a:pPr>
                      <a:r>
                        <a:rPr sz="1600" b="0" i="0" u="none"/>
                        <a:t>IDEs, Libraries</a:t>
                      </a:r>
                    </a:p>
                  </a:txBody>
                  <a:tcPr>
                    <a:solidFill>
                      <a:schemeClr val="accent4">
                        <a:lumMod val="8000"/>
                        <a:lumOff val="92000"/>
                      </a:schemeClr>
                    </a:solidFill>
                  </a:tcPr>
                </a:tc>
                <a:tc>
                  <a:txBody>
                    <a:bodyPr/>
                    <a:lstStyle/>
                    <a:p>
                      <a:pPr>
                        <a:buNone/>
                        <a:defRPr sz="1600" b="0">
                          <a:solidFill>
                            <a:schemeClr val="tx1"/>
                          </a:solidFill>
                        </a:defRPr>
                      </a:pPr>
                      <a:r>
                        <a:rPr sz="1600" b="0" i="0" u="none"/>
                        <a:t>Visual Studio, JVM</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1" i="0" u="none"/>
                        <a:t>2000s</a:t>
                      </a:r>
                    </a:p>
                  </a:txBody>
                  <a:tcPr>
                    <a:solidFill>
                      <a:schemeClr val="accent4">
                        <a:lumMod val="20000"/>
                        <a:lumOff val="80000"/>
                      </a:schemeClr>
                    </a:solidFill>
                  </a:tcPr>
                </a:tc>
                <a:tc>
                  <a:txBody>
                    <a:bodyPr/>
                    <a:lstStyle/>
                    <a:p>
                      <a:pPr>
                        <a:buNone/>
                        <a:defRPr sz="1600" b="0">
                          <a:solidFill>
                            <a:schemeClr val="tx1"/>
                          </a:solidFill>
                        </a:defRPr>
                      </a:pPr>
                      <a:r>
                        <a:rPr sz="1600" b="0" i="0" u="none"/>
                        <a:t>Web Frameworks</a:t>
                      </a:r>
                    </a:p>
                  </a:txBody>
                  <a:tcPr>
                    <a:solidFill>
                      <a:schemeClr val="accent4">
                        <a:lumMod val="20000"/>
                        <a:lumOff val="80000"/>
                      </a:schemeClr>
                    </a:solidFill>
                  </a:tcPr>
                </a:tc>
                <a:tc>
                  <a:txBody>
                    <a:bodyPr/>
                    <a:lstStyle/>
                    <a:p>
                      <a:pPr>
                        <a:buNone/>
                        <a:defRPr sz="1600" b="0">
                          <a:solidFill>
                            <a:schemeClr val="tx1"/>
                          </a:solidFill>
                        </a:defRPr>
                      </a:pPr>
                      <a:r>
                        <a:rPr sz="1600" b="0" i="0" u="none"/>
                        <a:t>Dynamic Interpreters</a:t>
                      </a:r>
                    </a:p>
                  </a:txBody>
                  <a:tcPr>
                    <a:solidFill>
                      <a:schemeClr val="accent4">
                        <a:lumMod val="20000"/>
                        <a:lumOff val="80000"/>
                      </a:schemeClr>
                    </a:solidFill>
                  </a:tcPr>
                </a:tc>
                <a:tc>
                  <a:txBody>
                    <a:bodyPr/>
                    <a:lstStyle/>
                    <a:p>
                      <a:pPr>
                        <a:buNone/>
                        <a:defRPr sz="1600" b="0">
                          <a:solidFill>
                            <a:schemeClr val="tx1"/>
                          </a:solidFill>
                        </a:defRPr>
                      </a:pPr>
                      <a:r>
                        <a:rPr sz="1600" b="0" i="0" u="none"/>
                        <a:t>Rails, Python, JavaScript</a:t>
                      </a:r>
                    </a:p>
                  </a:txBody>
                  <a:tcPr>
                    <a:solidFill>
                      <a:schemeClr val="accent4">
                        <a:lumMod val="20000"/>
                        <a:lumOff val="80000"/>
                      </a:schemeClr>
                    </a:solidFill>
                  </a:tcPr>
                </a:tc>
                <a:extLst>
                  <a:ext uri="{0D108BD9-81ED-4DB2-BD59-A6C34878D82A}">
                    <a16:rowId xmlns:a16="http://schemas.microsoft.com/office/drawing/2014/main" val="10005"/>
                  </a:ext>
                </a:extLst>
              </a:tr>
              <a:tr h="457200">
                <a:tc>
                  <a:txBody>
                    <a:bodyPr/>
                    <a:lstStyle/>
                    <a:p>
                      <a:pPr>
                        <a:buNone/>
                        <a:defRPr sz="1600" b="0">
                          <a:solidFill>
                            <a:schemeClr val="tx1"/>
                          </a:solidFill>
                        </a:defRPr>
                      </a:pPr>
                      <a:r>
                        <a:rPr sz="1600" b="1" i="0" u="none"/>
                        <a:t>2010s</a:t>
                      </a:r>
                    </a:p>
                  </a:txBody>
                  <a:tcPr>
                    <a:solidFill>
                      <a:schemeClr val="accent4">
                        <a:lumMod val="8000"/>
                        <a:lumOff val="92000"/>
                      </a:schemeClr>
                    </a:solidFill>
                  </a:tcPr>
                </a:tc>
                <a:tc>
                  <a:txBody>
                    <a:bodyPr/>
                    <a:lstStyle/>
                    <a:p>
                      <a:pPr>
                        <a:buNone/>
                        <a:defRPr sz="1600" b="0">
                          <a:solidFill>
                            <a:schemeClr val="tx1"/>
                          </a:solidFill>
                        </a:defRPr>
                      </a:pPr>
                      <a:r>
                        <a:rPr sz="1600" b="0" i="0" u="none"/>
                        <a:t>Cloud &amp; APIs</a:t>
                      </a:r>
                    </a:p>
                  </a:txBody>
                  <a:tcPr>
                    <a:solidFill>
                      <a:schemeClr val="accent4">
                        <a:lumMod val="8000"/>
                        <a:lumOff val="92000"/>
                      </a:schemeClr>
                    </a:solidFill>
                  </a:tcPr>
                </a:tc>
                <a:tc>
                  <a:txBody>
                    <a:bodyPr/>
                    <a:lstStyle/>
                    <a:p>
                      <a:pPr>
                        <a:buNone/>
                        <a:defRPr sz="1600" b="0">
                          <a:solidFill>
                            <a:schemeClr val="tx1"/>
                          </a:solidFill>
                        </a:defRPr>
                      </a:pPr>
                      <a:r>
                        <a:rPr sz="1600" b="0" i="0" u="none"/>
                        <a:t>Orchestration</a:t>
                      </a:r>
                    </a:p>
                  </a:txBody>
                  <a:tcPr>
                    <a:solidFill>
                      <a:schemeClr val="accent4">
                        <a:lumMod val="8000"/>
                        <a:lumOff val="92000"/>
                      </a:schemeClr>
                    </a:solidFill>
                  </a:tcPr>
                </a:tc>
                <a:tc>
                  <a:txBody>
                    <a:bodyPr/>
                    <a:lstStyle/>
                    <a:p>
                      <a:pPr>
                        <a:buNone/>
                        <a:defRPr sz="1600" b="0">
                          <a:solidFill>
                            <a:schemeClr val="tx1"/>
                          </a:solidFill>
                        </a:defRPr>
                      </a:pPr>
                      <a:r>
                        <a:rPr sz="1600" b="0" i="0" u="none"/>
                        <a:t>Microservices, containers</a:t>
                      </a:r>
                    </a:p>
                  </a:txBody>
                  <a:tcPr>
                    <a:solidFill>
                      <a:schemeClr val="accent4">
                        <a:lumMod val="8000"/>
                        <a:lumOff val="92000"/>
                      </a:schemeClr>
                    </a:solidFill>
                  </a:tcPr>
                </a:tc>
                <a:extLst>
                  <a:ext uri="{0D108BD9-81ED-4DB2-BD59-A6C34878D82A}">
                    <a16:rowId xmlns:a16="http://schemas.microsoft.com/office/drawing/2014/main" val="10006"/>
                  </a:ext>
                </a:extLst>
              </a:tr>
              <a:tr h="457200">
                <a:tc>
                  <a:txBody>
                    <a:bodyPr/>
                    <a:lstStyle/>
                    <a:p>
                      <a:pPr>
                        <a:buNone/>
                        <a:defRPr sz="1600" b="0">
                          <a:solidFill>
                            <a:schemeClr val="tx1"/>
                          </a:solidFill>
                        </a:defRPr>
                      </a:pPr>
                      <a:r>
                        <a:rPr sz="1600" b="1" i="0" u="none"/>
                        <a:t>Now</a:t>
                      </a:r>
                    </a:p>
                  </a:txBody>
                  <a:tcPr>
                    <a:solidFill>
                      <a:schemeClr val="accent4">
                        <a:lumMod val="20000"/>
                        <a:lumOff val="80000"/>
                      </a:schemeClr>
                    </a:solidFill>
                  </a:tcPr>
                </a:tc>
                <a:tc>
                  <a:txBody>
                    <a:bodyPr/>
                    <a:lstStyle/>
                    <a:p>
                      <a:pPr>
                        <a:buNone/>
                        <a:defRPr sz="1600" b="0">
                          <a:solidFill>
                            <a:schemeClr val="tx1"/>
                          </a:solidFill>
                        </a:defRPr>
                      </a:pPr>
                      <a:r>
                        <a:rPr sz="1600" b="0" i="0" u="none"/>
                        <a:t>Natural Language</a:t>
                      </a:r>
                    </a:p>
                  </a:txBody>
                  <a:tcPr>
                    <a:solidFill>
                      <a:schemeClr val="accent4">
                        <a:lumMod val="20000"/>
                        <a:lumOff val="80000"/>
                      </a:schemeClr>
                    </a:solidFill>
                  </a:tcPr>
                </a:tc>
                <a:tc>
                  <a:txBody>
                    <a:bodyPr/>
                    <a:lstStyle/>
                    <a:p>
                      <a:pPr>
                        <a:buNone/>
                        <a:defRPr sz="1600" b="0">
                          <a:solidFill>
                            <a:schemeClr val="tx1"/>
                          </a:solidFill>
                        </a:defRPr>
                      </a:pPr>
                      <a:r>
                        <a:rPr sz="1600" b="0" i="0" u="none"/>
                        <a:t>LLMs</a:t>
                      </a:r>
                    </a:p>
                  </a:txBody>
                  <a:tcPr>
                    <a:solidFill>
                      <a:schemeClr val="accent4">
                        <a:lumMod val="20000"/>
                        <a:lumOff val="80000"/>
                      </a:schemeClr>
                    </a:solidFill>
                  </a:tcPr>
                </a:tc>
                <a:tc>
                  <a:txBody>
                    <a:bodyPr/>
                    <a:lstStyle/>
                    <a:p>
                      <a:pPr>
                        <a:buNone/>
                        <a:defRPr sz="1600" b="0">
                          <a:solidFill>
                            <a:schemeClr val="tx1"/>
                          </a:solidFill>
                        </a:defRPr>
                      </a:pPr>
                      <a:r>
                        <a:rPr sz="1600" b="0" i="0" u="none"/>
                        <a:t>AI-assisted coding</a:t>
                      </a:r>
                    </a:p>
                  </a:txBody>
                  <a:tcPr>
                    <a:solidFill>
                      <a:schemeClr val="accent4">
                        <a:lumMod val="20000"/>
                        <a:lumOff val="80000"/>
                      </a:schemeClr>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The Modern Mainstream Coding Experience</a:t>
            </a:r>
          </a:p>
        </p:txBody>
      </p:sp>
      <p:sp>
        <p:nvSpPr>
          <p:cNvPr id="3" name="Content Placeholder 2"/>
          <p:cNvSpPr>
            <a:spLocks noGrp="1"/>
          </p:cNvSpPr>
          <p:nvPr>
            <p:ph idx="1"/>
          </p:nvPr>
        </p:nvSpPr>
        <p:spPr/>
        <p:txBody>
          <a:bodyPr wrap="square">
            <a:normAutofit/>
          </a:bodyPr>
          <a:lstStyle/>
          <a:p>
            <a:pPr>
              <a:buNone/>
            </a:pPr>
            <a:r>
              <a:rPr sz="2200" b="1" i="0" u="none"/>
              <a:t>Intent Interpretation</a:t>
            </a:r>
            <a:r>
              <a:rPr sz="2200" b="0" i="0" u="none"/>
              <a:t>:</a:t>
            </a:r>
            <a:endParaRPr sz="2200" b="0" i="0">
              <a:latin typeface="Arial"/>
            </a:endParaRPr>
          </a:p>
          <a:p>
            <a:pPr>
              <a:buNone/>
            </a:pPr>
            <a:endParaRPr sz="2200" b="0" i="0">
              <a:latin typeface="Arial"/>
            </a:endParaRPr>
          </a:p>
          <a:p>
            <a:r>
              <a:rPr sz="2200" b="0" i="0" u="none"/>
              <a:t>Developers express intent in higher-level languages, frameworks, and APIs</a:t>
            </a:r>
            <a:endParaRPr sz="2200" b="0" i="0">
              <a:latin typeface="Arial"/>
            </a:endParaRPr>
          </a:p>
          <a:p>
            <a:r>
              <a:rPr sz="2200" b="0" i="0" u="none"/>
              <a:t>Compilers, interpreters, and VMs translate intent into executable code</a:t>
            </a:r>
            <a:endParaRPr sz="2200" b="0" i="0">
              <a:latin typeface="Arial"/>
            </a:endParaRPr>
          </a:p>
          <a:p>
            <a:r>
              <a:rPr sz="2200" b="0" i="0" u="none"/>
              <a:t>Libraries and cloud services provide ready-made building blocks</a:t>
            </a:r>
            <a:endParaRPr sz="2200" b="0" i="0">
              <a:latin typeface="Arial"/>
            </a:endParaRPr>
          </a:p>
          <a:p>
            <a:r>
              <a:rPr sz="2200" b="0" i="0" u="none"/>
              <a:t>Less about micromanaging hardware, more about shaping logic and workflows</a:t>
            </a:r>
            <a:endParaRPr sz="2200" b="0" i="0">
              <a:latin typeface="Arial"/>
            </a:endParaRPr>
          </a:p>
          <a:p>
            <a:pPr>
              <a:buNone/>
            </a:pPr>
            <a:endParaRPr sz="2200" b="0" i="0">
              <a:latin typeface="Arial"/>
            </a:endParaRPr>
          </a:p>
          <a:p>
            <a:pPr>
              <a:buNone/>
            </a:pPr>
            <a:r>
              <a:rPr sz="2200" b="1" i="0" u="none"/>
              <a:t>The Core</a:t>
            </a:r>
            <a:r>
              <a:rPr sz="2200" b="0" i="0" u="none"/>
              <a:t>: Bridging human goals with machine execution through layers of abstraction</a:t>
            </a:r>
            <a:endParaRPr sz="2200" b="0" i="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lang="en-US" sz="4050" b="0" i="0" u="none" dirty="0"/>
              <a:t>The Natural Language Era</a:t>
            </a:r>
            <a:endParaRPr sz="4050" b="0" i="0" u="none" dirty="0"/>
          </a:p>
        </p:txBody>
      </p:sp>
      <p:sp>
        <p:nvSpPr>
          <p:cNvPr id="3" name="Content Placeholder 2"/>
          <p:cNvSpPr>
            <a:spLocks noGrp="1"/>
          </p:cNvSpPr>
          <p:nvPr>
            <p:ph idx="1"/>
          </p:nvPr>
        </p:nvSpPr>
        <p:spPr/>
        <p:txBody>
          <a:bodyPr wrap="square">
            <a:normAutofit fontScale="92500" lnSpcReduction="20000"/>
          </a:bodyPr>
          <a:lstStyle/>
          <a:p>
            <a:pPr>
              <a:buNone/>
            </a:pPr>
            <a:r>
              <a:rPr sz="3600" b="1" i="0" u="none" dirty="0"/>
              <a:t>Enabling Technologies</a:t>
            </a:r>
            <a:r>
              <a:rPr sz="3600" b="0" i="0" u="none" dirty="0"/>
              <a:t>:</a:t>
            </a:r>
            <a:endParaRPr sz="3600" b="0" i="0" dirty="0">
              <a:latin typeface="Arial"/>
            </a:endParaRPr>
          </a:p>
          <a:p>
            <a:pPr lvl="1"/>
            <a:r>
              <a:rPr sz="2000" b="0" i="0" u="none" dirty="0"/>
              <a:t>Large language models trained on vast code repositories</a:t>
            </a:r>
            <a:endParaRPr sz="2000" b="0" i="0" dirty="0">
              <a:latin typeface="Arial"/>
            </a:endParaRPr>
          </a:p>
          <a:p>
            <a:pPr lvl="1"/>
            <a:r>
              <a:rPr sz="2000" b="0" i="0" u="none" dirty="0"/>
              <a:t>Contextual intent recognition</a:t>
            </a:r>
            <a:endParaRPr sz="2000" b="0" i="0" dirty="0">
              <a:latin typeface="Arial"/>
            </a:endParaRPr>
          </a:p>
          <a:p>
            <a:pPr lvl="1"/>
            <a:r>
              <a:rPr sz="2000" b="0" i="0" u="none" dirty="0"/>
              <a:t>IDE integration</a:t>
            </a:r>
            <a:endParaRPr sz="2000" b="0" i="0" dirty="0">
              <a:latin typeface="Arial"/>
            </a:endParaRPr>
          </a:p>
          <a:p>
            <a:pPr>
              <a:buNone/>
            </a:pPr>
            <a:endParaRPr sz="3600" b="0" i="0" dirty="0">
              <a:latin typeface="Arial"/>
            </a:endParaRPr>
          </a:p>
          <a:p>
            <a:pPr>
              <a:buNone/>
            </a:pPr>
            <a:r>
              <a:rPr sz="3600" b="1" i="0" u="none" dirty="0"/>
              <a:t>The Paradigm Shift</a:t>
            </a:r>
            <a:r>
              <a:rPr sz="3600" b="0" i="0" u="none" dirty="0"/>
              <a:t>: Programming becomes </a:t>
            </a:r>
            <a:r>
              <a:rPr sz="3600" b="1" i="0" u="none" dirty="0"/>
              <a:t>dialogue</a:t>
            </a:r>
            <a:endParaRPr sz="3600" b="0" i="0" dirty="0">
              <a:latin typeface="Arial"/>
            </a:endParaRPr>
          </a:p>
          <a:p>
            <a:pPr lvl="1"/>
            <a:r>
              <a:rPr sz="2000" b="0" i="0" u="none" dirty="0"/>
              <a:t>Express goals in plain language</a:t>
            </a:r>
            <a:endParaRPr sz="2000" b="0" i="0" dirty="0">
              <a:latin typeface="Arial"/>
            </a:endParaRPr>
          </a:p>
          <a:p>
            <a:pPr lvl="1"/>
            <a:r>
              <a:rPr sz="2000" b="0" i="0" u="none" dirty="0"/>
              <a:t>AI generates code, tests, and documentation</a:t>
            </a:r>
            <a:endParaRPr sz="2000" b="0" i="0" dirty="0">
              <a:latin typeface="Arial"/>
            </a:endParaRPr>
          </a:p>
          <a:p>
            <a:pPr lvl="1"/>
            <a:r>
              <a:rPr sz="2000" b="0" i="0" u="none" dirty="0"/>
              <a:t>Example: "Create a function that validates email addresses" → Complete implementation</a:t>
            </a:r>
            <a:endParaRPr sz="2000" b="0" i="0" dirty="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50" b="0" i="0" u="none" dirty="0"/>
              <a:t>The Game Changer</a:t>
            </a:r>
          </a:p>
        </p:txBody>
      </p:sp>
      <p:sp>
        <p:nvSpPr>
          <p:cNvPr id="3" name="Content Placeholder 2"/>
          <p:cNvSpPr>
            <a:spLocks noGrp="1"/>
          </p:cNvSpPr>
          <p:nvPr>
            <p:ph idx="1"/>
          </p:nvPr>
        </p:nvSpPr>
        <p:spPr/>
        <p:txBody>
          <a:bodyPr wrap="square">
            <a:normAutofit/>
          </a:bodyPr>
          <a:lstStyle/>
          <a:p>
            <a:pPr>
              <a:buNone/>
            </a:pPr>
            <a:r>
              <a:rPr sz="1550" b="1" i="0" u="none" dirty="0"/>
              <a:t>Responsibility Shift</a:t>
            </a:r>
            <a:r>
              <a:rPr sz="1550" b="0" i="0" u="none" dirty="0"/>
              <a:t>:</a:t>
            </a:r>
            <a:endParaRPr sz="1550" b="0" i="0" dirty="0">
              <a:latin typeface="Arial"/>
            </a:endParaRPr>
          </a:p>
          <a:p>
            <a:pPr lvl="1"/>
            <a:r>
              <a:rPr sz="1150" b="0" i="0" u="none" dirty="0"/>
              <a:t>Previously: Coder translates intent into executable code</a:t>
            </a:r>
            <a:endParaRPr sz="1150" b="0" i="0" dirty="0">
              <a:latin typeface="Arial"/>
            </a:endParaRPr>
          </a:p>
          <a:p>
            <a:pPr lvl="1"/>
            <a:r>
              <a:rPr sz="1150" b="0" i="0" u="none" dirty="0"/>
              <a:t>Now: Intent expressed in natural language, AI interprets and generates</a:t>
            </a:r>
            <a:endParaRPr sz="1150" b="0" i="0" dirty="0">
              <a:latin typeface="Arial"/>
            </a:endParaRPr>
          </a:p>
          <a:p>
            <a:pPr>
              <a:buNone/>
            </a:pPr>
            <a:endParaRPr sz="1550" b="0" i="0" dirty="0">
              <a:latin typeface="Arial"/>
            </a:endParaRPr>
          </a:p>
          <a:p>
            <a:pPr>
              <a:buNone/>
            </a:pPr>
            <a:r>
              <a:rPr sz="1550" b="1" i="0" u="none" dirty="0"/>
              <a:t>New Role of Programmer</a:t>
            </a:r>
            <a:r>
              <a:rPr sz="1550" b="0" i="0" u="none" dirty="0"/>
              <a:t>:</a:t>
            </a:r>
            <a:endParaRPr sz="1550" b="0" i="0" dirty="0">
              <a:latin typeface="Arial"/>
            </a:endParaRPr>
          </a:p>
          <a:p>
            <a:pPr lvl="1"/>
            <a:r>
              <a:rPr sz="1150" b="1" i="0" u="none" dirty="0"/>
              <a:t>Curator of context</a:t>
            </a:r>
            <a:endParaRPr sz="1150" b="0" i="0" dirty="0">
              <a:latin typeface="Arial"/>
            </a:endParaRPr>
          </a:p>
          <a:p>
            <a:pPr lvl="1"/>
            <a:r>
              <a:rPr sz="1150" b="1" i="0" u="none" dirty="0"/>
              <a:t>Validator of output</a:t>
            </a:r>
            <a:endParaRPr sz="1150" b="0" i="0" dirty="0">
              <a:latin typeface="Arial"/>
            </a:endParaRPr>
          </a:p>
          <a:p>
            <a:pPr lvl="1"/>
            <a:r>
              <a:rPr sz="1150" b="1" i="0" u="none" dirty="0"/>
              <a:t>Steward of alignment</a:t>
            </a:r>
            <a:r>
              <a:rPr sz="1150" b="0" i="0" u="none" dirty="0"/>
              <a:t> between human goals and machine behavior</a:t>
            </a:r>
            <a:endParaRPr sz="1150" b="0" i="0" dirty="0">
              <a:latin typeface="Arial"/>
            </a:endParaRPr>
          </a:p>
          <a:p>
            <a:pPr>
              <a:buNone/>
            </a:pPr>
            <a:endParaRPr sz="1550" b="0" i="0" dirty="0">
              <a:latin typeface="Arial"/>
            </a:endParaRPr>
          </a:p>
          <a:p>
            <a:pPr>
              <a:buNone/>
            </a:pPr>
            <a:r>
              <a:rPr sz="1550" b="1" i="0" u="none" dirty="0"/>
              <a:t>Boundary Movement</a:t>
            </a:r>
            <a:r>
              <a:rPr sz="1550" b="0" i="0" u="none" dirty="0"/>
              <a:t>: Between domain expertise and implementation</a:t>
            </a:r>
            <a:endParaRPr sz="1550" b="0" i="0" dirty="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dirty="0"/>
              <a:t>AI Understands Intent</a:t>
            </a:r>
            <a:r>
              <a:rPr lang="en-US" sz="3300" b="0" i="0" u="none" dirty="0"/>
              <a:t> - </a:t>
            </a:r>
            <a:r>
              <a:rPr sz="3300" b="0" i="0" u="none" dirty="0"/>
              <a:t>Not Just Commands</a:t>
            </a:r>
          </a:p>
        </p:txBody>
      </p:sp>
      <p:sp>
        <p:nvSpPr>
          <p:cNvPr id="3" name="Content Placeholder 2"/>
          <p:cNvSpPr>
            <a:spLocks noGrp="1"/>
          </p:cNvSpPr>
          <p:nvPr>
            <p:ph idx="1"/>
          </p:nvPr>
        </p:nvSpPr>
        <p:spPr/>
        <p:txBody>
          <a:bodyPr wrap="square">
            <a:normAutofit fontScale="92500" lnSpcReduction="10000"/>
          </a:bodyPr>
          <a:lstStyle/>
          <a:p>
            <a:pPr>
              <a:buNone/>
            </a:pPr>
            <a:r>
              <a:rPr sz="3600" b="1" i="0" u="none" dirty="0"/>
              <a:t>Beyond Parsing</a:t>
            </a:r>
            <a:r>
              <a:rPr sz="3600" b="0" i="0" u="none" dirty="0"/>
              <a:t>: AI understands what you mean</a:t>
            </a:r>
            <a:endParaRPr sz="3600" b="0" i="0" dirty="0">
              <a:latin typeface="Arial"/>
            </a:endParaRPr>
          </a:p>
          <a:p>
            <a:pPr lvl="1"/>
            <a:r>
              <a:rPr sz="2800" b="0" i="0" u="none" dirty="0"/>
              <a:t>"Make this faster" → Performance optimizations</a:t>
            </a:r>
            <a:endParaRPr sz="2800" b="0" i="0" dirty="0">
              <a:latin typeface="Arial"/>
            </a:endParaRPr>
          </a:p>
          <a:p>
            <a:pPr lvl="1"/>
            <a:r>
              <a:rPr sz="2800" b="0" i="0" u="none" dirty="0"/>
              <a:t>"Add error handling" → Proper exception management</a:t>
            </a:r>
            <a:endParaRPr sz="2800" b="0" i="0" dirty="0">
              <a:latin typeface="Arial"/>
            </a:endParaRPr>
          </a:p>
          <a:p>
            <a:pPr lvl="1"/>
            <a:r>
              <a:rPr sz="2800" b="0" i="0" u="none" dirty="0"/>
              <a:t>"Log the output" → Appropriate logging implementation</a:t>
            </a:r>
            <a:endParaRPr sz="2800" b="0" i="0" dirty="0">
              <a:latin typeface="Arial"/>
            </a:endParaRPr>
          </a:p>
          <a:p>
            <a:pPr>
              <a:buNone/>
            </a:pPr>
            <a:endParaRPr sz="3600" b="0" i="0" dirty="0">
              <a:latin typeface="Arial"/>
            </a:endParaRPr>
          </a:p>
          <a:p>
            <a:pPr>
              <a:buNone/>
            </a:pPr>
            <a:r>
              <a:rPr sz="3600" b="1" i="0" u="none" dirty="0"/>
              <a:t>New Interaction Modes</a:t>
            </a:r>
            <a:r>
              <a:rPr sz="3600" b="0" i="0" u="none" dirty="0"/>
              <a:t>:</a:t>
            </a:r>
            <a:endParaRPr sz="3600" b="0" i="0" dirty="0">
              <a:latin typeface="Arial"/>
            </a:endParaRPr>
          </a:p>
          <a:p>
            <a:pPr lvl="1"/>
            <a:r>
              <a:rPr sz="2800" b="0" i="0" u="none" dirty="0"/>
              <a:t>Sketches and examples as expressions of intent</a:t>
            </a:r>
            <a:endParaRPr sz="2800" b="0" i="0" dirty="0">
              <a:latin typeface="Arial"/>
            </a:endParaRPr>
          </a:p>
          <a:p>
            <a:pPr lvl="1"/>
            <a:r>
              <a:rPr sz="2800" b="0" i="0" u="none" dirty="0"/>
              <a:t>Test cases and bug reports → Code generation</a:t>
            </a:r>
            <a:endParaRPr sz="2800" b="0" i="0" dirty="0">
              <a:latin typeface="Arial"/>
            </a:endParaRPr>
          </a:p>
          <a:p>
            <a:pPr lvl="1"/>
            <a:r>
              <a:rPr sz="2800" b="0" i="0" u="none" dirty="0"/>
              <a:t>Conversational iteration like human collaboration</a:t>
            </a:r>
            <a:endParaRPr sz="2800" b="0" i="0" dirty="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It's Just Another Tool</a:t>
            </a:r>
          </a:p>
        </p:txBody>
      </p:sp>
      <p:sp>
        <p:nvSpPr>
          <p:cNvPr id="3" name="Content Placeholder 2"/>
          <p:cNvSpPr>
            <a:spLocks noGrp="1"/>
          </p:cNvSpPr>
          <p:nvPr>
            <p:ph idx="1"/>
          </p:nvPr>
        </p:nvSpPr>
        <p:spPr/>
        <p:txBody>
          <a:bodyPr wrap="square">
            <a:normAutofit fontScale="92500" lnSpcReduction="20000"/>
          </a:bodyPr>
          <a:lstStyle/>
          <a:p>
            <a:pPr>
              <a:buNone/>
            </a:pPr>
            <a:r>
              <a:rPr sz="3600" b="1" i="0" u="none" dirty="0"/>
              <a:t>Historical Perspective</a:t>
            </a:r>
            <a:r>
              <a:rPr sz="3600" b="0" i="0" u="none" dirty="0"/>
              <a:t>:</a:t>
            </a:r>
            <a:endParaRPr sz="3600" b="0" i="0" dirty="0">
              <a:latin typeface="Arial"/>
            </a:endParaRPr>
          </a:p>
          <a:p>
            <a:pPr lvl="1"/>
            <a:r>
              <a:rPr sz="2800" b="1" i="0" u="none" dirty="0"/>
              <a:t>IDEs</a:t>
            </a:r>
            <a:r>
              <a:rPr sz="2800" b="0" i="0" u="none" dirty="0"/>
              <a:t>: Auto-complete and debugging</a:t>
            </a:r>
            <a:endParaRPr sz="2800" b="0" i="0" dirty="0">
              <a:latin typeface="Arial"/>
            </a:endParaRPr>
          </a:p>
          <a:p>
            <a:pPr lvl="1"/>
            <a:r>
              <a:rPr sz="2800" b="1" i="0" u="none" dirty="0"/>
              <a:t>Libraries</a:t>
            </a:r>
            <a:r>
              <a:rPr sz="2800" b="0" i="0" u="none" dirty="0"/>
              <a:t>: Reusable components</a:t>
            </a:r>
            <a:endParaRPr sz="2800" b="0" i="0" dirty="0">
              <a:latin typeface="Arial"/>
            </a:endParaRPr>
          </a:p>
          <a:p>
            <a:pPr lvl="1"/>
            <a:r>
              <a:rPr sz="2800" b="1" i="0" u="none" dirty="0"/>
              <a:t>AI</a:t>
            </a:r>
            <a:r>
              <a:rPr sz="2800" b="0" i="0" u="none" dirty="0"/>
              <a:t>: Intelligent scaffolding, pattern recognition, code generation</a:t>
            </a:r>
            <a:endParaRPr sz="2800" b="0" i="0" dirty="0">
              <a:latin typeface="Arial"/>
            </a:endParaRPr>
          </a:p>
          <a:p>
            <a:pPr>
              <a:buNone/>
            </a:pPr>
            <a:endParaRPr sz="3600" b="0" i="0" dirty="0">
              <a:latin typeface="Arial"/>
            </a:endParaRPr>
          </a:p>
          <a:p>
            <a:pPr>
              <a:buNone/>
            </a:pPr>
            <a:r>
              <a:rPr sz="3600" b="1" i="0" u="none" dirty="0"/>
              <a:t>Reality Check</a:t>
            </a:r>
            <a:r>
              <a:rPr sz="3600" b="0" i="0" u="none" dirty="0"/>
              <a:t>:</a:t>
            </a:r>
            <a:endParaRPr sz="3600" b="0" i="0" dirty="0">
              <a:latin typeface="Arial"/>
            </a:endParaRPr>
          </a:p>
          <a:p>
            <a:pPr lvl="1"/>
            <a:r>
              <a:rPr sz="2800" b="0" i="0" u="none" dirty="0"/>
              <a:t>AI is not replacing developers</a:t>
            </a:r>
            <a:endParaRPr sz="2800" b="0" i="0" dirty="0">
              <a:latin typeface="Arial"/>
            </a:endParaRPr>
          </a:p>
          <a:p>
            <a:pPr lvl="1"/>
            <a:r>
              <a:rPr sz="2800" b="0" i="0" u="none" dirty="0"/>
              <a:t>It's helping them move faster and think bigger</a:t>
            </a:r>
            <a:endParaRPr sz="2800" b="0" i="0" dirty="0">
              <a:latin typeface="Arial"/>
            </a:endParaRPr>
          </a:p>
          <a:p>
            <a:pPr lvl="1"/>
            <a:r>
              <a:rPr sz="2800" b="0" i="0" u="none" dirty="0"/>
              <a:t>Following the same pattern as previous innovations</a:t>
            </a:r>
            <a:endParaRPr sz="2800" b="0" i="0" dirty="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Verification Still Matters</a:t>
            </a:r>
          </a:p>
        </p:txBody>
      </p:sp>
      <p:sp>
        <p:nvSpPr>
          <p:cNvPr id="3" name="Content Placeholder 2"/>
          <p:cNvSpPr>
            <a:spLocks noGrp="1"/>
          </p:cNvSpPr>
          <p:nvPr>
            <p:ph idx="1"/>
          </p:nvPr>
        </p:nvSpPr>
        <p:spPr/>
        <p:txBody>
          <a:bodyPr wrap="square">
            <a:normAutofit/>
          </a:bodyPr>
          <a:lstStyle/>
          <a:p>
            <a:pPr>
              <a:buNone/>
            </a:pPr>
            <a:r>
              <a:rPr sz="2450" b="1" i="0" u="none"/>
              <a:t>Unchanged Responsibilities</a:t>
            </a:r>
            <a:r>
              <a:rPr sz="2450" b="0" i="0" u="none"/>
              <a:t>:</a:t>
            </a:r>
            <a:endParaRPr sz="2450" b="0" i="0">
              <a:latin typeface="Arial"/>
            </a:endParaRPr>
          </a:p>
          <a:p>
            <a:pPr>
              <a:buNone/>
            </a:pPr>
            <a:endParaRPr sz="2450" b="0" i="0">
              <a:latin typeface="Arial"/>
            </a:endParaRPr>
          </a:p>
          <a:p>
            <a:r>
              <a:rPr sz="2450" b="1" i="0" u="none"/>
              <a:t>Testing, review, and validation</a:t>
            </a:r>
            <a:r>
              <a:rPr sz="2450" b="0" i="0" u="none"/>
              <a:t> still required</a:t>
            </a:r>
            <a:endParaRPr sz="2450" b="0" i="0">
              <a:latin typeface="Arial"/>
            </a:endParaRPr>
          </a:p>
          <a:p>
            <a:r>
              <a:rPr sz="2450" b="1" i="0" u="none"/>
              <a:t>Architecture, correctness, security, ethics</a:t>
            </a:r>
            <a:r>
              <a:rPr sz="2450" b="0" i="0" u="none"/>
              <a:t> remain developer duties</a:t>
            </a:r>
            <a:endParaRPr sz="2450" b="0" i="0">
              <a:latin typeface="Arial"/>
            </a:endParaRPr>
          </a:p>
          <a:p>
            <a:r>
              <a:rPr sz="2450" b="0" i="0" u="none"/>
              <a:t>Critical thinking is still essential</a:t>
            </a:r>
            <a:endParaRPr sz="2450" b="0" i="0">
              <a:latin typeface="Arial"/>
            </a:endParaRPr>
          </a:p>
          <a:p>
            <a:pPr>
              <a:buNone/>
            </a:pPr>
            <a:endParaRPr sz="2450" b="0" i="0">
              <a:latin typeface="Arial"/>
            </a:endParaRPr>
          </a:p>
          <a:p>
            <a:pPr>
              <a:buNone/>
            </a:pPr>
            <a:r>
              <a:rPr sz="2450" b="1" i="0" u="none"/>
              <a:t>What Changed</a:t>
            </a:r>
            <a:r>
              <a:rPr sz="2450" b="0" i="0" u="none"/>
              <a:t>: How we express our goals</a:t>
            </a:r>
            <a:endParaRPr sz="2450" b="0" i="0">
              <a:latin typeface="Arial"/>
            </a:endParaRPr>
          </a:p>
          <a:p>
            <a:pPr>
              <a:buNone/>
            </a:pPr>
            <a:r>
              <a:rPr sz="2450" b="1" i="0" u="none"/>
              <a:t>What Didn't Change</a:t>
            </a:r>
            <a:r>
              <a:rPr sz="2450" b="0" i="0" u="none"/>
              <a:t>: Whether we need to think critically</a:t>
            </a:r>
            <a:endParaRPr sz="245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The Future Is Still Intent-Driven Development</a:t>
            </a:r>
          </a:p>
        </p:txBody>
      </p:sp>
      <p:sp>
        <p:nvSpPr>
          <p:cNvPr id="3" name="Content Placeholder 2"/>
          <p:cNvSpPr>
            <a:spLocks noGrp="1"/>
          </p:cNvSpPr>
          <p:nvPr>
            <p:ph idx="1"/>
          </p:nvPr>
        </p:nvSpPr>
        <p:spPr/>
        <p:txBody>
          <a:bodyPr wrap="square">
            <a:normAutofit/>
          </a:bodyPr>
          <a:lstStyle/>
          <a:p>
            <a:pPr>
              <a:buNone/>
            </a:pPr>
            <a:r>
              <a:rPr sz="2550" b="1" i="0" u="none"/>
              <a:t>Continuity</a:t>
            </a:r>
            <a:r>
              <a:rPr sz="2550" b="0" i="0" u="none"/>
              <a:t>:</a:t>
            </a:r>
            <a:endParaRPr sz="2550" b="0" i="0">
              <a:latin typeface="Arial"/>
            </a:endParaRPr>
          </a:p>
          <a:p>
            <a:pPr>
              <a:buNone/>
            </a:pPr>
            <a:endParaRPr sz="2550" b="0" i="0">
              <a:latin typeface="Arial"/>
            </a:endParaRPr>
          </a:p>
          <a:p>
            <a:r>
              <a:rPr sz="2550" b="0" i="0" u="none"/>
              <a:t>Core goal remains: getting computers to do what we need</a:t>
            </a:r>
            <a:endParaRPr sz="2550" b="0" i="0">
              <a:latin typeface="Arial"/>
            </a:endParaRPr>
          </a:p>
          <a:p>
            <a:r>
              <a:rPr sz="2550" b="0" i="0" u="none"/>
              <a:t>Instead of writing/debugging code → creating prompts and refining context</a:t>
            </a:r>
            <a:endParaRPr sz="2550" b="0" i="0">
              <a:latin typeface="Arial"/>
            </a:endParaRPr>
          </a:p>
          <a:p>
            <a:r>
              <a:rPr sz="2550" b="0" i="0" u="none"/>
              <a:t>Same learning curve pattern as all previous improvements</a:t>
            </a:r>
            <a:endParaRPr sz="2550" b="0" i="0">
              <a:latin typeface="Arial"/>
            </a:endParaRPr>
          </a:p>
          <a:p>
            <a:pPr>
              <a:buNone/>
            </a:pPr>
            <a:endParaRPr sz="2550" b="0" i="0">
              <a:latin typeface="Arial"/>
            </a:endParaRPr>
          </a:p>
          <a:p>
            <a:pPr>
              <a:buNone/>
            </a:pPr>
            <a:r>
              <a:rPr sz="2550" b="1" i="0" u="none"/>
              <a:t>Essential Truth</a:t>
            </a:r>
            <a:r>
              <a:rPr sz="2550" b="0" i="0" u="none"/>
              <a:t>: AI assistance is just another improvement in the long line of programming evolution</a:t>
            </a:r>
            <a:endParaRPr sz="2550" b="0" i="0">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The AI Revolution in Software Development</a:t>
            </a:r>
          </a:p>
        </p:txBody>
      </p:sp>
      <p:sp>
        <p:nvSpPr>
          <p:cNvPr id="3" name="Subtitle 2"/>
          <p:cNvSpPr>
            <a:spLocks noGrp="1"/>
          </p:cNvSpPr>
          <p:nvPr>
            <p:ph type="subTitle" idx="1"/>
          </p:nvPr>
        </p:nvSpPr>
        <p:spPr/>
        <p:txBody>
          <a:bodyPr wrap="square">
            <a:normAutofit/>
          </a:bodyPr>
          <a:lstStyle/>
          <a:p>
            <a:pPr>
              <a:buNone/>
            </a:pPr>
            <a:r>
              <a:rPr sz="2750" b="0" i="0" u="none"/>
              <a:t>With Great Token Budget Comes Great Responsibility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Why AI Assisted Software Development</a:t>
            </a:r>
          </a:p>
        </p:txBody>
      </p:sp>
      <p:sp>
        <p:nvSpPr>
          <p:cNvPr id="3" name="Content Placeholder 2"/>
          <p:cNvSpPr>
            <a:spLocks noGrp="1"/>
          </p:cNvSpPr>
          <p:nvPr>
            <p:ph idx="1"/>
          </p:nvPr>
        </p:nvSpPr>
        <p:spPr/>
        <p:txBody>
          <a:bodyPr wrap="square">
            <a:normAutofit/>
          </a:bodyPr>
          <a:lstStyle/>
          <a:p>
            <a:pPr>
              <a:buNone/>
            </a:pPr>
            <a:r>
              <a:rPr sz="2800" b="0" i="0" u="none"/>
              <a:t>If used effectively, it will give you superpowers</a:t>
            </a:r>
            <a:endParaRPr sz="2800" b="0" i="0">
              <a:latin typeface="Arial"/>
            </a:endParaRPr>
          </a:p>
          <a:p>
            <a:pPr>
              <a:buNone/>
            </a:pPr>
            <a:endParaRPr sz="2800" b="0" i="0">
              <a:latin typeface="Arial"/>
            </a:endParaRPr>
          </a:p>
          <a:p>
            <a:r>
              <a:rPr sz="2800" b="0" i="0" u="none"/>
              <a:t>The courage to</a:t>
            </a:r>
            <a:endParaRPr sz="2800" b="0" i="0">
              <a:latin typeface="Arial"/>
            </a:endParaRPr>
          </a:p>
          <a:p>
            <a:pPr lvl="1"/>
            <a:r>
              <a:rPr sz="2800" b="0" i="0" u="none"/>
              <a:t>Take on codebases that few would touch</a:t>
            </a:r>
            <a:endParaRPr sz="2800" b="0" i="0">
              <a:latin typeface="Arial"/>
            </a:endParaRPr>
          </a:p>
          <a:p>
            <a:pPr lvl="1"/>
            <a:r>
              <a:rPr sz="2800" b="0" i="0" u="none"/>
              <a:t>Use technologies you should know but don't</a:t>
            </a:r>
            <a:endParaRPr sz="2800" b="0" i="0">
              <a:latin typeface="Arial"/>
            </a:endParaRPr>
          </a:p>
          <a:p>
            <a:pPr lvl="1"/>
            <a:r>
              <a:rPr sz="2800" b="0" i="0" u="none"/>
              <a:t>Write more high-quality code than you have ever written before</a:t>
            </a:r>
            <a:endParaRPr sz="2800" b="0" i="0">
              <a:latin typeface="Arial"/>
            </a:endParaRPr>
          </a:p>
          <a:p>
            <a:pPr lvl="1"/>
            <a:r>
              <a:rPr sz="2800" b="0" i="0" u="none"/>
              <a:t>Take on the nice to haves</a:t>
            </a:r>
            <a:endParaRPr sz="2800" b="0" i="0">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AI-First &amp; Prompt-First</a:t>
            </a:r>
          </a:p>
        </p:txBody>
      </p:sp>
      <p:sp>
        <p:nvSpPr>
          <p:cNvPr id="3" name="Content Placeholder 2"/>
          <p:cNvSpPr>
            <a:spLocks noGrp="1"/>
          </p:cNvSpPr>
          <p:nvPr>
            <p:ph idx="1"/>
          </p:nvPr>
        </p:nvSpPr>
        <p:spPr/>
        <p:txBody>
          <a:bodyPr wrap="square">
            <a:normAutofit/>
          </a:bodyPr>
          <a:lstStyle/>
          <a:p>
            <a:pPr>
              <a:buNone/>
            </a:pPr>
            <a:r>
              <a:rPr sz="2800" b="0" i="0" u="none"/>
              <a:t>AI-First Development</a:t>
            </a:r>
            <a:endParaRPr sz="2800" b="0" i="0">
              <a:latin typeface="Arial"/>
            </a:endParaRPr>
          </a:p>
          <a:p>
            <a:r>
              <a:rPr sz="2800" b="0" i="0" u="none"/>
              <a:t>A software engineering philosophy where AI is embedded across the entire SDLC–requirements, design, implementation, testing, documentation, compliance, and maintenance.</a:t>
            </a:r>
            <a:endParaRPr sz="2800" b="0" i="0">
              <a:latin typeface="Arial"/>
            </a:endParaRPr>
          </a:p>
          <a:p>
            <a:pPr>
              <a:buNone/>
            </a:pPr>
            <a:r>
              <a:rPr sz="2800" b="0" i="0" u="none"/>
              <a:t>Prompt-First Development</a:t>
            </a:r>
            <a:endParaRPr sz="2800" b="0" i="0">
              <a:latin typeface="Arial"/>
            </a:endParaRPr>
          </a:p>
          <a:p>
            <a:r>
              <a:rPr sz="2800" b="0" i="0" u="none"/>
              <a:t>A workflow pattern where prompts, instruction files, and chat modes are treated as first-class, version-controlled artifacts.</a:t>
            </a:r>
            <a:endParaRPr sz="2800" b="0" i="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Each Optimizes For</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Focus Area</a:t>
                      </a:r>
                    </a:p>
                  </a:txBody>
                  <a:tcPr>
                    <a:solidFill>
                      <a:schemeClr val="accent4"/>
                    </a:solidFill>
                  </a:tcPr>
                </a:tc>
                <a:tc>
                  <a:txBody>
                    <a:bodyPr/>
                    <a:lstStyle/>
                    <a:p>
                      <a:pPr>
                        <a:buNone/>
                        <a:defRPr sz="1600" b="1">
                          <a:solidFill>
                            <a:schemeClr val="bg1"/>
                          </a:solidFill>
                        </a:defRPr>
                      </a:pPr>
                      <a:r>
                        <a:rPr sz="1600" b="0" i="0" u="none"/>
                        <a:t>AI-First</a:t>
                      </a:r>
                    </a:p>
                  </a:txBody>
                  <a:tcPr>
                    <a:solidFill>
                      <a:schemeClr val="accent4"/>
                    </a:solidFill>
                  </a:tcPr>
                </a:tc>
                <a:tc>
                  <a:txBody>
                    <a:bodyPr/>
                    <a:lstStyle/>
                    <a:p>
                      <a:pPr>
                        <a:buNone/>
                        <a:defRPr sz="1600" b="1">
                          <a:solidFill>
                            <a:schemeClr val="bg1"/>
                          </a:solidFill>
                        </a:defRPr>
                      </a:pPr>
                      <a:r>
                        <a:rPr sz="1600" b="0" i="0" u="none"/>
                        <a:t>Prompt-First</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Scope</a:t>
                      </a:r>
                    </a:p>
                  </a:txBody>
                  <a:tcPr>
                    <a:solidFill>
                      <a:schemeClr val="accent4">
                        <a:lumMod val="20000"/>
                        <a:lumOff val="80000"/>
                      </a:schemeClr>
                    </a:solidFill>
                  </a:tcPr>
                </a:tc>
                <a:tc>
                  <a:txBody>
                    <a:bodyPr/>
                    <a:lstStyle/>
                    <a:p>
                      <a:pPr>
                        <a:buNone/>
                        <a:defRPr sz="1600" b="0">
                          <a:solidFill>
                            <a:schemeClr val="tx1"/>
                          </a:solidFill>
                        </a:defRPr>
                      </a:pPr>
                      <a:r>
                        <a:rPr sz="1600" b="0" i="0" u="none"/>
                        <a:t>Entire SDLC</a:t>
                      </a:r>
                    </a:p>
                  </a:txBody>
                  <a:tcPr>
                    <a:solidFill>
                      <a:schemeClr val="accent4">
                        <a:lumMod val="20000"/>
                        <a:lumOff val="80000"/>
                      </a:schemeClr>
                    </a:solidFill>
                  </a:tcPr>
                </a:tc>
                <a:tc>
                  <a:txBody>
                    <a:bodyPr/>
                    <a:lstStyle/>
                    <a:p>
                      <a:pPr>
                        <a:buNone/>
                        <a:defRPr sz="1600" b="0">
                          <a:solidFill>
                            <a:schemeClr val="tx1"/>
                          </a:solidFill>
                        </a:defRPr>
                      </a:pPr>
                      <a:r>
                        <a:rPr sz="1600" b="0" i="0" u="none"/>
                        <a:t>Interaction layer</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Goal</a:t>
                      </a:r>
                    </a:p>
                  </a:txBody>
                  <a:tcPr>
                    <a:solidFill>
                      <a:schemeClr val="accent4">
                        <a:lumMod val="8000"/>
                        <a:lumOff val="92000"/>
                      </a:schemeClr>
                    </a:solidFill>
                  </a:tcPr>
                </a:tc>
                <a:tc>
                  <a:txBody>
                    <a:bodyPr/>
                    <a:lstStyle/>
                    <a:p>
                      <a:pPr>
                        <a:buNone/>
                        <a:defRPr sz="1600" b="0">
                          <a:solidFill>
                            <a:schemeClr val="tx1"/>
                          </a:solidFill>
                        </a:defRPr>
                      </a:pPr>
                      <a:r>
                        <a:rPr sz="1600" b="0" i="0" u="none"/>
                        <a:t>Lifecycle integration</a:t>
                      </a:r>
                    </a:p>
                  </a:txBody>
                  <a:tcPr>
                    <a:solidFill>
                      <a:schemeClr val="accent4">
                        <a:lumMod val="8000"/>
                        <a:lumOff val="92000"/>
                      </a:schemeClr>
                    </a:solidFill>
                  </a:tcPr>
                </a:tc>
                <a:tc>
                  <a:txBody>
                    <a:bodyPr/>
                    <a:lstStyle/>
                    <a:p>
                      <a:pPr>
                        <a:buNone/>
                        <a:defRPr sz="1600" b="0">
                          <a:solidFill>
                            <a:schemeClr val="tx1"/>
                          </a:solidFill>
                        </a:defRPr>
                      </a:pPr>
                      <a:r>
                        <a:rPr sz="1600" b="0" i="0" u="none"/>
                        <a:t>Deterministic AI behavior</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Optimization</a:t>
                      </a:r>
                    </a:p>
                  </a:txBody>
                  <a:tcPr>
                    <a:solidFill>
                      <a:schemeClr val="accent4">
                        <a:lumMod val="20000"/>
                        <a:lumOff val="80000"/>
                      </a:schemeClr>
                    </a:solidFill>
                  </a:tcPr>
                </a:tc>
                <a:tc>
                  <a:txBody>
                    <a:bodyPr/>
                    <a:lstStyle/>
                    <a:p>
                      <a:pPr>
                        <a:buNone/>
                        <a:defRPr sz="1600" b="0">
                          <a:solidFill>
                            <a:schemeClr val="tx1"/>
                          </a:solidFill>
                        </a:defRPr>
                      </a:pPr>
                      <a:r>
                        <a:rPr sz="1600" b="0" i="0" u="none"/>
                        <a:t>Velocity, governance</a:t>
                      </a:r>
                    </a:p>
                  </a:txBody>
                  <a:tcPr>
                    <a:solidFill>
                      <a:schemeClr val="accent4">
                        <a:lumMod val="20000"/>
                        <a:lumOff val="80000"/>
                      </a:schemeClr>
                    </a:solidFill>
                  </a:tcPr>
                </a:tc>
                <a:tc>
                  <a:txBody>
                    <a:bodyPr/>
                    <a:lstStyle/>
                    <a:p>
                      <a:pPr>
                        <a:buNone/>
                        <a:defRPr sz="1600" b="0">
                          <a:solidFill>
                            <a:schemeClr val="tx1"/>
                          </a:solidFill>
                        </a:defRPr>
                      </a:pPr>
                      <a:r>
                        <a:rPr sz="1600" b="0" i="0" u="none"/>
                        <a:t>Prompt quality, reproducibility</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Risk Controls</a:t>
                      </a:r>
                    </a:p>
                  </a:txBody>
                  <a:tcPr>
                    <a:solidFill>
                      <a:schemeClr val="accent4">
                        <a:lumMod val="8000"/>
                        <a:lumOff val="92000"/>
                      </a:schemeClr>
                    </a:solidFill>
                  </a:tcPr>
                </a:tc>
                <a:tc>
                  <a:txBody>
                    <a:bodyPr/>
                    <a:lstStyle/>
                    <a:p>
                      <a:pPr>
                        <a:buNone/>
                        <a:defRPr sz="1600" b="0">
                          <a:solidFill>
                            <a:schemeClr val="tx1"/>
                          </a:solidFill>
                        </a:defRPr>
                      </a:pPr>
                      <a:r>
                        <a:rPr sz="1600" b="0" i="0" u="none"/>
                        <a:t>Human-in-loop, provenance</a:t>
                      </a:r>
                    </a:p>
                  </a:txBody>
                  <a:tcPr>
                    <a:solidFill>
                      <a:schemeClr val="accent4">
                        <a:lumMod val="8000"/>
                        <a:lumOff val="92000"/>
                      </a:schemeClr>
                    </a:solidFill>
                  </a:tcPr>
                </a:tc>
                <a:tc>
                  <a:txBody>
                    <a:bodyPr/>
                    <a:lstStyle/>
                    <a:p>
                      <a:pPr>
                        <a:buNone/>
                        <a:defRPr sz="1600" b="0">
                          <a:solidFill>
                            <a:schemeClr val="tx1"/>
                          </a:solidFill>
                        </a:defRPr>
                      </a:pPr>
                      <a:r>
                        <a:rPr sz="1600" b="0" i="0" u="none"/>
                        <a:t>Versioned prompts, context control</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How They Treat Artifacts</a:t>
            </a:r>
          </a:p>
        </p:txBody>
      </p:sp>
      <p:sp>
        <p:nvSpPr>
          <p:cNvPr id="3" name="Content Placeholder 2"/>
          <p:cNvSpPr>
            <a:spLocks noGrp="1"/>
          </p:cNvSpPr>
          <p:nvPr>
            <p:ph idx="1"/>
          </p:nvPr>
        </p:nvSpPr>
        <p:spPr/>
        <p:txBody>
          <a:bodyPr wrap="square">
            <a:normAutofit/>
          </a:bodyPr>
          <a:lstStyle/>
          <a:p>
            <a:pPr>
              <a:buNone/>
            </a:pPr>
            <a:r>
              <a:rPr sz="2050" b="0" i="0" u="none"/>
              <a:t>AI-First</a:t>
            </a:r>
            <a:endParaRPr sz="2050" b="0" i="0">
              <a:latin typeface="Arial"/>
            </a:endParaRPr>
          </a:p>
          <a:p>
            <a:pPr lvl="1"/>
            <a:r>
              <a:rPr sz="2050" b="0" i="0" u="none"/>
              <a:t>Requirements written with AI collaboration in mind</a:t>
            </a:r>
            <a:endParaRPr sz="2050" b="0" i="0">
              <a:latin typeface="Arial"/>
            </a:endParaRPr>
          </a:p>
          <a:p>
            <a:pPr lvl="1"/>
            <a:r>
              <a:rPr sz="2050" b="0" i="0" u="none"/>
              <a:t>AI-generated scaffolds, tests, docs</a:t>
            </a:r>
            <a:endParaRPr sz="2050" b="0" i="0">
              <a:latin typeface="Arial"/>
            </a:endParaRPr>
          </a:p>
          <a:p>
            <a:pPr lvl="1"/>
            <a:r>
              <a:rPr sz="2050" b="0" i="0" u="none"/>
              <a:t>Provenance enforced across all AI outputs</a:t>
            </a:r>
            <a:endParaRPr sz="2050" b="0" i="0">
              <a:latin typeface="Arial"/>
            </a:endParaRPr>
          </a:p>
          <a:p>
            <a:pPr lvl="1"/>
            <a:r>
              <a:rPr sz="2050" b="0" i="0" u="none"/>
              <a:t>Architecture assumes AI participation</a:t>
            </a:r>
            <a:endParaRPr sz="2050" b="0" i="0">
              <a:latin typeface="Arial"/>
            </a:endParaRPr>
          </a:p>
          <a:p>
            <a:pPr>
              <a:buNone/>
            </a:pPr>
            <a:endParaRPr sz="2050" b="0" i="0">
              <a:latin typeface="Arial"/>
            </a:endParaRPr>
          </a:p>
          <a:p>
            <a:pPr>
              <a:buNone/>
            </a:pPr>
            <a:r>
              <a:rPr sz="2050" b="0" i="0" u="none"/>
              <a:t>Prompt-First</a:t>
            </a:r>
            <a:endParaRPr sz="2050" b="0" i="0">
              <a:latin typeface="Arial"/>
            </a:endParaRPr>
          </a:p>
          <a:p>
            <a:pPr lvl="1"/>
            <a:r>
              <a:rPr sz="2050" b="0" i="0" u="none"/>
              <a:t>Prompts and instruction files are version-controlled</a:t>
            </a:r>
            <a:endParaRPr sz="2050" b="0" i="0">
              <a:latin typeface="Arial"/>
            </a:endParaRPr>
          </a:p>
          <a:p>
            <a:pPr lvl="1"/>
            <a:r>
              <a:rPr sz="2050" b="0" i="0" u="none"/>
              <a:t>Prompts define behavioral contracts</a:t>
            </a:r>
            <a:endParaRPr sz="2050" b="0" i="0">
              <a:latin typeface="Arial"/>
            </a:endParaRPr>
          </a:p>
          <a:p>
            <a:pPr lvl="1"/>
            <a:r>
              <a:rPr sz="2050" b="0" i="0" u="none"/>
              <a:t>Reusable prompt modules</a:t>
            </a:r>
            <a:endParaRPr sz="2050" b="0" i="0">
              <a:latin typeface="Arial"/>
            </a:endParaRPr>
          </a:p>
          <a:p>
            <a:pPr lvl="1"/>
            <a:r>
              <a:rPr sz="2050" b="0" i="0" u="none"/>
              <a:t>Chat modes define safe, predictable interactions</a:t>
            </a:r>
            <a:endParaRPr sz="2050" b="0" i="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Relationship Between the Two</a:t>
            </a:r>
          </a:p>
        </p:txBody>
      </p:sp>
      <p:sp>
        <p:nvSpPr>
          <p:cNvPr id="3" name="Content Placeholder 2"/>
          <p:cNvSpPr>
            <a:spLocks noGrp="1"/>
          </p:cNvSpPr>
          <p:nvPr>
            <p:ph idx="1"/>
          </p:nvPr>
        </p:nvSpPr>
        <p:spPr/>
        <p:txBody>
          <a:bodyPr wrap="square">
            <a:normAutofit/>
          </a:bodyPr>
          <a:lstStyle/>
          <a:p>
            <a:pPr>
              <a:buNone/>
            </a:pPr>
            <a:r>
              <a:rPr sz="2800" b="0" i="0" u="none"/>
              <a:t>Prompt-First is a subset of AI-First.</a:t>
            </a:r>
            <a:endParaRPr sz="2800" b="0" i="0">
              <a:latin typeface="Arial"/>
            </a:endParaRPr>
          </a:p>
          <a:p>
            <a:pPr>
              <a:buNone/>
            </a:pPr>
            <a:r>
              <a:rPr sz="2800" b="0" i="0" u="none"/>
              <a:t>Prompt-First = mechanics</a:t>
            </a:r>
            <a:endParaRPr sz="2800" b="0" i="0">
              <a:latin typeface="Arial"/>
            </a:endParaRPr>
          </a:p>
          <a:p>
            <a:pPr>
              <a:buNone/>
            </a:pPr>
            <a:r>
              <a:rPr sz="2800" b="0" i="0" u="none"/>
              <a:t>AI-First = philosophy + architecture + lifecycle integration</a:t>
            </a:r>
            <a:endParaRPr sz="2800" b="0" i="0">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First Software Development</a:t>
            </a:r>
          </a:p>
        </p:txBody>
      </p:sp>
      <p:sp>
        <p:nvSpPr>
          <p:cNvPr id="3" name="Content Placeholder 2"/>
          <p:cNvSpPr>
            <a:spLocks noGrp="1"/>
          </p:cNvSpPr>
          <p:nvPr>
            <p:ph sz="half" idx="1"/>
          </p:nvPr>
        </p:nvSpPr>
        <p:spPr/>
        <p:txBody>
          <a:bodyPr wrap="square">
            <a:normAutofit/>
          </a:bodyPr>
          <a:lstStyle/>
          <a:p>
            <a:pPr>
              <a:buNone/>
            </a:pPr>
            <a:r>
              <a:rPr sz="1400" b="0" i="0" u="none"/>
              <a:t>Building software where AI is a core capability, not an add-on.</a:t>
            </a:r>
            <a:endParaRPr sz="2700" b="0" i="0">
              <a:latin typeface="Arial"/>
            </a:endParaRPr>
          </a:p>
          <a:p>
            <a:pPr>
              <a:buNone/>
            </a:pPr>
            <a:endParaRPr sz="2700" b="0" i="0">
              <a:latin typeface="Arial"/>
            </a:endParaRPr>
          </a:p>
          <a:p>
            <a:pPr>
              <a:buNone/>
            </a:pPr>
            <a:r>
              <a:rPr sz="1400" b="1" i="0" u="none"/>
              <a:t>Why AI-First</a:t>
            </a:r>
            <a:endParaRPr sz="2700" b="0" i="0">
              <a:latin typeface="Arial"/>
            </a:endParaRPr>
          </a:p>
          <a:p>
            <a:pPr lvl="1"/>
            <a:r>
              <a:rPr sz="1400" b="0" i="0" u="none"/>
              <a:t>Software requirements are increasingly expressed in natural language.</a:t>
            </a:r>
            <a:endParaRPr sz="2700" b="0" i="0">
              <a:latin typeface="Arial"/>
            </a:endParaRPr>
          </a:p>
          <a:p>
            <a:pPr lvl="1"/>
            <a:r>
              <a:rPr sz="1400" b="0" i="0" u="none"/>
              <a:t>AI copilots accelerate architecture, coding, testing, and documentation.</a:t>
            </a:r>
            <a:endParaRPr sz="2700" b="0" i="0">
              <a:latin typeface="Arial"/>
            </a:endParaRPr>
          </a:p>
          <a:p>
            <a:pPr lvl="1"/>
            <a:r>
              <a:rPr sz="1400" b="0" i="0" u="none"/>
              <a:t>Teams shift from writing code to designing intent and validating outputs.</a:t>
            </a:r>
            <a:endParaRPr sz="2700" b="0" i="0">
              <a:latin typeface="Arial"/>
            </a:endParaRPr>
          </a:p>
          <a:p>
            <a:pPr>
              <a:buNone/>
            </a:pPr>
            <a:r>
              <a:rPr sz="1400" b="1" i="0" u="none"/>
              <a:t>Outcomes</a:t>
            </a:r>
            <a:endParaRPr sz="2700" b="0" i="0">
              <a:latin typeface="Arial"/>
            </a:endParaRPr>
          </a:p>
          <a:p>
            <a:pPr lvl="1"/>
            <a:r>
              <a:rPr sz="1400" b="0" i="0" u="none"/>
              <a:t>Faster iteration cycles</a:t>
            </a:r>
            <a:endParaRPr sz="2700" b="0" i="0">
              <a:latin typeface="Arial"/>
            </a:endParaRPr>
          </a:p>
          <a:p>
            <a:pPr lvl="1"/>
            <a:r>
              <a:rPr sz="1400" b="0" i="0" u="none"/>
              <a:t>Better documentation and test coverage</a:t>
            </a:r>
            <a:endParaRPr sz="27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Core principles</a:t>
            </a:r>
            <a:endParaRPr sz="2400" b="0" i="0">
              <a:latin typeface="Arial"/>
            </a:endParaRPr>
          </a:p>
          <a:p>
            <a:pPr lvl="1"/>
            <a:r>
              <a:rPr sz="1400" b="1" i="0" u="none"/>
              <a:t>Prompt-First Design</a:t>
            </a:r>
            <a:r>
              <a:rPr sz="1400" b="0" i="0" u="none"/>
              <a:t> — workflows expressed as structured prompts</a:t>
            </a:r>
            <a:endParaRPr sz="2400" b="0" i="0">
              <a:latin typeface="Arial"/>
            </a:endParaRPr>
          </a:p>
          <a:p>
            <a:pPr lvl="1"/>
            <a:r>
              <a:rPr sz="1400" b="1" i="0" u="none"/>
              <a:t>AI-Native Architecture</a:t>
            </a:r>
            <a:r>
              <a:rPr sz="1400" b="0" i="0" u="none"/>
              <a:t> — modular boundaries and deterministic interfaces</a:t>
            </a:r>
            <a:endParaRPr sz="2400" b="0" i="0">
              <a:latin typeface="Arial"/>
            </a:endParaRPr>
          </a:p>
          <a:p>
            <a:pPr lvl="1"/>
            <a:r>
              <a:rPr sz="1400" b="1" i="0" u="none"/>
              <a:t>Human-in-the-Loop</a:t>
            </a:r>
            <a:r>
              <a:rPr sz="1400" b="0" i="0" u="none"/>
              <a:t> — review, validation, and traceability everywhere</a:t>
            </a:r>
            <a:endParaRPr sz="2400" b="0" i="0">
              <a:latin typeface="Arial"/>
            </a:endParaRPr>
          </a:p>
          <a:p>
            <a:pPr lvl="1"/>
            <a:r>
              <a:rPr sz="1400" b="1" i="0" u="none"/>
              <a:t>Continuous Verification</a:t>
            </a:r>
            <a:r>
              <a:rPr sz="1400" b="0" i="0" u="none"/>
              <a:t> — tests, analysis, and guardrails on every output</a:t>
            </a:r>
            <a:endParaRPr sz="2400" b="0" i="0">
              <a:latin typeface="Arial"/>
            </a:endParaRPr>
          </a:p>
          <a:p>
            <a:pPr lvl="1"/>
            <a:r>
              <a:rPr sz="1400" b="1" i="0" u="none"/>
              <a:t>Lifecycle Governance</a:t>
            </a:r>
            <a:r>
              <a:rPr sz="1400" b="0" i="0" u="none"/>
              <a:t> — versioning, provenance, and risk-based controls</a:t>
            </a:r>
            <a:endParaRPr sz="2400" b="0" i="0">
              <a:latin typeface="Arial"/>
            </a:endParaRPr>
          </a:p>
          <a:p>
            <a:pPr>
              <a:buNone/>
            </a:pPr>
            <a:endParaRPr sz="2400" b="0" i="0">
              <a:latin typeface="Arial"/>
            </a:endParaRPr>
          </a:p>
          <a:p>
            <a:r>
              <a:rPr sz="1400" b="0" i="0" u="none"/>
              <a:t>Reduced cognitive load on developers</a:t>
            </a:r>
            <a:endParaRPr sz="2400" b="0" i="0">
              <a:latin typeface="Arial"/>
            </a:endParaRPr>
          </a:p>
          <a:p>
            <a:r>
              <a:rPr sz="1400" b="0" i="0" u="none"/>
              <a:t>More resilient, adaptable systems</a:t>
            </a:r>
            <a:endParaRPr sz="2400" b="0" i="0">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Prompt-First Software Development</a:t>
            </a:r>
          </a:p>
        </p:txBody>
      </p:sp>
      <p:sp>
        <p:nvSpPr>
          <p:cNvPr id="3" name="Content Placeholder 2"/>
          <p:cNvSpPr>
            <a:spLocks noGrp="1"/>
          </p:cNvSpPr>
          <p:nvPr>
            <p:ph sz="half" idx="1"/>
          </p:nvPr>
        </p:nvSpPr>
        <p:spPr/>
        <p:txBody>
          <a:bodyPr wrap="square">
            <a:normAutofit/>
          </a:bodyPr>
          <a:lstStyle/>
          <a:p>
            <a:pPr>
              <a:buNone/>
            </a:pPr>
            <a:r>
              <a:rPr sz="1400" b="0" i="0" u="none"/>
              <a:t>Design the intent first — let AI generate the implementation.</a:t>
            </a:r>
            <a:endParaRPr sz="2700" b="0" i="0">
              <a:latin typeface="Arial"/>
            </a:endParaRPr>
          </a:p>
          <a:p>
            <a:pPr>
              <a:buNone/>
            </a:pPr>
            <a:endParaRPr sz="2700" b="0" i="0">
              <a:latin typeface="Arial"/>
            </a:endParaRPr>
          </a:p>
          <a:p>
            <a:pPr>
              <a:buNone/>
            </a:pPr>
            <a:r>
              <a:rPr sz="1400" b="1" i="0" u="none"/>
              <a:t>Why Prompt-First</a:t>
            </a:r>
            <a:endParaRPr sz="2700" b="0" i="0">
              <a:latin typeface="Arial"/>
            </a:endParaRPr>
          </a:p>
          <a:p>
            <a:pPr lvl="1"/>
            <a:r>
              <a:rPr sz="1400" b="0" i="0" u="none"/>
              <a:t>Behaviors and constraints are expressed in structured natural language.</a:t>
            </a:r>
            <a:endParaRPr sz="2700" b="0" i="0">
              <a:latin typeface="Arial"/>
            </a:endParaRPr>
          </a:p>
          <a:p>
            <a:pPr lvl="1"/>
            <a:r>
              <a:rPr sz="1400" b="0" i="0" u="none"/>
              <a:t>Prompts become first-class source-of-truth artifacts.</a:t>
            </a:r>
            <a:endParaRPr sz="2700" b="0" i="0">
              <a:latin typeface="Arial"/>
            </a:endParaRPr>
          </a:p>
          <a:p>
            <a:pPr lvl="1"/>
            <a:r>
              <a:rPr sz="1400" b="0" i="0" u="none"/>
              <a:t>Teams shift from writing functions to defining outcomes, invariants, and interfaces.</a:t>
            </a:r>
            <a:endParaRPr sz="2700" b="0" i="0">
              <a:latin typeface="Arial"/>
            </a:endParaRPr>
          </a:p>
          <a:p>
            <a:pPr>
              <a:buNone/>
            </a:pPr>
            <a:endParaRPr sz="2700" b="0" i="0">
              <a:latin typeface="Arial"/>
            </a:endParaRPr>
          </a:p>
          <a:p>
            <a:pPr>
              <a:buNone/>
            </a:pPr>
            <a:r>
              <a:rPr sz="1400" b="1" i="0" u="none"/>
              <a:t>Benefits</a:t>
            </a:r>
            <a:endParaRPr sz="2700" b="0" i="0">
              <a:latin typeface="Arial"/>
            </a:endParaRPr>
          </a:p>
          <a:p>
            <a:pPr lvl="1"/>
            <a:r>
              <a:rPr sz="1400" b="0" i="0" u="none"/>
              <a:t>Faster iteration from idea to working software</a:t>
            </a:r>
            <a:endParaRPr sz="2700" b="0" i="0">
              <a:latin typeface="Arial"/>
            </a:endParaRPr>
          </a:p>
          <a:p>
            <a:pPr lvl="1"/>
            <a:r>
              <a:rPr sz="1400" b="0" i="0" u="none"/>
              <a:t>Higher consistency across generated components</a:t>
            </a:r>
            <a:endParaRPr sz="27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Core practices</a:t>
            </a:r>
            <a:endParaRPr sz="2400" b="0" i="0">
              <a:latin typeface="Arial"/>
            </a:endParaRPr>
          </a:p>
          <a:p>
            <a:pPr lvl="1"/>
            <a:r>
              <a:rPr sz="1400" b="1" i="0" u="none"/>
              <a:t>Structured Prompts</a:t>
            </a:r>
            <a:r>
              <a:rPr sz="1400" b="0" i="0" u="none"/>
              <a:t> — templates for features, APIs, data models, tests, and refactors</a:t>
            </a:r>
            <a:endParaRPr sz="2400" b="0" i="0">
              <a:latin typeface="Arial"/>
            </a:endParaRPr>
          </a:p>
          <a:p>
            <a:pPr lvl="1"/>
            <a:r>
              <a:rPr sz="1400" b="1" i="0" u="none"/>
              <a:t>Instruction Files</a:t>
            </a:r>
            <a:r>
              <a:rPr sz="1400" b="0" i="0" u="none"/>
              <a:t> — persistent, versioned guidance for code generation</a:t>
            </a:r>
            <a:endParaRPr sz="2400" b="0" i="0">
              <a:latin typeface="Arial"/>
            </a:endParaRPr>
          </a:p>
          <a:p>
            <a:pPr lvl="1"/>
            <a:r>
              <a:rPr sz="1400" b="1" i="0" u="none"/>
              <a:t>Deterministic Boundaries</a:t>
            </a:r>
            <a:r>
              <a:rPr sz="1400" b="0" i="0" u="none"/>
              <a:t> — clear contracts keep outputs predictable</a:t>
            </a:r>
            <a:endParaRPr sz="2400" b="0" i="0">
              <a:latin typeface="Arial"/>
            </a:endParaRPr>
          </a:p>
          <a:p>
            <a:pPr lvl="1"/>
            <a:r>
              <a:rPr sz="1400" b="1" i="0" u="none"/>
              <a:t>Validation Loops</a:t>
            </a:r>
            <a:r>
              <a:rPr sz="1400" b="0" i="0" u="none"/>
              <a:t> — tests plus human review ensure correctness and safety</a:t>
            </a:r>
            <a:endParaRPr sz="2400" b="0" i="0">
              <a:latin typeface="Arial"/>
            </a:endParaRPr>
          </a:p>
          <a:p>
            <a:pPr lvl="1"/>
            <a:r>
              <a:rPr sz="1400" b="1" i="0" u="none"/>
              <a:t>Prompt Versioning</a:t>
            </a:r>
            <a:r>
              <a:rPr sz="1400" b="0" i="0" u="none"/>
              <a:t> — track intent evolution just like code changes</a:t>
            </a:r>
            <a:endParaRPr sz="2400" b="0" i="0">
              <a:latin typeface="Arial"/>
            </a:endParaRPr>
          </a:p>
          <a:p>
            <a:pPr>
              <a:buNone/>
            </a:pPr>
            <a:endParaRPr sz="2400" b="0" i="0">
              <a:latin typeface="Arial"/>
            </a:endParaRPr>
          </a:p>
          <a:p>
            <a:r>
              <a:rPr sz="1400" b="0" i="0" u="none"/>
              <a:t>Reduced cognitive load on developers</a:t>
            </a:r>
            <a:endParaRPr sz="2400" b="0" i="0">
              <a:latin typeface="Arial"/>
            </a:endParaRPr>
          </a:p>
          <a:p>
            <a:r>
              <a:rPr sz="1400" b="0" i="0" u="none"/>
              <a:t>Better alignment between business intent and implementation</a:t>
            </a:r>
            <a:endParaRPr sz="2400" b="0" i="0">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Assisted Software Development</a:t>
            </a:r>
          </a:p>
          <a:p>
            <a:r>
              <a:rPr b="1" i="0" u="none"/>
              <a:t>▶ Intro to Copilot</a:t>
            </a:r>
          </a:p>
          <a:p>
            <a:r>
              <a:rPr b="0" i="0" u="none"/>
              <a:t>AI Assistance in Action</a:t>
            </a:r>
          </a:p>
          <a:p>
            <a:r>
              <a:rPr b="0" i="0" u="none"/>
              <a:t>Adding AI Guardrails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Hands-On with GitHub Copilot in VS Code</a:t>
            </a:r>
          </a:p>
        </p:txBody>
      </p:sp>
      <p:sp>
        <p:nvSpPr>
          <p:cNvPr id="3" name="Subtitle 2"/>
          <p:cNvSpPr>
            <a:spLocks noGrp="1"/>
          </p:cNvSpPr>
          <p:nvPr>
            <p:ph type="subTitle" idx="1"/>
          </p:nvPr>
        </p:nvSpPr>
        <p:spPr/>
        <p:txBody>
          <a:bodyPr wrap="square">
            <a:normAutofit/>
          </a:bodyPr>
          <a:lstStyle/>
          <a:p>
            <a:pPr>
              <a:buNone/>
            </a:pPr>
            <a:r>
              <a:rPr b="0" i="0" u="none"/>
              <a:t>Getting Your Pair Programmer to Stop Guessing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Specificity</a:t>
            </a:r>
          </a:p>
        </p:txBody>
      </p:sp>
      <p:sp>
        <p:nvSpPr>
          <p:cNvPr id="3" name="Content Placeholder 2"/>
          <p:cNvSpPr>
            <a:spLocks noGrp="1"/>
          </p:cNvSpPr>
          <p:nvPr>
            <p:ph idx="1"/>
          </p:nvPr>
        </p:nvSpPr>
        <p:spPr/>
        <p:txBody>
          <a:bodyPr wrap="square">
            <a:normAutofit/>
          </a:bodyPr>
          <a:lstStyle/>
          <a:p>
            <a:pPr>
              <a:buNone/>
            </a:pPr>
            <a:r>
              <a:rPr sz="1900" b="0" i="0" u="none" dirty="0"/>
              <a:t>Add error handling to my code</a:t>
            </a:r>
            <a:endParaRPr sz="1900" b="0" i="0" dirty="0">
              <a:latin typeface="Arial"/>
            </a:endParaRPr>
          </a:p>
          <a:p>
            <a:pPr lvl="1"/>
            <a:r>
              <a:rPr sz="1500" b="0" i="0" u="none" dirty="0"/>
              <a:t>Result: Generic response asking what type of errors, what language, what code?</a:t>
            </a:r>
            <a:endParaRPr sz="1500" b="0" i="0" dirty="0">
              <a:latin typeface="Arial"/>
            </a:endParaRPr>
          </a:p>
          <a:p>
            <a:pPr>
              <a:buNone/>
            </a:pPr>
            <a:r>
              <a:rPr sz="1900" b="0" i="0" u="none" dirty="0"/>
              <a:t>Add error handling to my JavaScript function that calls an external API. I want to handle</a:t>
            </a:r>
            <a:r>
              <a:rPr lang="en-US" sz="1900" b="0" i="0" u="none" dirty="0"/>
              <a:t> </a:t>
            </a:r>
            <a:r>
              <a:rPr sz="1900" b="0" i="0" u="none" dirty="0"/>
              <a:t>network timeouts, 404 errors, and JSON parsing failures. Return user-friendly error messages.</a:t>
            </a:r>
            <a:endParaRPr sz="1900" b="0" i="0" dirty="0">
              <a:latin typeface="Arial"/>
            </a:endParaRPr>
          </a:p>
          <a:p>
            <a:pPr lvl="1"/>
            <a:r>
              <a:rPr sz="1500" b="0" i="0" u="none" dirty="0"/>
              <a:t>Result: Better, but still generic without seeing actual code structure</a:t>
            </a:r>
            <a:endParaRPr sz="1500" b="0" i="0" dirty="0">
              <a:latin typeface="Arial"/>
            </a:endParaRPr>
          </a:p>
          <a:p>
            <a:pPr>
              <a:buNone/>
            </a:pPr>
            <a:r>
              <a:rPr sz="1900" b="0" i="0" u="none" dirty="0"/>
              <a:t>@file:api-client.js Add comprehensive error handling to the </a:t>
            </a:r>
            <a:r>
              <a:rPr sz="1900" b="0" i="0" u="none" dirty="0" err="1"/>
              <a:t>fetchUserData</a:t>
            </a:r>
            <a:r>
              <a:rPr sz="1900" b="0" i="0" u="none" dirty="0"/>
              <a:t> function. Handle network timeouts (&gt;5s), HTTP errors (404, 500, etc.), and JSON parsing failures.   Return user-friendly error messages that match our existing error format in @file:error-types.js</a:t>
            </a:r>
            <a:endParaRPr sz="1900" b="0" i="0" dirty="0">
              <a:latin typeface="Arial"/>
            </a:endParaRPr>
          </a:p>
          <a:p>
            <a:pPr lvl="1"/>
            <a:r>
              <a:rPr sz="1500" b="0" i="0" u="none" dirty="0"/>
              <a:t>Result: Specific implementation that matches existing code patterns\*</a:t>
            </a:r>
            <a:endParaRPr sz="1500" b="0" i="0" dirty="0">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Getting Started with GitHub Copilot in VS Code</a:t>
            </a:r>
          </a:p>
        </p:txBody>
      </p:sp>
      <p:sp>
        <p:nvSpPr>
          <p:cNvPr id="3" name="Subtitle 2"/>
          <p:cNvSpPr>
            <a:spLocks noGrp="1"/>
          </p:cNvSpPr>
          <p:nvPr>
            <p:ph type="subTitle" idx="1"/>
          </p:nvPr>
        </p:nvSpPr>
        <p:spPr/>
        <p:txBody>
          <a:bodyPr wrap="square">
            <a:normAutofit/>
          </a:bodyPr>
          <a:lstStyle/>
          <a:p>
            <a:pPr>
              <a:buNone/>
            </a:pPr>
            <a:r>
              <a:rPr b="0" i="0" u="none"/>
              <a:t>Your AI Copilot Reports for Duty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00" b="0" i="0" u="none"/>
              <a:t>Exercise: Understanding Context Management</a:t>
            </a:r>
          </a:p>
        </p:txBody>
      </p:sp>
      <p:sp>
        <p:nvSpPr>
          <p:cNvPr id="3" name="Content Placeholder 2"/>
          <p:cNvSpPr>
            <a:spLocks noGrp="1"/>
          </p:cNvSpPr>
          <p:nvPr>
            <p:ph sz="half" idx="1"/>
          </p:nvPr>
        </p:nvSpPr>
        <p:spPr/>
        <p:txBody>
          <a:bodyPr wrap="square">
            <a:normAutofit fontScale="85000" lnSpcReduction="20000"/>
          </a:bodyPr>
          <a:lstStyle/>
          <a:p>
            <a:pPr>
              <a:buNone/>
            </a:pPr>
            <a:r>
              <a:rPr sz="1200" b="0" i="0" u="none"/>
              <a:t>Objectives</a:t>
            </a:r>
            <a:endParaRPr sz="1200" b="0" i="0">
              <a:latin typeface="Consolas"/>
            </a:endParaRPr>
          </a:p>
          <a:p>
            <a:pPr>
              <a:buNone/>
            </a:pPr>
            <a:endParaRPr sz="1200" b="0" i="0">
              <a:latin typeface="Consolas"/>
            </a:endParaRPr>
          </a:p>
          <a:p>
            <a:r>
              <a:rPr sz="1200" b="0" i="0" u="none"/>
              <a:t>Learn to add context using @ symbols</a:t>
            </a:r>
            <a:endParaRPr sz="1200" b="0" i="0">
              <a:latin typeface="Consolas"/>
            </a:endParaRPr>
          </a:p>
          <a:p>
            <a:r>
              <a:rPr sz="1200" b="0" i="0" u="none"/>
              <a:t>Understand context window limitations</a:t>
            </a:r>
            <a:endParaRPr sz="1200" b="0" i="0">
              <a:latin typeface="Consolas"/>
            </a:endParaRPr>
          </a:p>
          <a:p>
            <a:r>
              <a:rPr sz="1200" b="0" i="0" u="none"/>
              <a:t>Practice writing effective prompts</a:t>
            </a:r>
            <a:endParaRPr sz="1200" b="0" i="0">
              <a:latin typeface="Consolas"/>
            </a:endParaRPr>
          </a:p>
          <a:p>
            <a:pPr>
              <a:buNone/>
            </a:pPr>
            <a:endParaRPr sz="1200" b="0" i="0">
              <a:latin typeface="Consolas"/>
            </a:endParaRPr>
          </a:p>
          <a:p>
            <a:pPr>
              <a:buNone/>
            </a:pPr>
            <a:r>
              <a:rPr sz="1200" b="0" i="0" u="none"/>
              <a:t>Activities</a:t>
            </a:r>
            <a:endParaRPr sz="1200" b="0" i="0">
              <a:latin typeface="Consolas"/>
            </a:endParaRPr>
          </a:p>
          <a:p>
            <a:pPr>
              <a:buNone/>
            </a:pPr>
            <a:endParaRPr sz="1200" b="0" i="0">
              <a:latin typeface="Consolas"/>
            </a:endParaRPr>
          </a:p>
          <a:p>
            <a:pPr>
              <a:buNone/>
            </a:pPr>
            <a:r>
              <a:rPr sz="1200" b="0" i="0" u="none"/>
              <a:t>1. Basic context addition:</a:t>
            </a:r>
            <a:endParaRPr sz="1200" b="0" i="0">
              <a:latin typeface="Consolas"/>
            </a:endParaRPr>
          </a:p>
          <a:p>
            <a:pPr>
              <a:buNone/>
            </a:pPr>
            <a:endParaRPr sz="1200" b="0" i="0">
              <a:latin typeface="Consolas"/>
            </a:endParaRPr>
          </a:p>
          <a:p>
            <a:r>
              <a:rPr sz="1200" b="0" i="0" u="none"/>
              <a:t>Use </a:t>
            </a:r>
            <a:r>
              <a:rPr sz="1200" b="0" i="0" u="none">
                <a:latin typeface="Consolas"/>
              </a:rPr>
              <a:t>@workspace</a:t>
            </a:r>
            <a:r>
              <a:rPr sz="1200" b="0" i="0" u="none"/>
              <a:t> to search your codebase</a:t>
            </a:r>
            <a:endParaRPr sz="1200" b="0" i="0">
              <a:latin typeface="Consolas"/>
            </a:endParaRPr>
          </a:p>
          <a:p>
            <a:r>
              <a:rPr sz="1200" b="0" i="0" u="none"/>
              <a:t>Use </a:t>
            </a:r>
            <a:r>
              <a:rPr sz="1200" b="0" i="0" u="none">
                <a:latin typeface="Consolas"/>
              </a:rPr>
              <a:t>@file</a:t>
            </a:r>
            <a:r>
              <a:rPr sz="1200" b="0" i="0" u="none"/>
              <a:t> to reference specific files</a:t>
            </a:r>
            <a:endParaRPr sz="1200" b="0" i="0">
              <a:latin typeface="Consolas"/>
            </a:endParaRPr>
          </a:p>
          <a:p>
            <a:r>
              <a:rPr sz="1200" b="0" i="0" u="none"/>
              <a:t>Use </a:t>
            </a:r>
            <a:r>
              <a:rPr sz="1200" b="0" i="0" u="none">
                <a:latin typeface="Consolas"/>
              </a:rPr>
              <a:t>@terminal</a:t>
            </a:r>
            <a:r>
              <a:rPr sz="1200" b="0" i="0" u="none"/>
              <a:t> to include command output</a:t>
            </a:r>
            <a:endParaRPr sz="1200" b="0" i="0">
              <a:latin typeface="Consolas"/>
            </a:endParaRPr>
          </a:p>
          <a:p>
            <a:r>
              <a:rPr sz="1200" b="0" i="0" u="none"/>
              <a:t>Use </a:t>
            </a:r>
            <a:r>
              <a:rPr sz="1200" b="0" i="0" u="none">
                <a:latin typeface="Consolas"/>
              </a:rPr>
              <a:t>@vscode</a:t>
            </a:r>
            <a:r>
              <a:rPr sz="1200" b="0" i="0" u="none"/>
              <a:t> for VS Code product questions</a:t>
            </a:r>
            <a:endParaRPr sz="1200" b="0" i="0">
              <a:latin typeface="Consolas"/>
            </a:endParaRPr>
          </a:p>
        </p:txBody>
      </p:sp>
      <p:sp>
        <p:nvSpPr>
          <p:cNvPr id="4" name="Content Placeholder 3"/>
          <p:cNvSpPr>
            <a:spLocks noGrp="1"/>
          </p:cNvSpPr>
          <p:nvPr>
            <p:ph sz="half" idx="2"/>
          </p:nvPr>
        </p:nvSpPr>
        <p:spPr/>
        <p:txBody>
          <a:bodyPr wrap="square">
            <a:normAutofit fontScale="85000" lnSpcReduction="20000"/>
          </a:bodyPr>
          <a:lstStyle/>
          <a:p>
            <a:pPr>
              <a:buNone/>
            </a:pPr>
            <a:r>
              <a:rPr sz="1200" b="0" i="0" u="none"/>
              <a:t>2. Prompt practice:</a:t>
            </a:r>
            <a:endParaRPr sz="1200" b="0" i="0">
              <a:latin typeface="Arial"/>
            </a:endParaRPr>
          </a:p>
          <a:p>
            <a:pPr>
              <a:buNone/>
            </a:pPr>
            <a:endParaRPr sz="1200" b="0" i="0">
              <a:latin typeface="Arial"/>
            </a:endParaRPr>
          </a:p>
          <a:p>
            <a:r>
              <a:rPr sz="1200" b="0" i="0" u="none"/>
              <a:t>Write a vague prompt and observe the result</a:t>
            </a:r>
            <a:endParaRPr sz="1200" b="0" i="0">
              <a:latin typeface="Arial"/>
            </a:endParaRPr>
          </a:p>
          <a:p>
            <a:r>
              <a:rPr sz="1200" b="0" i="0" u="none"/>
              <a:t>Rewrite with specific context and compare quality</a:t>
            </a:r>
            <a:endParaRPr sz="1200" b="0" i="0">
              <a:latin typeface="Arial"/>
            </a:endParaRPr>
          </a:p>
          <a:p>
            <a:r>
              <a:rPr sz="1200" b="0" i="0" u="none"/>
              <a:t>Add file references to improve accuracy</a:t>
            </a:r>
            <a:endParaRPr sz="1200" b="0" i="0">
              <a:latin typeface="Arial"/>
            </a:endParaRPr>
          </a:p>
          <a:p>
            <a:pPr>
              <a:buNone/>
            </a:pPr>
            <a:endParaRPr sz="1200" b="0" i="0">
              <a:latin typeface="Arial"/>
            </a:endParaRPr>
          </a:p>
          <a:p>
            <a:pPr>
              <a:buNone/>
            </a:pPr>
            <a:r>
              <a:rPr sz="1200" b="0" i="0" u="none"/>
              <a:t>3. Context window experiment:</a:t>
            </a:r>
            <a:endParaRPr sz="1200" b="0" i="0">
              <a:latin typeface="Arial"/>
            </a:endParaRPr>
          </a:p>
          <a:p>
            <a:pPr>
              <a:buNone/>
            </a:pPr>
            <a:endParaRPr sz="1200" b="0" i="0">
              <a:latin typeface="Arial"/>
            </a:endParaRPr>
          </a:p>
          <a:p>
            <a:r>
              <a:rPr sz="1200" b="0" i="0" u="none"/>
              <a:t>Run a longer single conversation</a:t>
            </a:r>
            <a:endParaRPr sz="1200" b="0" i="0">
              <a:latin typeface="Arial"/>
            </a:endParaRPr>
          </a:p>
          <a:p>
            <a:r>
              <a:rPr sz="1200" b="0" i="0" u="none"/>
              <a:t>Observe when early context gets dropped</a:t>
            </a:r>
            <a:endParaRPr sz="1200" b="0" i="0">
              <a:latin typeface="Arial"/>
            </a:endParaRPr>
          </a:p>
          <a:p>
            <a:r>
              <a:rPr sz="1200" b="0" i="0" u="none"/>
              <a:t>Start a new chat when topic focus changes</a:t>
            </a:r>
            <a:endParaRPr sz="1200" b="0" i="0">
              <a:latin typeface="Arial"/>
            </a:endParaRPr>
          </a:p>
          <a:p>
            <a:pPr>
              <a:buNone/>
            </a:pPr>
            <a:endParaRPr sz="1200" b="0" i="0">
              <a:latin typeface="Arial"/>
            </a:endParaRPr>
          </a:p>
          <a:p>
            <a:pPr>
              <a:buNone/>
            </a:pPr>
            <a:r>
              <a:rPr sz="1200" b="0" i="0" u="none"/>
              <a:t>Success Criteria</a:t>
            </a:r>
            <a:endParaRPr sz="1200" b="0" i="0">
              <a:latin typeface="Arial"/>
            </a:endParaRPr>
          </a:p>
          <a:p>
            <a:pPr>
              <a:buNone/>
            </a:pPr>
            <a:endParaRPr sz="1200" b="0" i="0">
              <a:latin typeface="Arial"/>
            </a:endParaRPr>
          </a:p>
          <a:p>
            <a:r>
              <a:rPr sz="1200" b="0" i="0" u="none"/>
              <a:t>You can use all four @ context types</a:t>
            </a:r>
            <a:endParaRPr sz="1200" b="0" i="0">
              <a:latin typeface="Arial"/>
            </a:endParaRPr>
          </a:p>
          <a:p>
            <a:r>
              <a:rPr sz="1200" b="0" i="0" u="none"/>
              <a:t>You can identify when to start a fresh chat</a:t>
            </a:r>
            <a:endParaRPr sz="1200" b="0" i="0">
              <a:latin typeface="Arial"/>
            </a:endParaRPr>
          </a:p>
          <a:p>
            <a:r>
              <a:rPr sz="1200" b="0" i="0" u="none"/>
              <a:t>You can show quality improvements from specific prompts</a:t>
            </a:r>
            <a:endParaRPr sz="1200" b="0" i="0">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450" b="0" i="0" u="none"/>
              <a:t>Exercise: Chat Management and Workflow</a:t>
            </a:r>
          </a:p>
        </p:txBody>
      </p:sp>
      <p:sp>
        <p:nvSpPr>
          <p:cNvPr id="3" name="Content Placeholder 2"/>
          <p:cNvSpPr>
            <a:spLocks noGrp="1"/>
          </p:cNvSpPr>
          <p:nvPr>
            <p:ph sz="half" idx="1"/>
          </p:nvPr>
        </p:nvSpPr>
        <p:spPr/>
        <p:txBody>
          <a:bodyPr wrap="square">
            <a:noAutofit/>
          </a:bodyPr>
          <a:lstStyle/>
          <a:p>
            <a:pPr>
              <a:buNone/>
            </a:pPr>
            <a:r>
              <a:rPr sz="1400" b="0" i="0" u="none" dirty="0"/>
              <a:t>Objectives</a:t>
            </a:r>
            <a:endParaRPr sz="1400" b="0" i="0" dirty="0">
              <a:latin typeface="Arial"/>
            </a:endParaRPr>
          </a:p>
          <a:p>
            <a:pPr lvl="1"/>
            <a:r>
              <a:rPr sz="1400" b="0" i="0" u="none" dirty="0"/>
              <a:t>Organize chat sessions effectively</a:t>
            </a:r>
            <a:endParaRPr sz="1400" b="0" i="0" dirty="0">
              <a:latin typeface="Arial"/>
            </a:endParaRPr>
          </a:p>
          <a:p>
            <a:pPr lvl="1"/>
            <a:r>
              <a:rPr sz="1400" b="0" i="0" u="none" dirty="0"/>
              <a:t>Use chat history as a working reference</a:t>
            </a:r>
            <a:endParaRPr sz="1400" b="0" i="0" dirty="0">
              <a:latin typeface="Arial"/>
            </a:endParaRPr>
          </a:p>
          <a:p>
            <a:pPr lvl="1"/>
            <a:r>
              <a:rPr sz="1400" b="0" i="0" u="none" dirty="0"/>
              <a:t>Develop efficient workflow patterns with main and quick chat</a:t>
            </a:r>
            <a:endParaRPr sz="1400" b="0" i="0" dirty="0">
              <a:latin typeface="Arial"/>
            </a:endParaRPr>
          </a:p>
          <a:p>
            <a:pPr>
              <a:buNone/>
            </a:pPr>
            <a:endParaRPr sz="1400" b="0" i="0" dirty="0">
              <a:latin typeface="Arial"/>
            </a:endParaRPr>
          </a:p>
          <a:p>
            <a:pPr>
              <a:buNone/>
            </a:pPr>
            <a:r>
              <a:rPr sz="1400" b="0" i="0" u="none" dirty="0"/>
              <a:t>Activities</a:t>
            </a:r>
            <a:endParaRPr sz="1400" b="0" i="0" dirty="0">
              <a:latin typeface="Arial"/>
            </a:endParaRPr>
          </a:p>
          <a:p>
            <a:pPr>
              <a:buNone/>
            </a:pPr>
            <a:r>
              <a:rPr lang="en-US" sz="1400" b="0" i="0" u="none" dirty="0"/>
              <a:t>	</a:t>
            </a:r>
            <a:r>
              <a:rPr sz="1400" b="0" i="0" u="none" dirty="0"/>
              <a:t>1. Chat organization:</a:t>
            </a:r>
            <a:endParaRPr sz="1400" b="0" i="0" dirty="0">
              <a:latin typeface="Arial"/>
            </a:endParaRPr>
          </a:p>
          <a:p>
            <a:pPr lvl="1"/>
            <a:r>
              <a:rPr sz="1400" b="0" i="0" u="none" dirty="0"/>
              <a:t>Review current chat history</a:t>
            </a:r>
            <a:endParaRPr sz="1400" b="0" i="0" dirty="0">
              <a:latin typeface="Arial"/>
            </a:endParaRPr>
          </a:p>
          <a:p>
            <a:pPr lvl="1"/>
            <a:r>
              <a:rPr sz="1400" b="0" i="0" u="none" dirty="0"/>
              <a:t>Identify conversations that should have been separate</a:t>
            </a:r>
            <a:endParaRPr sz="1400" b="0" i="0" dirty="0">
              <a:latin typeface="Arial"/>
            </a:endParaRPr>
          </a:p>
          <a:p>
            <a:pPr lvl="1"/>
            <a:r>
              <a:rPr sz="1400" b="0" i="0" u="none" dirty="0"/>
              <a:t>Practice starting new chats at natural topic boundaries</a:t>
            </a:r>
            <a:endParaRPr sz="1400" b="0" i="0" dirty="0">
              <a:latin typeface="Arial"/>
            </a:endParaRPr>
          </a:p>
          <a:p>
            <a:pPr>
              <a:buNone/>
            </a:pPr>
            <a:r>
              <a:rPr lang="en-US" sz="1400" b="0" i="0" u="none" dirty="0"/>
              <a:t>	</a:t>
            </a:r>
            <a:r>
              <a:rPr sz="1400" b="0" i="0" u="none" dirty="0"/>
              <a:t>2. Context preservation:</a:t>
            </a:r>
            <a:endParaRPr sz="1400" b="0" i="0" dirty="0">
              <a:latin typeface="Arial"/>
            </a:endParaRPr>
          </a:p>
          <a:p>
            <a:pPr lvl="1"/>
            <a:r>
              <a:rPr sz="1400" b="0" i="0" u="none" dirty="0"/>
              <a:t>Run one focused feature chat</a:t>
            </a:r>
            <a:endParaRPr sz="1400" b="0" i="0" dirty="0">
              <a:latin typeface="Arial"/>
            </a:endParaRPr>
          </a:p>
          <a:p>
            <a:pPr lvl="1"/>
            <a:r>
              <a:rPr sz="1400" b="0" i="0" u="none" dirty="0"/>
              <a:t>Add only relevant context files</a:t>
            </a:r>
            <a:endParaRPr sz="1400" b="0" i="0" dirty="0">
              <a:latin typeface="Arial"/>
            </a:endParaRPr>
          </a:p>
          <a:p>
            <a:pPr lvl="1"/>
            <a:r>
              <a:rPr sz="1400" b="0" i="0" u="none" dirty="0"/>
              <a:t>Complete work without context overflow</a:t>
            </a:r>
            <a:endParaRPr sz="1400" b="0" i="0" dirty="0">
              <a:latin typeface="Arial"/>
            </a:endParaRPr>
          </a:p>
        </p:txBody>
      </p:sp>
      <p:sp>
        <p:nvSpPr>
          <p:cNvPr id="5" name="Content Placeholder 4">
            <a:extLst>
              <a:ext uri="{FF2B5EF4-FFF2-40B4-BE49-F238E27FC236}">
                <a16:creationId xmlns:a16="http://schemas.microsoft.com/office/drawing/2014/main" id="{182BBA4C-5827-2693-502E-7A769B300549}"/>
              </a:ext>
            </a:extLst>
          </p:cNvPr>
          <p:cNvSpPr>
            <a:spLocks noGrp="1"/>
          </p:cNvSpPr>
          <p:nvPr>
            <p:ph sz="half" idx="2"/>
          </p:nvPr>
        </p:nvSpPr>
        <p:spPr/>
        <p:txBody>
          <a:bodyPr>
            <a:normAutofit fontScale="70000" lnSpcReduction="20000"/>
          </a:bodyPr>
          <a:lstStyle/>
          <a:p>
            <a:pPr>
              <a:buNone/>
            </a:pPr>
            <a:r>
              <a:rPr lang="en-US" sz="2200" dirty="0"/>
              <a:t>	3. Quick chat practice:</a:t>
            </a:r>
            <a:endParaRPr lang="en-US" sz="2200" dirty="0">
              <a:latin typeface="Arial"/>
            </a:endParaRPr>
          </a:p>
          <a:p>
            <a:pPr lvl="1"/>
            <a:r>
              <a:rPr lang="en-US" sz="2200" dirty="0"/>
              <a:t>Keep main chat for primary task flow</a:t>
            </a:r>
            <a:endParaRPr lang="en-US" sz="2200" dirty="0">
              <a:latin typeface="Arial"/>
            </a:endParaRPr>
          </a:p>
          <a:p>
            <a:pPr lvl="1"/>
            <a:r>
              <a:rPr lang="en-US" sz="2200" dirty="0"/>
              <a:t>Use quick chat for side questions</a:t>
            </a:r>
            <a:endParaRPr lang="en-US" sz="2200" dirty="0">
              <a:latin typeface="Arial"/>
            </a:endParaRPr>
          </a:p>
          <a:p>
            <a:pPr lvl="1"/>
            <a:r>
              <a:rPr lang="en-US" sz="2200" dirty="0"/>
              <a:t>Return to main chat with context preserved</a:t>
            </a:r>
            <a:endParaRPr lang="en-US" sz="2200" dirty="0">
              <a:latin typeface="Arial"/>
            </a:endParaRPr>
          </a:p>
          <a:p>
            <a:pPr>
              <a:buNone/>
            </a:pPr>
            <a:endParaRPr lang="en-US" sz="2200" dirty="0">
              <a:latin typeface="Arial"/>
            </a:endParaRPr>
          </a:p>
          <a:p>
            <a:pPr>
              <a:buNone/>
            </a:pPr>
            <a:r>
              <a:rPr lang="en-US" sz="2200" dirty="0"/>
              <a:t>	4. Chat history review:</a:t>
            </a:r>
            <a:endParaRPr lang="en-US" sz="2200" dirty="0">
              <a:latin typeface="Arial"/>
            </a:endParaRPr>
          </a:p>
          <a:p>
            <a:pPr lvl="1"/>
            <a:r>
              <a:rPr lang="en-US" sz="2200" dirty="0"/>
              <a:t>Locate previous high-quality solutions</a:t>
            </a:r>
            <a:endParaRPr lang="en-US" sz="2200" dirty="0">
              <a:latin typeface="Arial"/>
            </a:endParaRPr>
          </a:p>
          <a:p>
            <a:pPr lvl="1"/>
            <a:r>
              <a:rPr lang="en-US" sz="2200" dirty="0"/>
              <a:t>Identify prompts that worked well</a:t>
            </a:r>
            <a:endParaRPr lang="en-US" sz="2200" dirty="0">
              <a:latin typeface="Arial"/>
            </a:endParaRPr>
          </a:p>
          <a:p>
            <a:pPr lvl="1"/>
            <a:r>
              <a:rPr lang="en-US" sz="2200" dirty="0"/>
              <a:t>Capture repeatable prompt patterns</a:t>
            </a:r>
            <a:endParaRPr lang="en-US" sz="2200" dirty="0">
              <a:latin typeface="Arial"/>
            </a:endParaRPr>
          </a:p>
          <a:p>
            <a:pPr>
              <a:buNone/>
            </a:pPr>
            <a:endParaRPr lang="en-US" sz="2200" dirty="0">
              <a:latin typeface="Arial"/>
            </a:endParaRPr>
          </a:p>
          <a:p>
            <a:pPr>
              <a:buNone/>
            </a:pPr>
            <a:r>
              <a:rPr lang="en-US" sz="2200" dirty="0"/>
              <a:t>Success Criteria</a:t>
            </a:r>
            <a:endParaRPr lang="en-US" sz="2200" dirty="0">
              <a:latin typeface="Arial"/>
            </a:endParaRPr>
          </a:p>
          <a:p>
            <a:pPr lvl="1"/>
            <a:r>
              <a:rPr lang="en-US" sz="2200" dirty="0"/>
              <a:t>Chat history is organized and meaningful</a:t>
            </a:r>
            <a:endParaRPr lang="en-US" sz="2200" dirty="0">
              <a:latin typeface="Arial"/>
            </a:endParaRPr>
          </a:p>
          <a:p>
            <a:pPr lvl="1"/>
            <a:r>
              <a:rPr lang="en-US" sz="2200" dirty="0"/>
              <a:t>You can quickly find and reuse previous solutions</a:t>
            </a:r>
            <a:endParaRPr lang="en-US" sz="2200" dirty="0">
              <a:latin typeface="Arial"/>
            </a:endParaRPr>
          </a:p>
          <a:p>
            <a:pPr lvl="1"/>
            <a:r>
              <a:rPr lang="en-US" sz="2200" dirty="0"/>
              <a:t>You can use multiple chat windows without losing primary context</a:t>
            </a:r>
            <a:endParaRPr lang="en-US" sz="2200" dirty="0">
              <a:latin typeface="Arial"/>
            </a:endParaRP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Assisted Software Development</a:t>
            </a:r>
          </a:p>
          <a:p>
            <a:r>
              <a:rPr b="0" i="0" u="none"/>
              <a:t>Intro to Copilot</a:t>
            </a:r>
          </a:p>
          <a:p>
            <a:r>
              <a:rPr b="1" i="0" u="none"/>
              <a:t>▶ AI Assistance in Action</a:t>
            </a:r>
          </a:p>
          <a:p>
            <a:r>
              <a:rPr b="0" i="0" u="none"/>
              <a:t>Adding AI Guardrails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dirty="0"/>
              <a:t>Collaborative AI Development</a:t>
            </a:r>
          </a:p>
        </p:txBody>
      </p:sp>
      <p:sp>
        <p:nvSpPr>
          <p:cNvPr id="3" name="Subtitle 2"/>
          <p:cNvSpPr>
            <a:spLocks noGrp="1"/>
          </p:cNvSpPr>
          <p:nvPr>
            <p:ph type="subTitle" idx="1"/>
          </p:nvPr>
        </p:nvSpPr>
        <p:spPr/>
        <p:txBody>
          <a:bodyPr wrap="square">
            <a:normAutofit/>
          </a:bodyPr>
          <a:lstStyle/>
          <a:p>
            <a:pPr>
              <a:buNone/>
            </a:pPr>
            <a:r>
              <a:rPr b="0" i="0" u="none"/>
              <a:t>One Keyboard, Many Opinions, One Calculator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Collaborating on a Solution</a:t>
            </a:r>
          </a:p>
        </p:txBody>
      </p:sp>
      <p:sp>
        <p:nvSpPr>
          <p:cNvPr id="3" name="Content Placeholder 2"/>
          <p:cNvSpPr>
            <a:spLocks noGrp="1"/>
          </p:cNvSpPr>
          <p:nvPr>
            <p:ph idx="1"/>
          </p:nvPr>
        </p:nvSpPr>
        <p:spPr/>
        <p:txBody>
          <a:bodyPr wrap="square">
            <a:normAutofit/>
          </a:bodyPr>
          <a:lstStyle/>
          <a:p>
            <a:r>
              <a:rPr sz="1250" b="0" i="0" u="none"/>
              <a:t>Basic Arithmetic - Addition, subtraction, multiplication, division</a:t>
            </a:r>
            <a:endParaRPr sz="1250" b="0" i="0">
              <a:latin typeface="Arial"/>
            </a:endParaRPr>
          </a:p>
          <a:p>
            <a:r>
              <a:rPr sz="1250" b="0" i="0" u="none"/>
              <a:t>Clear / Reset Function - Quickly resets the current input or entire calculation</a:t>
            </a:r>
            <a:endParaRPr sz="1250" b="0" i="0">
              <a:latin typeface="Arial"/>
            </a:endParaRPr>
          </a:p>
          <a:p>
            <a:r>
              <a:rPr sz="1250" b="0" i="0" u="none"/>
              <a:t>Decimal Support - Allows entry and computation with decimal numbers</a:t>
            </a:r>
            <a:endParaRPr sz="1250" b="0" i="0">
              <a:latin typeface="Arial"/>
            </a:endParaRPr>
          </a:p>
          <a:p>
            <a:r>
              <a:rPr sz="1250" b="0" i="0" u="none"/>
              <a:t>Sign Toggle (+/–) - Switches values between positive and negative</a:t>
            </a:r>
            <a:endParaRPr sz="1250" b="0" i="0">
              <a:latin typeface="Arial"/>
            </a:endParaRPr>
          </a:p>
          <a:p>
            <a:r>
              <a:rPr sz="1250" b="0" i="0" u="none"/>
              <a:t>Percentage Function - Converts values to percentages for quick calculations</a:t>
            </a:r>
            <a:endParaRPr sz="1250" b="0" i="0">
              <a:latin typeface="Arial"/>
            </a:endParaRPr>
          </a:p>
          <a:p>
            <a:r>
              <a:rPr sz="1250" b="0" i="0" u="none"/>
              <a:t>Memory Functions (M+, M–, MR, MC) - Store, recall, add to, or clear memory values</a:t>
            </a:r>
            <a:endParaRPr sz="1250" b="0" i="0">
              <a:latin typeface="Arial"/>
            </a:endParaRPr>
          </a:p>
          <a:p>
            <a:r>
              <a:rPr sz="1250" b="0" i="0" u="none"/>
              <a:t>Error Handling - Displays errors such as division by zero</a:t>
            </a:r>
            <a:endParaRPr sz="1250" b="0" i="0">
              <a:latin typeface="Arial"/>
            </a:endParaRPr>
          </a:p>
          <a:p>
            <a:r>
              <a:rPr sz="1250" b="0" i="0" u="none"/>
              <a:t>Simple, Intuitive Interface - Numeric keypad, operation buttons, and display screen</a:t>
            </a:r>
            <a:endParaRPr sz="1250" b="0" i="0">
              <a:latin typeface="Arial"/>
            </a:endParaRPr>
          </a:p>
          <a:p>
            <a:r>
              <a:rPr sz="1250" b="0" i="0" u="none"/>
              <a:t>Test Automation</a:t>
            </a:r>
            <a:endParaRPr sz="1250" b="0" i="0">
              <a:latin typeface="Arial"/>
            </a:endParaRPr>
          </a:p>
          <a:p>
            <a:pPr lvl="1"/>
            <a:r>
              <a:rPr sz="1250" b="0" i="0" u="none"/>
              <a:t>Code Coverage</a:t>
            </a:r>
            <a:endParaRPr sz="1250" b="0" i="0">
              <a:latin typeface="Arial"/>
            </a:endParaRPr>
          </a:p>
          <a:p>
            <a:r>
              <a:rPr sz="1250" b="0" i="0" u="none"/>
              <a:t>Dependency Management</a:t>
            </a:r>
            <a:endParaRPr sz="1250" b="0" i="0">
              <a:latin typeface="Arial"/>
            </a:endParaRPr>
          </a:p>
          <a:p>
            <a:r>
              <a:rPr sz="1250" b="0" i="0" u="none"/>
              <a:t>Comparing Implementations</a:t>
            </a:r>
            <a:endParaRPr sz="1250" b="0" i="0">
              <a:latin typeface="Arial"/>
            </a:endParaRPr>
          </a:p>
          <a:p>
            <a:r>
              <a:rPr sz="1250" b="0" i="0" u="none"/>
              <a:t>Chat Management</a:t>
            </a:r>
            <a:endParaRPr sz="1250" b="0" i="0">
              <a:latin typeface="Arial"/>
            </a:endParaRPr>
          </a:p>
          <a:p>
            <a:r>
              <a:rPr sz="1250" b="0" i="0" u="none"/>
              <a:t>Intro to Evergreen Software Development</a:t>
            </a:r>
            <a:endParaRPr sz="1250" b="0" i="0">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Evergreen Software Core Principles</a:t>
            </a:r>
          </a:p>
        </p:txBody>
      </p:sp>
      <p:sp>
        <p:nvSpPr>
          <p:cNvPr id="3" name="Subtitle 2"/>
          <p:cNvSpPr>
            <a:spLocks noGrp="1"/>
          </p:cNvSpPr>
          <p:nvPr>
            <p:ph type="subTitle" idx="1"/>
          </p:nvPr>
        </p:nvSpPr>
        <p:spPr/>
        <p:txBody>
          <a:bodyPr wrap="square">
            <a:normAutofit/>
          </a:bodyPr>
          <a:lstStyle/>
          <a:p>
            <a:pPr>
              <a:buNone/>
            </a:pPr>
            <a:r>
              <a:rPr b="0" i="0" u="none"/>
              <a:t>Code That Doesn't Rot: A Love Story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Evergreen Principles</a:t>
            </a:r>
          </a:p>
        </p:txBody>
      </p:sp>
      <p:sp>
        <p:nvSpPr>
          <p:cNvPr id="3" name="Content Placeholder 2"/>
          <p:cNvSpPr>
            <a:spLocks noGrp="1"/>
          </p:cNvSpPr>
          <p:nvPr>
            <p:ph sz="half" idx="1"/>
          </p:nvPr>
        </p:nvSpPr>
        <p:spPr/>
        <p:txBody>
          <a:bodyPr wrap="square">
            <a:normAutofit/>
          </a:bodyPr>
          <a:lstStyle/>
          <a:p>
            <a:pPr>
              <a:buNone/>
            </a:pPr>
            <a:r>
              <a:rPr sz="1400" b="1" i="0" u="none"/>
              <a:t>Design and interface principles</a:t>
            </a:r>
            <a:endParaRPr sz="2800" b="0" i="0">
              <a:latin typeface="Arial"/>
            </a:endParaRPr>
          </a:p>
          <a:p>
            <a:pPr lvl="1"/>
            <a:r>
              <a:rPr sz="1400" b="1" i="0" u="none"/>
              <a:t>Intent-First Design</a:t>
            </a:r>
            <a:endParaRPr sz="2800" b="0" i="0">
              <a:latin typeface="Arial"/>
            </a:endParaRPr>
          </a:p>
          <a:p>
            <a:pPr>
              <a:buNone/>
            </a:pPr>
            <a:r>
              <a:rPr sz="1400" b="0" i="0" u="none"/>
              <a:t>    Define purpose, invariants, and boundaries before writing code.</a:t>
            </a:r>
            <a:endParaRPr sz="2800" b="0" i="0">
              <a:latin typeface="Arial"/>
            </a:endParaRPr>
          </a:p>
          <a:p>
            <a:pPr lvl="1"/>
            <a:r>
              <a:rPr sz="1400" b="1" i="0" u="none"/>
              <a:t>Stable Interfaces, Evolving Internals</a:t>
            </a:r>
            <a:endParaRPr sz="2800" b="0" i="0">
              <a:latin typeface="Arial"/>
            </a:endParaRPr>
          </a:p>
          <a:p>
            <a:pPr>
              <a:buNone/>
            </a:pPr>
            <a:r>
              <a:rPr sz="1400" b="0" i="0" u="none"/>
              <a:t>    Keep contracts predictable while implementations improve.</a:t>
            </a:r>
            <a:endParaRPr sz="2800" b="0" i="0">
              <a:latin typeface="Arial"/>
            </a:endParaRPr>
          </a:p>
          <a:p>
            <a:pPr lvl="1"/>
            <a:r>
              <a:rPr sz="1400" b="1" i="0" u="none"/>
              <a:t>Lifecycle Governance</a:t>
            </a:r>
            <a:endParaRPr sz="2800" b="0" i="0">
              <a:latin typeface="Arial"/>
            </a:endParaRPr>
          </a:p>
          <a:p>
            <a:pPr>
              <a:buNone/>
            </a:pPr>
            <a:r>
              <a:rPr sz="1400" b="0" i="0" u="none"/>
              <a:t>    Maintain quality through tests, versioning, and human validation.</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Regeneration principles</a:t>
            </a:r>
            <a:endParaRPr sz="2800" b="0" i="0">
              <a:latin typeface="Arial"/>
            </a:endParaRPr>
          </a:p>
          <a:p>
            <a:pPr lvl="1"/>
            <a:r>
              <a:rPr sz="1400" b="1" i="0" u="none"/>
              <a:t>Continuous Regeneration with Guardrails</a:t>
            </a:r>
            <a:endParaRPr sz="2800" b="0" i="0">
              <a:latin typeface="Arial"/>
            </a:endParaRPr>
          </a:p>
          <a:p>
            <a:pPr>
              <a:buNone/>
            </a:pPr>
            <a:r>
              <a:rPr sz="1400" b="0" i="0" u="none"/>
              <a:t>    Use AI safely with tests, specs, and architectural constraints.</a:t>
            </a:r>
            <a:endParaRPr sz="2800" b="0" i="0">
              <a:latin typeface="Arial"/>
            </a:endParaRPr>
          </a:p>
          <a:p>
            <a:pPr lvl="1"/>
            <a:r>
              <a:rPr sz="1400" b="1" i="0" u="none"/>
              <a:t>Modular, Replaceable Components</a:t>
            </a:r>
            <a:endParaRPr sz="2800" b="0" i="0">
              <a:latin typeface="Arial"/>
            </a:endParaRPr>
          </a:p>
          <a:p>
            <a:pPr>
              <a:buNone/>
            </a:pPr>
            <a:r>
              <a:rPr sz="1400" b="0" i="0" u="none"/>
              <a:t>    Structure the system so parts can be regenerated or swapped without cascading breakage.</a:t>
            </a:r>
            <a:endParaRPr sz="2800" b="0" i="0">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Why Software Fails to Be Evergreen</a:t>
            </a:r>
          </a:p>
        </p:txBody>
      </p:sp>
      <p:sp>
        <p:nvSpPr>
          <p:cNvPr id="3" name="Content Placeholder 2"/>
          <p:cNvSpPr>
            <a:spLocks noGrp="1"/>
          </p:cNvSpPr>
          <p:nvPr>
            <p:ph sz="half" idx="1"/>
          </p:nvPr>
        </p:nvSpPr>
        <p:spPr/>
        <p:txBody>
          <a:bodyPr wrap="square">
            <a:normAutofit/>
          </a:bodyPr>
          <a:lstStyle/>
          <a:p>
            <a:pPr>
              <a:buNone/>
            </a:pPr>
            <a:r>
              <a:rPr sz="1400" b="1" i="0" u="none"/>
              <a:t>Design failures</a:t>
            </a:r>
            <a:endParaRPr sz="2800" b="0" i="0">
              <a:latin typeface="Arial"/>
            </a:endParaRPr>
          </a:p>
          <a:p>
            <a:r>
              <a:rPr sz="1400" b="1" i="0" u="none"/>
              <a:t>Intent Rot</a:t>
            </a:r>
            <a:endParaRPr sz="2800" b="0" i="0">
              <a:latin typeface="Arial"/>
            </a:endParaRPr>
          </a:p>
          <a:p>
            <a:pPr lvl="1"/>
            <a:r>
              <a:rPr sz="1400" b="0" i="0" u="none"/>
              <a:t>Purpose, constraints, and invariants are undocumented or lost.</a:t>
            </a:r>
            <a:endParaRPr sz="2800" b="0" i="0">
              <a:latin typeface="Arial"/>
            </a:endParaRPr>
          </a:p>
          <a:p>
            <a:r>
              <a:rPr sz="1400" b="1" i="0" u="none"/>
              <a:t>Unstable or Leaky Interfaces</a:t>
            </a:r>
            <a:endParaRPr sz="2800" b="0" i="0">
              <a:latin typeface="Arial"/>
            </a:endParaRPr>
          </a:p>
          <a:p>
            <a:pPr lvl="1"/>
            <a:r>
              <a:rPr sz="1400" b="0" i="0" u="none"/>
              <a:t>APIs and boundaries change unpredictably.</a:t>
            </a:r>
            <a:endParaRPr sz="2800" b="0" i="0">
              <a:latin typeface="Arial"/>
            </a:endParaRPr>
          </a:p>
          <a:p>
            <a:r>
              <a:rPr sz="1400" b="1" i="0" u="none"/>
              <a:t>Tightly Coupled Architecture</a:t>
            </a:r>
            <a:endParaRPr sz="2800" b="0" i="0">
              <a:latin typeface="Arial"/>
            </a:endParaRPr>
          </a:p>
          <a:p>
            <a:pPr lvl="1"/>
            <a:r>
              <a:rPr sz="1400" b="0" i="0" u="none"/>
              <a:t>Components depend on each other's internals.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Safety failures</a:t>
            </a:r>
            <a:endParaRPr sz="2800" b="0" i="0">
              <a:latin typeface="Arial"/>
            </a:endParaRPr>
          </a:p>
          <a:p>
            <a:r>
              <a:rPr sz="1400" b="1" i="0" u="none"/>
              <a:t>Insufficient Guardrails</a:t>
            </a:r>
            <a:endParaRPr sz="2800" b="0" i="0">
              <a:latin typeface="Arial"/>
            </a:endParaRPr>
          </a:p>
          <a:p>
            <a:pPr lvl="1"/>
            <a:r>
              <a:rPr sz="1400" b="0" i="0" u="none"/>
              <a:t>Missing tests and validation make safe regeneration impossible.</a:t>
            </a:r>
            <a:endParaRPr sz="2800" b="0" i="0">
              <a:latin typeface="Arial"/>
            </a:endParaRPr>
          </a:p>
          <a:p>
            <a:r>
              <a:rPr sz="1400" b="1" i="0" u="none"/>
              <a:t>One-Off Patches and Drift</a:t>
            </a:r>
            <a:endParaRPr sz="2800" b="0" i="0">
              <a:latin typeface="Arial"/>
            </a:endParaRPr>
          </a:p>
          <a:p>
            <a:pPr lvl="1"/>
            <a:r>
              <a:rPr sz="1400" b="0" i="0" u="none"/>
              <a:t>Ad-hoc fixes pull the system away from intended design.</a:t>
            </a:r>
            <a:endParaRPr sz="2800" b="0" i="0">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Assisted Software Development</a:t>
            </a:r>
          </a:p>
          <a:p>
            <a:r>
              <a:rPr b="0" i="0" u="none"/>
              <a:t>Intro to Copilot</a:t>
            </a:r>
          </a:p>
          <a:p>
            <a:r>
              <a:rPr b="0" i="0" u="none"/>
              <a:t>AI Assistance in Action</a:t>
            </a:r>
          </a:p>
          <a:p>
            <a:r>
              <a:rPr b="1" i="0" u="none"/>
              <a:t>▶ Adding AI Guardrails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Adding AI Guardrails</a:t>
            </a:r>
          </a:p>
        </p:txBody>
      </p:sp>
      <p:sp>
        <p:nvSpPr>
          <p:cNvPr id="3" name="Subtitle 2"/>
          <p:cNvSpPr>
            <a:spLocks noGrp="1"/>
          </p:cNvSpPr>
          <p:nvPr>
            <p:ph type="subTitle" idx="1"/>
          </p:nvPr>
        </p:nvSpPr>
        <p:spPr/>
        <p:txBody>
          <a:bodyPr wrap="square">
            <a:normAutofit/>
          </a:bodyPr>
          <a:lstStyle/>
          <a:p>
            <a:pPr>
              <a:buNone/>
            </a:pPr>
            <a:r>
              <a:rPr b="0" i="0" u="none"/>
              <a:t>Teaching Your AI to Color Inside the Lines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Adding AI Guardrails</a:t>
            </a:r>
          </a:p>
        </p:txBody>
      </p:sp>
      <p:sp>
        <p:nvSpPr>
          <p:cNvPr id="3" name="Content Placeholder 2"/>
          <p:cNvSpPr>
            <a:spLocks noGrp="1"/>
          </p:cNvSpPr>
          <p:nvPr>
            <p:ph idx="1"/>
          </p:nvPr>
        </p:nvSpPr>
        <p:spPr/>
        <p:txBody>
          <a:bodyPr wrap="square">
            <a:normAutofit/>
          </a:bodyPr>
          <a:lstStyle/>
          <a:p>
            <a:r>
              <a:rPr sz="2800" b="0" i="0" u="none"/>
              <a:t>What are instructions, prompts, and Agents</a:t>
            </a:r>
            <a:endParaRPr sz="2800" b="0" i="0">
              <a:latin typeface="Arial"/>
            </a:endParaRPr>
          </a:p>
          <a:p>
            <a:r>
              <a:rPr sz="2800" b="0" i="0" u="none"/>
              <a:t>Creating instruction, prompt, and Agent files</a:t>
            </a:r>
            <a:endParaRPr sz="2800" b="0" i="0">
              <a:latin typeface="Arial"/>
            </a:endParaRPr>
          </a:p>
          <a:p>
            <a:r>
              <a:rPr sz="2800" b="0" i="0" u="none"/>
              <a:t>Meta prompts that generate these files</a:t>
            </a:r>
            <a:endParaRPr sz="2800" b="0" i="0">
              <a:latin typeface="Arial"/>
            </a:endParaRPr>
          </a:p>
          <a:p>
            <a:r>
              <a:rPr sz="2800" b="0" i="0" u="none"/>
              <a:t>Instructions for generating artifacts</a:t>
            </a:r>
            <a:endParaRPr sz="2800" b="0" i="0">
              <a:latin typeface="Arial"/>
            </a:endParaRPr>
          </a:p>
          <a:p>
            <a:r>
              <a:rPr sz="2800" b="0" i="0" u="none"/>
              <a:t>Enforcing provenance for AI-assisted artifacts</a:t>
            </a:r>
            <a:endParaRPr sz="2800" b="0" i="0">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Instructions for Generating Artifacts</a:t>
            </a:r>
          </a:p>
        </p:txBody>
      </p:sp>
      <p:sp>
        <p:nvSpPr>
          <p:cNvPr id="3" name="Content Placeholder 2"/>
          <p:cNvSpPr>
            <a:spLocks noGrp="1"/>
          </p:cNvSpPr>
          <p:nvPr>
            <p:ph idx="1"/>
          </p:nvPr>
        </p:nvSpPr>
        <p:spPr/>
        <p:txBody>
          <a:bodyPr wrap="square">
            <a:normAutofit/>
          </a:bodyPr>
          <a:lstStyle/>
          <a:p>
            <a:r>
              <a:rPr sz="2800" b="0" i="0" u="none"/>
              <a:t>Best practices</a:t>
            </a:r>
            <a:endParaRPr sz="2800" b="0" i="0">
              <a:latin typeface="Arial"/>
            </a:endParaRPr>
          </a:p>
          <a:p>
            <a:pPr lvl="1"/>
            <a:r>
              <a:rPr sz="2800" b="0" i="0" u="none"/>
              <a:t>Define the artifact type</a:t>
            </a:r>
            <a:endParaRPr sz="2800" b="0" i="0">
              <a:latin typeface="Arial"/>
            </a:endParaRPr>
          </a:p>
          <a:p>
            <a:pPr lvl="1"/>
            <a:r>
              <a:rPr sz="2800" b="0" i="0" u="none"/>
              <a:t>Specify required sections</a:t>
            </a:r>
            <a:endParaRPr sz="2800" b="0" i="0">
              <a:latin typeface="Arial"/>
            </a:endParaRPr>
          </a:p>
          <a:p>
            <a:pPr lvl="1"/>
            <a:r>
              <a:rPr sz="2800" b="0" i="0" u="none"/>
              <a:t>Provide examples or templates</a:t>
            </a:r>
            <a:endParaRPr sz="2800" b="0" i="0">
              <a:latin typeface="Arial"/>
            </a:endParaRPr>
          </a:p>
          <a:p>
            <a:pPr lvl="1"/>
            <a:r>
              <a:rPr sz="2800" b="0" i="0" u="none"/>
              <a:t>Include acceptance criteria</a:t>
            </a:r>
            <a:endParaRPr sz="2800" b="0" i="0">
              <a:latin typeface="Arial"/>
            </a:endParaRPr>
          </a:p>
          <a:p>
            <a:pPr lvl="1"/>
            <a:r>
              <a:rPr sz="2800" b="0" i="0" u="none"/>
              <a:t>Require the model to restate constraints</a:t>
            </a:r>
            <a:endParaRPr sz="2800" b="0" i="0">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Enforcing Provenance for AI Artifacts</a:t>
            </a:r>
          </a:p>
        </p:txBody>
      </p:sp>
      <p:sp>
        <p:nvSpPr>
          <p:cNvPr id="3" name="Content Placeholder 2"/>
          <p:cNvSpPr>
            <a:spLocks noGrp="1"/>
          </p:cNvSpPr>
          <p:nvPr>
            <p:ph idx="1"/>
          </p:nvPr>
        </p:nvSpPr>
        <p:spPr/>
        <p:txBody>
          <a:bodyPr wrap="square">
            <a:normAutofit/>
          </a:bodyPr>
          <a:lstStyle/>
          <a:p>
            <a:r>
              <a:rPr sz="2800" b="0" i="0" u="none"/>
              <a:t>AI involvement</a:t>
            </a:r>
            <a:endParaRPr sz="2800" b="0" i="0">
              <a:latin typeface="Arial"/>
            </a:endParaRPr>
          </a:p>
          <a:p>
            <a:r>
              <a:rPr sz="2800" b="0" i="0" u="none"/>
              <a:t>Model used</a:t>
            </a:r>
            <a:endParaRPr sz="2800" b="0" i="0">
              <a:latin typeface="Arial"/>
            </a:endParaRPr>
          </a:p>
          <a:p>
            <a:r>
              <a:rPr sz="2800" b="0" i="0" u="none"/>
              <a:t>Date generated</a:t>
            </a:r>
            <a:endParaRPr sz="2800" b="0" i="0">
              <a:latin typeface="Arial"/>
            </a:endParaRPr>
          </a:p>
          <a:p>
            <a:r>
              <a:rPr sz="2800" b="0" i="0" u="none"/>
              <a:t>Human reviewer</a:t>
            </a:r>
            <a:endParaRPr sz="2800" b="0" i="0">
              <a:latin typeface="Arial"/>
            </a:endParaRPr>
          </a:p>
          <a:p>
            <a:pPr lvl="1"/>
            <a:r>
              <a:rPr sz="2800" b="0" i="0" u="none"/>
              <a:t>Store provenance in headers, footers, or side cars</a:t>
            </a:r>
            <a:endParaRPr sz="2800" b="0" i="0">
              <a:latin typeface="Arial"/>
            </a:endParaRPr>
          </a:p>
          <a:p>
            <a:pPr lvl="1"/>
            <a:r>
              <a:rPr sz="2800" b="0" i="0" u="none"/>
              <a:t>Track revisions in version control</a:t>
            </a:r>
            <a:endParaRPr sz="2800" b="0" i="0">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50" b="0" i="0" u="none"/>
              <a:t>Instructions for AI Generated Artifacts</a:t>
            </a:r>
          </a:p>
        </p:txBody>
      </p:sp>
      <p:sp>
        <p:nvSpPr>
          <p:cNvPr id="3" name="Content Placeholder 2"/>
          <p:cNvSpPr>
            <a:spLocks noGrp="1"/>
          </p:cNvSpPr>
          <p:nvPr>
            <p:ph idx="1"/>
          </p:nvPr>
        </p:nvSpPr>
        <p:spPr/>
        <p:txBody>
          <a:bodyPr wrap="square">
            <a:normAutofit/>
          </a:bodyPr>
          <a:lstStyle/>
          <a:p>
            <a:pPr>
              <a:buNone/>
            </a:pPr>
            <a:r>
              <a:rPr sz="2800" b="0" i="0" u="none"/>
              <a:t>The one instruction file that rules them all</a:t>
            </a:r>
            <a:endParaRPr sz="280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AI-Assisted Output Instructions</a:t>
            </a:r>
          </a:p>
        </p:txBody>
      </p:sp>
      <p:sp>
        <p:nvSpPr>
          <p:cNvPr id="3" name="Content Placeholder 2"/>
          <p:cNvSpPr>
            <a:spLocks noGrp="1"/>
          </p:cNvSpPr>
          <p:nvPr>
            <p:ph idx="1"/>
          </p:nvPr>
        </p:nvSpPr>
        <p:spPr/>
        <p:txBody>
          <a:bodyPr wrap="square">
            <a:normAutofit/>
          </a:bodyPr>
          <a:lstStyle/>
          <a:p>
            <a:r>
              <a:rPr sz="2800" b="0" i="0" u="none"/>
              <a:t>Ensures provenance and logging for all AI-assisted outputs</a:t>
            </a:r>
            <a:endParaRPr sz="2800" b="0" i="0">
              <a:latin typeface="Arial"/>
            </a:endParaRPr>
          </a:p>
          <a:p>
            <a:r>
              <a:rPr sz="2800" b="0" i="0" u="none"/>
              <a:t>Defines required metadata, logging workflow, and quality gates</a:t>
            </a:r>
            <a:endParaRPr sz="2800" b="0" i="0">
              <a:latin typeface="Arial"/>
            </a:endParaRPr>
          </a:p>
          <a:p>
            <a:r>
              <a:rPr sz="2800" b="0" i="0" u="none"/>
              <a:t>Protects code quality and enables audits</a:t>
            </a:r>
            <a:endParaRPr sz="2800" b="0" i="0">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Required Provenance Metadata</a:t>
            </a:r>
          </a:p>
        </p:txBody>
      </p:sp>
      <p:sp>
        <p:nvSpPr>
          <p:cNvPr id="3" name="Content Placeholder 2"/>
          <p:cNvSpPr>
            <a:spLocks noGrp="1"/>
          </p:cNvSpPr>
          <p:nvPr>
            <p:ph idx="1"/>
          </p:nvPr>
        </p:nvSpPr>
        <p:spPr/>
        <p:txBody>
          <a:bodyPr wrap="square">
            <a:normAutofit/>
          </a:bodyPr>
          <a:lstStyle/>
          <a:p>
            <a:pPr>
              <a:buNone/>
            </a:pPr>
            <a:r>
              <a:rPr sz="1750" b="0" i="0" u="none"/>
              <a:t>Every AI-assisted artifact must include:</a:t>
            </a:r>
            <a:endParaRPr sz="1750" b="0" i="0">
              <a:latin typeface="Consolas"/>
            </a:endParaRPr>
          </a:p>
          <a:p>
            <a:pPr>
              <a:buNone/>
            </a:pPr>
            <a:endParaRPr sz="1750" b="0" i="0">
              <a:latin typeface="Consolas"/>
            </a:endParaRPr>
          </a:p>
          <a:p>
            <a:pPr>
              <a:buNone/>
            </a:pPr>
            <a:r>
              <a:rPr sz="1750">
                <a:latin typeface="Consolas"/>
              </a:rPr>
              <a:t>ai_generated: true</a:t>
            </a:r>
            <a:endParaRPr sz="1750" b="0" i="0">
              <a:latin typeface="Consolas"/>
            </a:endParaRPr>
          </a:p>
          <a:p>
            <a:pPr>
              <a:buNone/>
            </a:pPr>
            <a:r>
              <a:rPr sz="1750">
                <a:latin typeface="Consolas"/>
              </a:rPr>
              <a:t>model: provider/model@version</a:t>
            </a:r>
            <a:endParaRPr sz="1750" b="0" i="0">
              <a:latin typeface="Consolas"/>
            </a:endParaRPr>
          </a:p>
          <a:p>
            <a:pPr>
              <a:buNone/>
            </a:pPr>
            <a:r>
              <a:rPr sz="1750">
                <a:latin typeface="Consolas"/>
              </a:rPr>
              <a:t>operator: username</a:t>
            </a:r>
            <a:endParaRPr sz="1750" b="0" i="0">
              <a:latin typeface="Consolas"/>
            </a:endParaRPr>
          </a:p>
          <a:p>
            <a:pPr>
              <a:buNone/>
            </a:pPr>
            <a:r>
              <a:rPr sz="1750">
                <a:latin typeface="Consolas"/>
              </a:rPr>
              <a:t>chat_id: unique chat identifier</a:t>
            </a:r>
            <a:endParaRPr sz="1750" b="0" i="0">
              <a:latin typeface="Consolas"/>
            </a:endParaRPr>
          </a:p>
          <a:p>
            <a:pPr>
              <a:buNone/>
            </a:pPr>
            <a:r>
              <a:rPr sz="1750">
                <a:latin typeface="Consolas"/>
              </a:rPr>
              <a:t>prompt: exact prompt text</a:t>
            </a:r>
            <a:endParaRPr sz="1750" b="0" i="0">
              <a:latin typeface="Consolas"/>
            </a:endParaRPr>
          </a:p>
          <a:p>
            <a:pPr>
              <a:buNone/>
            </a:pPr>
            <a:r>
              <a:rPr sz="1750">
                <a:latin typeface="Consolas"/>
              </a:rPr>
              <a:t>started/ended: timestamps</a:t>
            </a:r>
            <a:endParaRPr sz="1750" b="0" i="0">
              <a:latin typeface="Consolas"/>
            </a:endParaRPr>
          </a:p>
          <a:p>
            <a:pPr>
              <a:buNone/>
            </a:pPr>
            <a:r>
              <a:rPr sz="1750">
                <a:latin typeface="Consolas"/>
              </a:rPr>
              <a:t>task_durations &amp; total_duration</a:t>
            </a:r>
            <a:endParaRPr sz="1750" b="0" i="0">
              <a:latin typeface="Consolas"/>
            </a:endParaRPr>
          </a:p>
          <a:p>
            <a:pPr>
              <a:buNone/>
            </a:pPr>
            <a:r>
              <a:rPr sz="1750">
                <a:latin typeface="Consolas"/>
              </a:rPr>
              <a:t>ai_log: path to conversation log</a:t>
            </a:r>
            <a:endParaRPr sz="1750" b="0" i="0">
              <a:latin typeface="Consolas"/>
            </a:endParaRPr>
          </a:p>
          <a:p>
            <a:pPr>
              <a:buNone/>
            </a:pPr>
            <a:r>
              <a:rPr sz="1750">
                <a:latin typeface="Consolas"/>
              </a:rPr>
              <a:t>source: who/what created the file</a:t>
            </a:r>
            <a:endParaRPr sz="1750" b="0" i="0">
              <a:latin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Metadata Placement Policy</a:t>
            </a:r>
          </a:p>
        </p:txBody>
      </p:sp>
      <p:sp>
        <p:nvSpPr>
          <p:cNvPr id="3" name="Content Placeholder 2"/>
          <p:cNvSpPr>
            <a:spLocks noGrp="1"/>
          </p:cNvSpPr>
          <p:nvPr>
            <p:ph idx="1"/>
          </p:nvPr>
        </p:nvSpPr>
        <p:spPr/>
        <p:txBody>
          <a:bodyPr wrap="square">
            <a:normAutofit/>
          </a:bodyPr>
          <a:lstStyle/>
          <a:p>
            <a:r>
              <a:rPr sz="2800" b="0" i="0" u="none"/>
              <a:t>Use YAML front matter for Markdown and similar formats</a:t>
            </a:r>
            <a:endParaRPr sz="2800" b="0" i="0">
              <a:latin typeface="Arial"/>
            </a:endParaRPr>
          </a:p>
          <a:p>
            <a:r>
              <a:rPr sz="2800" b="0" i="0" u="none"/>
              <a:t>For binaries/images, use a sidecar &lt;artifact&gt;.meta.md</a:t>
            </a:r>
            <a:endParaRPr sz="2800" b="0" i="0">
              <a:latin typeface="Arial"/>
            </a:endParaRPr>
          </a:p>
          <a:p>
            <a:r>
              <a:rPr sz="2800" b="0" i="0" u="none"/>
              <a:t>Never use sidecars for Markdown</a:t>
            </a:r>
            <a:endParaRPr sz="280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Chat Logging Workflow</a:t>
            </a:r>
          </a:p>
        </p:txBody>
      </p:sp>
      <p:sp>
        <p:nvSpPr>
          <p:cNvPr id="3" name="Content Placeholder 2"/>
          <p:cNvSpPr>
            <a:spLocks noGrp="1"/>
          </p:cNvSpPr>
          <p:nvPr>
            <p:ph idx="1"/>
          </p:nvPr>
        </p:nvSpPr>
        <p:spPr/>
        <p:txBody>
          <a:bodyPr wrap="square">
            <a:normAutofit/>
          </a:bodyPr>
          <a:lstStyle/>
          <a:p>
            <a:r>
              <a:rPr sz="1800" b="0" i="0" u="none"/>
              <a:t>Each chat creates a unique log folder: </a:t>
            </a:r>
            <a:r>
              <a:rPr sz="1800" b="0" i="0" u="none">
                <a:latin typeface="Consolas"/>
              </a:rPr>
              <a:t>ai-logs/yyyy/mm/dd/&lt;chat-id&gt;/</a:t>
            </a:r>
            <a:endParaRPr sz="1800" b="0" i="0">
              <a:latin typeface="Consolas"/>
            </a:endParaRPr>
          </a:p>
          <a:p>
            <a:r>
              <a:rPr sz="1800" b="0" i="0" u="none"/>
              <a:t>Required files:</a:t>
            </a:r>
            <a:endParaRPr sz="1800" b="0" i="0">
              <a:latin typeface="Consolas"/>
            </a:endParaRPr>
          </a:p>
          <a:p>
            <a:pPr lvl="1"/>
            <a:r>
              <a:rPr sz="1800" b="0" i="0" u="none">
                <a:latin typeface="Consolas"/>
              </a:rPr>
              <a:t>conversation.md</a:t>
            </a:r>
            <a:r>
              <a:rPr sz="1800" b="0" i="0" u="none"/>
              <a:t> (full transcript)</a:t>
            </a:r>
            <a:endParaRPr sz="1800" b="0" i="0">
              <a:latin typeface="Consolas"/>
            </a:endParaRPr>
          </a:p>
          <a:p>
            <a:pPr lvl="1"/>
            <a:r>
              <a:rPr sz="1800" b="0" i="0" u="none">
                <a:latin typeface="Consolas"/>
              </a:rPr>
              <a:t>summary.md</a:t>
            </a:r>
            <a:r>
              <a:rPr sz="1800" b="0" i="0" u="none"/>
              <a:t> (objectives, decisions, outcomes)</a:t>
            </a:r>
            <a:endParaRPr sz="1800" b="0" i="0">
              <a:latin typeface="Consolas"/>
            </a:endParaRPr>
          </a:p>
          <a:p>
            <a:pPr lvl="1"/>
            <a:r>
              <a:rPr sz="1800" b="0" i="0" u="none">
                <a:latin typeface="Consolas"/>
              </a:rPr>
              <a:t>artifacts/</a:t>
            </a:r>
            <a:r>
              <a:rPr sz="1800" b="0" i="0" u="none"/>
              <a:t> (optional)</a:t>
            </a:r>
            <a:endParaRPr sz="1800" b="0" i="0">
              <a:latin typeface="Consolas"/>
            </a:endParaRPr>
          </a:p>
          <a:p>
            <a:r>
              <a:rPr sz="1800" b="0" i="0" u="none"/>
              <a:t>Never reuse chat logs between sessions</a:t>
            </a:r>
            <a:endParaRPr sz="1800" b="0" i="0">
              <a:latin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Quality &amp; PR Checklist</a:t>
            </a:r>
          </a:p>
        </p:txBody>
      </p:sp>
      <p:sp>
        <p:nvSpPr>
          <p:cNvPr id="3" name="Content Placeholder 2"/>
          <p:cNvSpPr>
            <a:spLocks noGrp="1"/>
          </p:cNvSpPr>
          <p:nvPr>
            <p:ph idx="1"/>
          </p:nvPr>
        </p:nvSpPr>
        <p:spPr/>
        <p:txBody>
          <a:bodyPr wrap="square">
            <a:normAutofit/>
          </a:bodyPr>
          <a:lstStyle/>
          <a:p>
            <a:r>
              <a:rPr sz="1800" b="0" i="0" u="none"/>
              <a:t>Metadata complete and correct</a:t>
            </a:r>
            <a:endParaRPr sz="1800" b="0" i="0">
              <a:latin typeface="Consolas"/>
            </a:endParaRPr>
          </a:p>
          <a:p>
            <a:r>
              <a:rPr sz="1800" b="0" i="0" u="none"/>
              <a:t>Conversation and summary logs exist</a:t>
            </a:r>
            <a:endParaRPr sz="1800" b="0" i="0">
              <a:latin typeface="Consolas"/>
            </a:endParaRPr>
          </a:p>
          <a:p>
            <a:r>
              <a:rPr sz="1800" b="0" i="0" u="none">
                <a:latin typeface="Consolas"/>
              </a:rPr>
              <a:t>README.md</a:t>
            </a:r>
            <a:r>
              <a:rPr sz="1800" b="0" i="0" u="none"/>
              <a:t> updated for notable artifacts</a:t>
            </a:r>
            <a:endParaRPr sz="1800" b="0" i="0">
              <a:latin typeface="Consolas"/>
            </a:endParaRPr>
          </a:p>
          <a:p>
            <a:r>
              <a:rPr sz="1800" b="0" i="0" u="none"/>
              <a:t>No sensitive data in outputs</a:t>
            </a:r>
            <a:endParaRPr sz="1800" b="0" i="0">
              <a:latin typeface="Consolas"/>
            </a:endParaRPr>
          </a:p>
          <a:p>
            <a:r>
              <a:rPr sz="1800" b="0" i="0" u="none"/>
              <a:t>All AI-generated content traces to a chat log</a:t>
            </a:r>
            <a:endParaRPr sz="1800" b="0" i="0">
              <a:latin typeface="Consola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Copilot Integration Requirements</a:t>
            </a:r>
          </a:p>
        </p:txBody>
      </p:sp>
      <p:sp>
        <p:nvSpPr>
          <p:cNvPr id="3" name="Content Placeholder 2"/>
          <p:cNvSpPr>
            <a:spLocks noGrp="1"/>
          </p:cNvSpPr>
          <p:nvPr>
            <p:ph idx="1"/>
          </p:nvPr>
        </p:nvSpPr>
        <p:spPr/>
        <p:txBody>
          <a:bodyPr wrap="square">
            <a:normAutofit/>
          </a:bodyPr>
          <a:lstStyle/>
          <a:p>
            <a:r>
              <a:rPr sz="2800" b="0" i="0" u="none"/>
              <a:t>Copilot must auto-manage chat IDs and logs</a:t>
            </a:r>
            <a:endParaRPr sz="2800" b="0" i="0">
              <a:latin typeface="Arial"/>
            </a:endParaRPr>
          </a:p>
          <a:p>
            <a:r>
              <a:rPr sz="2800" b="0" i="0" u="none"/>
              <a:t>Metadata injected automatically</a:t>
            </a:r>
            <a:endParaRPr sz="2800" b="0" i="0">
              <a:latin typeface="Arial"/>
            </a:endParaRPr>
          </a:p>
          <a:p>
            <a:r>
              <a:rPr sz="2800" b="0" i="0" u="none"/>
              <a:t>Block artifact creation if chat context is missing</a:t>
            </a:r>
            <a:endParaRPr sz="2800" b="0" i="0">
              <a:latin typeface="Arial"/>
            </a:endParaRPr>
          </a:p>
          <a:p>
            <a:r>
              <a:rPr sz="2800" b="0" i="0" u="none"/>
              <a:t>Enforce provenance before file creation</a:t>
            </a:r>
            <a:endParaRPr sz="2800" b="0" i="0">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Enforcement &amp; Remediation</a:t>
            </a:r>
          </a:p>
        </p:txBody>
      </p:sp>
      <p:sp>
        <p:nvSpPr>
          <p:cNvPr id="3" name="Content Placeholder 2"/>
          <p:cNvSpPr>
            <a:spLocks noGrp="1"/>
          </p:cNvSpPr>
          <p:nvPr>
            <p:ph idx="1"/>
          </p:nvPr>
        </p:nvSpPr>
        <p:spPr/>
        <p:txBody>
          <a:bodyPr wrap="square">
            <a:normAutofit/>
          </a:bodyPr>
          <a:lstStyle/>
          <a:p>
            <a:r>
              <a:rPr sz="2800" b="0" i="0" u="none"/>
              <a:t>PRs blocked if provenance is incomplete</a:t>
            </a:r>
            <a:endParaRPr sz="2800" b="0" i="0">
              <a:latin typeface="Arial"/>
            </a:endParaRPr>
          </a:p>
          <a:p>
            <a:r>
              <a:rPr sz="2800" b="0" i="0" u="none"/>
              <a:t>Missing logs or metadata must be added before merge</a:t>
            </a:r>
            <a:endParaRPr sz="2800" b="0" i="0">
              <a:latin typeface="Arial"/>
            </a:endParaRPr>
          </a:p>
          <a:p>
            <a:r>
              <a:rPr sz="2800" b="0" i="0" u="none"/>
              <a:t>Orphaned artifacts require reconstruction of logs and metadata</a:t>
            </a:r>
            <a:endParaRPr sz="280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Instruction files</a:t>
            </a:r>
          </a:p>
        </p:txBody>
      </p:sp>
      <p:sp>
        <p:nvSpPr>
          <p:cNvPr id="3" name="Content Placeholder 2"/>
          <p:cNvSpPr>
            <a:spLocks noGrp="1"/>
          </p:cNvSpPr>
          <p:nvPr>
            <p:ph idx="1"/>
          </p:nvPr>
        </p:nvSpPr>
        <p:spPr/>
        <p:txBody>
          <a:bodyPr wrap="square">
            <a:normAutofit/>
          </a:bodyPr>
          <a:lstStyle/>
          <a:p>
            <a:pPr>
              <a:buNone/>
            </a:pPr>
            <a:r>
              <a:rPr sz="1800" b="0" i="0" u="none">
                <a:latin typeface="Consolas"/>
              </a:rPr>
              <a:t>agent-file.instructions.md</a:t>
            </a:r>
            <a:endParaRPr sz="1800" b="0" i="0">
              <a:latin typeface="Consolas"/>
            </a:endParaRPr>
          </a:p>
          <a:p>
            <a:pPr lvl="1"/>
            <a:r>
              <a:rPr sz="1800" b="0" i="0" u="none"/>
              <a:t>Defines the structure and contents of agents</a:t>
            </a:r>
            <a:endParaRPr sz="1800" b="0" i="0">
              <a:latin typeface="Consolas"/>
            </a:endParaRPr>
          </a:p>
          <a:p>
            <a:pPr>
              <a:buNone/>
            </a:pPr>
            <a:endParaRPr sz="1800" b="0" i="0">
              <a:latin typeface="Consolas"/>
            </a:endParaRPr>
          </a:p>
          <a:p>
            <a:pPr>
              <a:buNone/>
            </a:pPr>
            <a:r>
              <a:rPr sz="1800" b="0" i="0" u="none">
                <a:latin typeface="Consolas"/>
              </a:rPr>
              <a:t>instruction-files.instructions.md</a:t>
            </a:r>
            <a:endParaRPr sz="1800" b="0" i="0">
              <a:latin typeface="Consolas"/>
            </a:endParaRPr>
          </a:p>
          <a:p>
            <a:pPr lvl="1"/>
            <a:r>
              <a:rPr sz="1800" b="0" i="0" u="none"/>
              <a:t>Defines the structure and contents of instruction files</a:t>
            </a:r>
            <a:endParaRPr sz="1800" b="0" i="0">
              <a:latin typeface="Consolas"/>
            </a:endParaRPr>
          </a:p>
          <a:p>
            <a:pPr>
              <a:buNone/>
            </a:pPr>
            <a:endParaRPr sz="1800" b="0" i="0">
              <a:latin typeface="Consolas"/>
            </a:endParaRPr>
          </a:p>
          <a:p>
            <a:pPr>
              <a:buNone/>
            </a:pPr>
            <a:r>
              <a:rPr sz="1800" b="0" i="0" u="none">
                <a:latin typeface="Consolas"/>
              </a:rPr>
              <a:t>prompt-file.instructions.md</a:t>
            </a:r>
            <a:endParaRPr sz="1800" b="0" i="0">
              <a:latin typeface="Consolas"/>
            </a:endParaRPr>
          </a:p>
          <a:p>
            <a:pPr lvl="1"/>
            <a:r>
              <a:rPr sz="1800" b="0" i="0" u="none"/>
              <a:t>Defines the structure and contents of prompts</a:t>
            </a:r>
            <a:endParaRPr sz="1800" b="0" i="0">
              <a:latin typeface="Consolas"/>
            </a:endParaRPr>
          </a:p>
          <a:p>
            <a:pPr>
              <a:buNone/>
            </a:pPr>
            <a:endParaRPr sz="1800" b="0" i="0">
              <a:latin typeface="Consolas"/>
            </a:endParaRPr>
          </a:p>
          <a:p>
            <a:pPr>
              <a:buNone/>
            </a:pPr>
            <a:r>
              <a:rPr sz="1800" b="0" i="0" u="none">
                <a:latin typeface="Consolas"/>
              </a:rPr>
              <a:t>instruction-prompt-files.instructions.md</a:t>
            </a:r>
            <a:endParaRPr sz="1800" b="0" i="0">
              <a:latin typeface="Consolas"/>
            </a:endParaRPr>
          </a:p>
          <a:p>
            <a:pPr lvl="1"/>
            <a:r>
              <a:rPr sz="1800" b="0" i="0" u="none"/>
              <a:t>Defines the structure and contents of prompts that create instruction files</a:t>
            </a:r>
            <a:endParaRPr sz="1800" b="0" i="0">
              <a:latin typeface="Consola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Exercise: Copy the Core Instructions</a:t>
            </a:r>
          </a:p>
        </p:txBody>
      </p:sp>
      <p:sp>
        <p:nvSpPr>
          <p:cNvPr id="3" name="Content Placeholder 2"/>
          <p:cNvSpPr>
            <a:spLocks noGrp="1"/>
          </p:cNvSpPr>
          <p:nvPr>
            <p:ph sz="half" idx="1"/>
          </p:nvPr>
        </p:nvSpPr>
        <p:spPr/>
        <p:txBody>
          <a:bodyPr wrap="square">
            <a:normAutofit/>
          </a:bodyPr>
          <a:lstStyle/>
          <a:p>
            <a:pPr>
              <a:buNone/>
            </a:pPr>
            <a:r>
              <a:rPr sz="1300" b="0" i="0" u="none"/>
              <a:t>Objectives</a:t>
            </a:r>
          </a:p>
          <a:p>
            <a:pPr lvl="1"/>
            <a:r>
              <a:rPr sz="1300" b="0" i="0" u="none"/>
              <a:t>Understand file organization for AI-assisted output policies</a:t>
            </a:r>
          </a:p>
          <a:p>
            <a:pPr lvl="1"/>
            <a:r>
              <a:rPr sz="1300" b="0" i="0" u="none"/>
              <a:t>Practice copying files between repositories</a:t>
            </a:r>
          </a:p>
          <a:p>
            <a:pPr lvl="1"/>
            <a:r>
              <a:rPr sz="1300" b="0" i="0" u="none"/>
              <a:t>Ensure compliance with output metadata requirements</a:t>
            </a:r>
          </a:p>
          <a:p>
            <a:pPr>
              <a:buNone/>
            </a:pPr>
            <a:endParaRPr sz="1300" b="0" i="0" u="none"/>
          </a:p>
          <a:p>
            <a:pPr>
              <a:buNone/>
            </a:pPr>
            <a:r>
              <a:rPr sz="1300" b="0" i="0" u="none"/>
              <a:t>Activities</a:t>
            </a:r>
          </a:p>
          <a:p>
            <a:pPr lvl="1">
              <a:buNone/>
            </a:pPr>
            <a:r>
              <a:rPr sz="1300" b="0" i="0" u="none"/>
              <a:t>  1. Locate </a:t>
            </a:r>
            <a:r>
              <a:rPr sz="1300" b="0" i="0" u="none">
                <a:latin typeface="Consolas"/>
              </a:rPr>
              <a:t>.github/instructions/ai-assisted-output.instructions.md</a:t>
            </a:r>
            <a:r>
              <a:rPr sz="1300" b="0" i="0" u="none"/>
              <a:t> in the AI-Assisted-Software-Development repository</a:t>
            </a:r>
          </a:p>
          <a:p>
            <a:pPr lvl="1">
              <a:buNone/>
            </a:pPr>
            <a:r>
              <a:rPr sz="1300" b="0" i="0" u="none"/>
              <a:t>  2. Copy the file into the </a:t>
            </a:r>
            <a:r>
              <a:rPr sz="1300" b="0" i="0" u="none">
                <a:latin typeface="Consolas"/>
              </a:rPr>
              <a:t>.github/instructions</a:t>
            </a:r>
            <a:r>
              <a:rPr sz="1300" b="0" i="0" u="none"/>
              <a:t> folder of the current repository</a:t>
            </a:r>
          </a:p>
          <a:p>
            <a:pPr lvl="1">
              <a:buNone/>
            </a:pPr>
            <a:r>
              <a:rPr sz="1300" b="0" i="0" u="none"/>
              <a:t>  3. Copy these files as well:</a:t>
            </a:r>
          </a:p>
          <a:p>
            <a:pPr lvl="2"/>
            <a:r>
              <a:rPr sz="1300" b="0" i="0" u="none">
                <a:latin typeface="Consolas"/>
              </a:rPr>
              <a:t>chatmode-file.instructions.md</a:t>
            </a:r>
          </a:p>
          <a:p>
            <a:pPr lvl="2"/>
            <a:r>
              <a:rPr sz="1300" b="0" i="0" u="none">
                <a:latin typeface="Consolas"/>
              </a:rPr>
              <a:t>instruction-files.instructions.md</a:t>
            </a:r>
          </a:p>
          <a:p>
            <a:pPr lvl="2"/>
            <a:r>
              <a:rPr sz="1300" b="0" i="0" u="none">
                <a:latin typeface="Consolas"/>
              </a:rPr>
              <a:t>instruction-prompt-files.instructions.md</a:t>
            </a:r>
          </a:p>
          <a:p>
            <a:pPr lvl="2"/>
            <a:r>
              <a:rPr sz="1300" b="0" i="0" u="none">
                <a:latin typeface="Consolas"/>
              </a:rPr>
              <a:t>prompt-file.instructions.md</a:t>
            </a:r>
          </a:p>
        </p:txBody>
      </p:sp>
      <p:sp>
        <p:nvSpPr>
          <p:cNvPr id="4" name="Content Placeholder 3"/>
          <p:cNvSpPr>
            <a:spLocks noGrp="1"/>
          </p:cNvSpPr>
          <p:nvPr>
            <p:ph sz="half" idx="2"/>
          </p:nvPr>
        </p:nvSpPr>
        <p:spPr/>
        <p:txBody>
          <a:bodyPr wrap="square">
            <a:normAutofit/>
          </a:bodyPr>
          <a:lstStyle/>
          <a:p>
            <a:pPr>
              <a:buNone/>
            </a:pPr>
            <a:r>
              <a:rPr sz="1400" b="0" i="0" u="none"/>
              <a:t>4. Verify the copied files matches the original</a:t>
            </a:r>
            <a:endParaRPr sz="2800" b="0" i="0">
              <a:latin typeface="Arial"/>
            </a:endParaRPr>
          </a:p>
          <a:p>
            <a:pPr lvl="1">
              <a:buNone/>
            </a:pPr>
            <a:r>
              <a:rPr sz="1400" b="0" i="0" u="none"/>
              <a:t>  5. Review the instructions</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The files are present in the current repo</a:t>
            </a:r>
            <a:endParaRPr sz="2800" b="0" i="0">
              <a:latin typeface="Arial"/>
            </a:endParaRPr>
          </a:p>
          <a:p>
            <a:pPr lvl="1"/>
            <a:r>
              <a:rPr sz="1400" b="0" i="0" u="none"/>
              <a:t>The content matches the source file</a:t>
            </a:r>
            <a:endParaRPr sz="2800" b="0" i="0">
              <a:latin typeface="Arial"/>
            </a:endParaRPr>
          </a:p>
          <a:p>
            <a:pPr lvl="1"/>
            <a:r>
              <a:rPr sz="1400" b="0" i="0" u="none"/>
              <a:t>No metadata or formatting is lost</a:t>
            </a:r>
            <a:endParaRPr sz="2800" b="0" i="0">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300" b="0" i="0" u="none"/>
              <a:t>Exercise: Create an Instruction File for Evergreen Development</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Capture evergreen principles</a:t>
            </a:r>
            <a:endParaRPr sz="2800" b="0" i="0">
              <a:latin typeface="Arial"/>
            </a:endParaRPr>
          </a:p>
          <a:p>
            <a:pPr lvl="1"/>
            <a:r>
              <a:rPr sz="1400" b="0" i="0" u="none"/>
              <a:t>Define architectural boundaries</a:t>
            </a:r>
            <a:endParaRPr sz="2800" b="0" i="0">
              <a:latin typeface="Arial"/>
            </a:endParaRPr>
          </a:p>
          <a:p>
            <a:pPr lvl="1"/>
            <a:r>
              <a:rPr sz="1400" b="0" i="0" u="none"/>
              <a:t>Specify modernization rules</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Submit the Evergreen Instructions prompt</a:t>
            </a:r>
            <a:endParaRPr sz="2800" b="0" i="0">
              <a:latin typeface="Arial"/>
            </a:endParaRPr>
          </a:p>
          <a:p>
            <a:pPr lvl="1">
              <a:buNone/>
            </a:pPr>
            <a:r>
              <a:rPr sz="1400" b="0" i="0" u="none"/>
              <a:t>  2. Review the instructions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Success Criteria</a:t>
            </a:r>
            <a:endParaRPr sz="2800" b="0" i="0">
              <a:latin typeface="Arial"/>
            </a:endParaRPr>
          </a:p>
          <a:p>
            <a:pPr lvl="1"/>
            <a:r>
              <a:rPr sz="1400" b="0" i="0" u="none"/>
              <a:t>Instruction file is stable and reusable</a:t>
            </a:r>
            <a:endParaRPr sz="2800" b="0" i="0">
              <a:latin typeface="Arial"/>
            </a:endParaRPr>
          </a:p>
          <a:p>
            <a:pPr lvl="1"/>
            <a:r>
              <a:rPr sz="1400" b="0" i="0" u="none"/>
              <a:t>Reflects evergreen development values</a:t>
            </a:r>
            <a:endParaRPr sz="2800" b="0" i="0">
              <a:latin typeface="Arial"/>
            </a:endParaRPr>
          </a:p>
          <a:p>
            <a:pPr lvl="1"/>
            <a:r>
              <a:rPr sz="1400" b="0" i="0" u="none"/>
              <a:t>Provides clear guardrails</a:t>
            </a:r>
            <a:endParaRPr sz="2800" b="0" i="0">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Context-Related Issues</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Identify missing context</a:t>
            </a:r>
            <a:endParaRPr sz="2800" b="0" i="0">
              <a:latin typeface="Arial"/>
            </a:endParaRPr>
          </a:p>
          <a:p>
            <a:pPr lvl="1"/>
            <a:r>
              <a:rPr sz="1400" b="0" i="0" u="none"/>
              <a:t>Detect token overflow risks</a:t>
            </a:r>
            <a:endParaRPr sz="2800" b="0" i="0">
              <a:latin typeface="Arial"/>
            </a:endParaRPr>
          </a:p>
          <a:p>
            <a:pPr lvl="1"/>
            <a:r>
              <a:rPr sz="1400" b="0" i="0" u="none"/>
              <a:t>Improve prompt scoping</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Copy the check-context.prompt.md file from the AIASD repository</a:t>
            </a:r>
            <a:endParaRPr sz="2800" b="0" i="0">
              <a:latin typeface="Arial"/>
            </a:endParaRPr>
          </a:p>
          <a:p>
            <a:pPr lvl="1">
              <a:buNone/>
            </a:pPr>
            <a:r>
              <a:rPr sz="1400" b="0" i="0" u="none"/>
              <a:t>  2. Review the prompt</a:t>
            </a:r>
            <a:endParaRPr sz="2800" b="0" i="0">
              <a:latin typeface="Arial"/>
            </a:endParaRPr>
          </a:p>
          <a:p>
            <a:pPr lvl="1">
              <a:buNone/>
            </a:pPr>
            <a:r>
              <a:rPr sz="1400" b="0" i="0" u="none"/>
              <a:t>  3. Submit the prompt</a:t>
            </a:r>
            <a:endParaRPr sz="2800" b="0" i="0">
              <a:latin typeface="Arial"/>
            </a:endParaRPr>
          </a:p>
          <a:p>
            <a:pPr lvl="1">
              <a:buNone/>
            </a:pPr>
            <a:r>
              <a:rPr sz="1400" b="0" i="0" u="none"/>
              <a:t>  4. Review the output</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Success Criteria</a:t>
            </a:r>
            <a:endParaRPr sz="2800" b="0" i="0">
              <a:latin typeface="Arial"/>
            </a:endParaRPr>
          </a:p>
          <a:p>
            <a:pPr lvl="1"/>
            <a:r>
              <a:rPr sz="1400" b="0" i="0" u="none"/>
              <a:t>Correctly identified context gaps</a:t>
            </a:r>
            <a:endParaRPr sz="2800" b="0" i="0">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Instruction Files</a:t>
            </a:r>
          </a:p>
        </p:txBody>
      </p:sp>
      <p:sp>
        <p:nvSpPr>
          <p:cNvPr id="3" name="Subtitle 2"/>
          <p:cNvSpPr>
            <a:spLocks noGrp="1"/>
          </p:cNvSpPr>
          <p:nvPr>
            <p:ph type="subTitle" idx="1"/>
          </p:nvPr>
        </p:nvSpPr>
        <p:spPr/>
        <p:txBody>
          <a:bodyPr wrap="square">
            <a:normAutofit/>
          </a:bodyPr>
          <a:lstStyle/>
          <a:p>
            <a:pPr>
              <a:buNone/>
            </a:pPr>
            <a:r>
              <a:rPr b="0" i="0" u="none"/>
              <a:t>The .editorconfig for Your AI's Soul</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Instruction Files?</a:t>
            </a:r>
          </a:p>
        </p:txBody>
      </p:sp>
      <p:sp>
        <p:nvSpPr>
          <p:cNvPr id="3" name="Content Placeholder 2"/>
          <p:cNvSpPr>
            <a:spLocks noGrp="1"/>
          </p:cNvSpPr>
          <p:nvPr>
            <p:ph idx="1"/>
          </p:nvPr>
        </p:nvSpPr>
        <p:spPr/>
        <p:txBody>
          <a:bodyPr wrap="square">
            <a:normAutofit/>
          </a:bodyPr>
          <a:lstStyle/>
          <a:p>
            <a:r>
              <a:rPr sz="2750" b="0" i="0" u="none"/>
              <a:t>Persistent configuration files that define AI behavior patterns</a:t>
            </a:r>
            <a:endParaRPr sz="2750" b="0" i="0">
              <a:latin typeface="Arial"/>
            </a:endParaRPr>
          </a:p>
          <a:p>
            <a:r>
              <a:rPr sz="2750" b="0" i="0" u="none"/>
              <a:t>Applied automatically across multiple interactions</a:t>
            </a:r>
            <a:endParaRPr sz="2750" b="0" i="0">
              <a:latin typeface="Arial"/>
            </a:endParaRPr>
          </a:p>
          <a:p>
            <a:r>
              <a:rPr sz="2750" b="0" i="0" u="none"/>
              <a:t>Establish consistent working standards and constraints</a:t>
            </a:r>
            <a:endParaRPr sz="2750" b="0" i="0">
              <a:latin typeface="Arial"/>
            </a:endParaRPr>
          </a:p>
          <a:p>
            <a:pPr>
              <a:buNone/>
            </a:pPr>
            <a:endParaRPr sz="2750" b="0" i="0">
              <a:latin typeface="Arial"/>
            </a:endParaRPr>
          </a:p>
          <a:p>
            <a:pPr>
              <a:buNone/>
            </a:pPr>
            <a:r>
              <a:rPr sz="2750" b="0" i="0" u="none"/>
              <a:t>Key Characteristics</a:t>
            </a:r>
            <a:endParaRPr sz="2750" b="0" i="0">
              <a:latin typeface="Arial"/>
            </a:endParaRPr>
          </a:p>
          <a:p>
            <a:r>
              <a:rPr sz="2750" b="0" i="0" u="none"/>
              <a:t>Scope: Repository-wide or context-specific</a:t>
            </a:r>
            <a:endParaRPr sz="2750" b="0" i="0">
              <a:latin typeface="Arial"/>
            </a:endParaRPr>
          </a:p>
          <a:p>
            <a:r>
              <a:rPr sz="2750" b="0" i="0" u="none"/>
              <a:t>Persistence: Active across all relevant AI interactions</a:t>
            </a:r>
            <a:endParaRPr sz="2750" b="0" i="0">
              <a:latin typeface="Arial"/>
            </a:endParaRPr>
          </a:p>
          <a:p>
            <a:r>
              <a:rPr sz="2750" b="0" i="0" u="none"/>
              <a:t>Purpose: Define “how” AI should work, not “what” to do</a:t>
            </a:r>
            <a:endParaRPr sz="2750" b="0" i="0">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Instruction Files: Use Cases</a:t>
            </a:r>
          </a:p>
        </p:txBody>
      </p:sp>
      <p:sp>
        <p:nvSpPr>
          <p:cNvPr id="3" name="Content Placeholder 2"/>
          <p:cNvSpPr>
            <a:spLocks noGrp="1"/>
          </p:cNvSpPr>
          <p:nvPr>
            <p:ph idx="1"/>
          </p:nvPr>
        </p:nvSpPr>
        <p:spPr/>
        <p:txBody>
          <a:bodyPr wrap="square">
            <a:normAutofit/>
          </a:bodyPr>
          <a:lstStyle/>
          <a:p>
            <a:pPr>
              <a:buNone/>
            </a:pPr>
            <a:r>
              <a:rPr sz="2000" b="0" i="0" u="none"/>
              <a:t>Perfect For:</a:t>
            </a:r>
            <a:endParaRPr sz="2000" b="0" i="0">
              <a:latin typeface="Arial"/>
            </a:endParaRPr>
          </a:p>
          <a:p>
            <a:r>
              <a:rPr sz="2000" b="0" i="0" u="none"/>
              <a:t>Coding Standards → Consistent style across projects</a:t>
            </a:r>
            <a:endParaRPr sz="2000" b="0" i="0">
              <a:latin typeface="Arial"/>
            </a:endParaRPr>
          </a:p>
          <a:p>
            <a:r>
              <a:rPr sz="2000" b="0" i="0" u="none"/>
              <a:t>Security Policies → Enforce security practices</a:t>
            </a:r>
            <a:endParaRPr sz="2000" b="0" i="0">
              <a:latin typeface="Arial"/>
            </a:endParaRPr>
          </a:p>
          <a:p>
            <a:r>
              <a:rPr sz="2000" b="0" i="0" u="none"/>
              <a:t>Quality Gates → Define testing and review requirements</a:t>
            </a:r>
            <a:endParaRPr sz="2000" b="0" i="0">
              <a:latin typeface="Arial"/>
            </a:endParaRPr>
          </a:p>
          <a:p>
            <a:r>
              <a:rPr sz="2000" b="0" i="0" u="none"/>
              <a:t>Technology Constraints → Specify approved frameworks/tools</a:t>
            </a:r>
            <a:endParaRPr sz="2000" b="0" i="0">
              <a:latin typeface="Arial"/>
            </a:endParaRPr>
          </a:p>
          <a:p>
            <a:pPr>
              <a:buNone/>
            </a:pPr>
            <a:endParaRPr sz="2000" b="0" i="0">
              <a:latin typeface="Arial"/>
            </a:endParaRPr>
          </a:p>
          <a:p>
            <a:pPr>
              <a:buNone/>
            </a:pPr>
            <a:r>
              <a:rPr sz="2000" b="0" i="0" u="none"/>
              <a:t>Examples:</a:t>
            </a:r>
            <a:endParaRPr sz="2000" b="0" i="0">
              <a:latin typeface="Arial"/>
            </a:endParaRPr>
          </a:p>
          <a:p>
            <a:r>
              <a:rPr sz="2000" b="0" i="0" u="none"/>
              <a:t>azure-development.instructions.md</a:t>
            </a:r>
            <a:endParaRPr sz="2000" b="0" i="0">
              <a:latin typeface="Arial"/>
            </a:endParaRPr>
          </a:p>
          <a:p>
            <a:r>
              <a:rPr sz="2000" b="0" i="0" u="none"/>
              <a:t>testing-standards.instructions.md</a:t>
            </a:r>
            <a:endParaRPr sz="2000" b="0" i="0">
              <a:latin typeface="Arial"/>
            </a:endParaRPr>
          </a:p>
          <a:p>
            <a:r>
              <a:rPr sz="2000" b="0" i="0" u="none"/>
              <a:t>security-requirements.instructions.md</a:t>
            </a:r>
            <a:endParaRPr sz="2000" b="0" i="0">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Copilot User Instruction Files</a:t>
            </a:r>
          </a:p>
        </p:txBody>
      </p:sp>
      <p:sp>
        <p:nvSpPr>
          <p:cNvPr id="3" name="Content Placeholder 2"/>
          <p:cNvSpPr>
            <a:spLocks noGrp="1"/>
          </p:cNvSpPr>
          <p:nvPr>
            <p:ph idx="1"/>
          </p:nvPr>
        </p:nvSpPr>
        <p:spPr/>
        <p:txBody>
          <a:bodyPr wrap="square">
            <a:normAutofit/>
          </a:bodyPr>
          <a:lstStyle/>
          <a:p>
            <a:r>
              <a:rPr sz="2800" b="0" i="0" u="none"/>
              <a:t>Scope your rules to match where they matter</a:t>
            </a:r>
            <a:endParaRPr sz="2800" b="0" i="0">
              <a:latin typeface="Arial"/>
            </a:endParaRPr>
          </a:p>
          <a:p>
            <a:r>
              <a:rPr sz="2800" b="0" i="0" u="none"/>
              <a:t>Keep guidance specific, testable, and safe</a:t>
            </a:r>
            <a:endParaRPr sz="2800" b="0" i="0">
              <a:latin typeface="Arial"/>
            </a:endParaRPr>
          </a:p>
          <a:p>
            <a:r>
              <a:rPr sz="2800" b="0" i="0" u="none"/>
              <a:t>Reduce prompt repetition across teams</a:t>
            </a:r>
            <a:endParaRPr sz="280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Rule categories in the example file</a:t>
            </a:r>
          </a:p>
        </p:txBody>
      </p:sp>
      <p:graphicFrame>
        <p:nvGraphicFramePr>
          <p:cNvPr id="3" name="Table 2"/>
          <p:cNvGraphicFramePr>
            <a:graphicFrameLocks noGrp="1"/>
          </p:cNvGraphicFramePr>
          <p:nvPr/>
        </p:nvGraphicFramePr>
        <p:xfrm>
          <a:off x="1219200" y="1828800"/>
          <a:ext cx="9753600" cy="32004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Category</a:t>
                      </a:r>
                    </a:p>
                  </a:txBody>
                  <a:tcPr>
                    <a:solidFill>
                      <a:schemeClr val="accent4"/>
                    </a:solidFill>
                  </a:tcPr>
                </a:tc>
                <a:tc>
                  <a:txBody>
                    <a:bodyPr/>
                    <a:lstStyle/>
                    <a:p>
                      <a:pPr>
                        <a:buNone/>
                        <a:defRPr sz="1600" b="1">
                          <a:solidFill>
                            <a:schemeClr val="bg1"/>
                          </a:solidFill>
                        </a:defRPr>
                      </a:pPr>
                      <a:r>
                        <a:rPr sz="1600" b="0" i="0" u="none"/>
                        <a:t>Example behavior</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Prioritization</a:t>
                      </a:r>
                    </a:p>
                  </a:txBody>
                  <a:tcPr>
                    <a:solidFill>
                      <a:schemeClr val="accent4">
                        <a:lumMod val="20000"/>
                        <a:lumOff val="80000"/>
                      </a:schemeClr>
                    </a:solidFill>
                  </a:tcPr>
                </a:tc>
                <a:tc>
                  <a:txBody>
                    <a:bodyPr/>
                    <a:lstStyle/>
                    <a:p>
                      <a:pPr>
                        <a:buNone/>
                        <a:defRPr sz="1600" b="0">
                          <a:solidFill>
                            <a:schemeClr val="tx1"/>
                          </a:solidFill>
                        </a:defRPr>
                      </a:pPr>
                      <a:r>
                        <a:rPr sz="1600" b="0" i="0" u="none"/>
                        <a:t>Start with the concrete ask</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Confidence</a:t>
                      </a:r>
                    </a:p>
                  </a:txBody>
                  <a:tcPr>
                    <a:solidFill>
                      <a:schemeClr val="accent4">
                        <a:lumMod val="8000"/>
                        <a:lumOff val="92000"/>
                      </a:schemeClr>
                    </a:solidFill>
                  </a:tcPr>
                </a:tc>
                <a:tc>
                  <a:txBody>
                    <a:bodyPr/>
                    <a:lstStyle/>
                    <a:p>
                      <a:pPr>
                        <a:buNone/>
                        <a:defRPr sz="1600" b="0">
                          <a:solidFill>
                            <a:schemeClr val="tx1"/>
                          </a:solidFill>
                        </a:defRPr>
                      </a:pPr>
                      <a:r>
                        <a:rPr sz="1600" b="0" i="0" u="none"/>
                        <a:t>Ask clarifying questions when intent is low</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Scope control</a:t>
                      </a:r>
                    </a:p>
                  </a:txBody>
                  <a:tcPr>
                    <a:solidFill>
                      <a:schemeClr val="accent4">
                        <a:lumMod val="20000"/>
                        <a:lumOff val="80000"/>
                      </a:schemeClr>
                    </a:solidFill>
                  </a:tcPr>
                </a:tc>
                <a:tc>
                  <a:txBody>
                    <a:bodyPr/>
                    <a:lstStyle/>
                    <a:p>
                      <a:pPr>
                        <a:buNone/>
                        <a:defRPr sz="1600" b="0">
                          <a:solidFill>
                            <a:schemeClr val="tx1"/>
                          </a:solidFill>
                        </a:defRPr>
                      </a:pPr>
                      <a:r>
                        <a:rPr sz="1600" b="0" i="0" u="none"/>
                        <a:t>Read only relevant files and code</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Simplicity</a:t>
                      </a:r>
                    </a:p>
                  </a:txBody>
                  <a:tcPr>
                    <a:solidFill>
                      <a:schemeClr val="accent4">
                        <a:lumMod val="8000"/>
                        <a:lumOff val="92000"/>
                      </a:schemeClr>
                    </a:solidFill>
                  </a:tcPr>
                </a:tc>
                <a:tc>
                  <a:txBody>
                    <a:bodyPr/>
                    <a:lstStyle/>
                    <a:p>
                      <a:pPr>
                        <a:buNone/>
                        <a:defRPr sz="1600" b="0">
                          <a:solidFill>
                            <a:schemeClr val="tx1"/>
                          </a:solidFill>
                        </a:defRPr>
                      </a:pPr>
                      <a:r>
                        <a:rPr sz="1600" b="0" i="0" u="none"/>
                        <a:t>Prefer straightforward solutions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Safety</a:t>
                      </a:r>
                    </a:p>
                  </a:txBody>
                  <a:tcPr>
                    <a:solidFill>
                      <a:schemeClr val="accent4">
                        <a:lumMod val="20000"/>
                        <a:lumOff val="80000"/>
                      </a:schemeClr>
                    </a:solidFill>
                  </a:tcPr>
                </a:tc>
                <a:tc>
                  <a:txBody>
                    <a:bodyPr/>
                    <a:lstStyle/>
                    <a:p>
                      <a:pPr>
                        <a:buNone/>
                        <a:defRPr sz="1600" b="0">
                          <a:solidFill>
                            <a:schemeClr val="tx1"/>
                          </a:solidFill>
                        </a:defRPr>
                      </a:pPr>
                      <a:r>
                        <a:rPr sz="1600" b="0" i="0" u="none"/>
                        <a:t>Avoid insecure or privacy-risking guidance</a:t>
                      </a:r>
                    </a:p>
                  </a:txBody>
                  <a:tcPr>
                    <a:solidFill>
                      <a:schemeClr val="accent4">
                        <a:lumMod val="20000"/>
                        <a:lumOff val="80000"/>
                      </a:schemeClr>
                    </a:solidFill>
                  </a:tcPr>
                </a:tc>
                <a:extLst>
                  <a:ext uri="{0D108BD9-81ED-4DB2-BD59-A6C34878D82A}">
                    <a16:rowId xmlns:a16="http://schemas.microsoft.com/office/drawing/2014/main" val="10005"/>
                  </a:ext>
                </a:extLst>
              </a:tr>
              <a:tr h="457200">
                <a:tc>
                  <a:txBody>
                    <a:bodyPr/>
                    <a:lstStyle/>
                    <a:p>
                      <a:pPr>
                        <a:buNone/>
                        <a:defRPr sz="1600" b="0">
                          <a:solidFill>
                            <a:schemeClr val="tx1"/>
                          </a:solidFill>
                        </a:defRPr>
                      </a:pPr>
                      <a:r>
                        <a:rPr sz="1600" b="0" i="0" u="none"/>
                        <a:t>Validation</a:t>
                      </a:r>
                    </a:p>
                  </a:txBody>
                  <a:tcPr>
                    <a:solidFill>
                      <a:schemeClr val="accent4">
                        <a:lumMod val="8000"/>
                        <a:lumOff val="92000"/>
                      </a:schemeClr>
                    </a:solidFill>
                  </a:tcPr>
                </a:tc>
                <a:tc>
                  <a:txBody>
                    <a:bodyPr/>
                    <a:lstStyle/>
                    <a:p>
                      <a:pPr>
                        <a:buNone/>
                        <a:defRPr sz="1600" b="0">
                          <a:solidFill>
                            <a:schemeClr val="tx1"/>
                          </a:solidFill>
                        </a:defRPr>
                      </a:pPr>
                      <a:r>
                        <a:rPr sz="1600" b="0" i="0" u="none"/>
                        <a:t>Test or verify when feasible</a:t>
                      </a:r>
                    </a:p>
                  </a:txBody>
                  <a:tcPr>
                    <a:solidFill>
                      <a:schemeClr val="accent4">
                        <a:lumMod val="8000"/>
                        <a:lumOff val="92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3100" b="0" i="0" u="none"/>
              <a:t>How instruction files shape Copilot responses</a:t>
            </a:r>
          </a:p>
        </p:txBody>
      </p:sp>
      <p:pic>
        <p:nvPicPr>
          <p:cNvPr id="3" name="Picture 2" descr="e68f1bf3cd8fc53339f0b10705895810b6738222.png"/>
          <p:cNvPicPr>
            <a:picLocks noChangeAspect="1"/>
          </p:cNvPicPr>
          <p:nvPr/>
        </p:nvPicPr>
        <p:blipFill>
          <a:blip r:embed="rId3"/>
          <a:stretch>
            <a:fillRect/>
          </a:stretch>
        </p:blipFill>
        <p:spPr>
          <a:xfrm>
            <a:off x="4472179" y="1068150"/>
            <a:ext cx="2552874" cy="5673057"/>
          </a:xfrm>
          <a:prstGeom prst="rect">
            <a:avLst/>
          </a:prstGeom>
          <a:noFill/>
        </p:spPr>
      </p:pic>
      <p:sp>
        <p:nvSpPr>
          <p:cNvPr id="8" name="Content Placeholder 3">
            <a:extLst>
              <a:ext uri="{FF2B5EF4-FFF2-40B4-BE49-F238E27FC236}">
                <a16:creationId xmlns:a16="http://schemas.microsoft.com/office/drawing/2014/main" id="{54401168-B86F-8212-F11C-D8ECB33F5699}"/>
              </a:ext>
            </a:extLst>
          </p:cNvPr>
          <p:cNvSpPr>
            <a:spLocks noGrp="1"/>
          </p:cNvSpPr>
          <p:nvPr>
            <p:ph sz="half" idx="2"/>
          </p:nvPr>
        </p:nvSpPr>
        <p:spPr>
          <a:xfrm>
            <a:off x="6172200" y="1463752"/>
            <a:ext cx="5181600" cy="4351338"/>
          </a:xfrm>
        </p:spPr>
        <p:txBody>
          <a:bodyPr/>
          <a:lstStyle/>
          <a:p>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50" b="0" i="0" u="none"/>
              <a:t>Authoring checklist for high-quality instruction files</a:t>
            </a:r>
          </a:p>
        </p:txBody>
      </p:sp>
      <p:sp>
        <p:nvSpPr>
          <p:cNvPr id="3" name="Content Placeholder 2"/>
          <p:cNvSpPr>
            <a:spLocks noGrp="1"/>
          </p:cNvSpPr>
          <p:nvPr>
            <p:ph idx="1"/>
          </p:nvPr>
        </p:nvSpPr>
        <p:spPr/>
        <p:txBody>
          <a:bodyPr wrap="square">
            <a:normAutofit/>
          </a:bodyPr>
          <a:lstStyle/>
          <a:p>
            <a:pPr>
              <a:buNone/>
            </a:pPr>
            <a:r>
              <a:rPr sz="1750" b="0" i="0" u="none"/>
              <a:t>1. Use clear priorities in descending order</a:t>
            </a:r>
            <a:endParaRPr sz="1750" b="0" i="0">
              <a:latin typeface="Arial"/>
            </a:endParaRPr>
          </a:p>
          <a:p>
            <a:pPr>
              <a:buNone/>
            </a:pPr>
            <a:r>
              <a:rPr sz="1750" b="0" i="0" u="none"/>
              <a:t>2. Write concrete, testable rules</a:t>
            </a:r>
            <a:endParaRPr sz="1750" b="0" i="0">
              <a:latin typeface="Arial"/>
            </a:endParaRPr>
          </a:p>
          <a:p>
            <a:pPr>
              <a:buNone/>
            </a:pPr>
            <a:r>
              <a:rPr sz="1750" b="0" i="0" u="none"/>
              <a:t>3. Separate global rules from path-specific rules</a:t>
            </a:r>
            <a:endParaRPr sz="1750" b="0" i="0">
              <a:latin typeface="Arial"/>
            </a:endParaRPr>
          </a:p>
          <a:p>
            <a:pPr>
              <a:buNone/>
            </a:pPr>
            <a:r>
              <a:rPr sz="1750" b="0" i="0" u="none"/>
              <a:t>4. Keep language short and operational</a:t>
            </a:r>
            <a:endParaRPr sz="1750" b="0" i="0">
              <a:latin typeface="Arial"/>
            </a:endParaRPr>
          </a:p>
          <a:p>
            <a:pPr>
              <a:buNone/>
            </a:pPr>
            <a:r>
              <a:rPr sz="1750" b="0" i="0" u="none"/>
              <a:t>5. Review and prune outdated directives regularly</a:t>
            </a:r>
            <a:endParaRPr sz="1750" b="0" i="0">
              <a:latin typeface="Arial"/>
            </a:endParaRPr>
          </a:p>
          <a:p>
            <a:pPr>
              <a:buNone/>
            </a:pPr>
            <a:endParaRPr sz="1750" b="0" i="0">
              <a:latin typeface="Arial"/>
            </a:endParaRPr>
          </a:p>
          <a:p>
            <a:pPr>
              <a:buNone/>
            </a:pPr>
            <a:r>
              <a:rPr sz="1750" b="0" i="0" u="none"/>
              <a:t>Anti-patterns to avoid:</a:t>
            </a:r>
            <a:endParaRPr sz="1750" b="0" i="0">
              <a:latin typeface="Arial"/>
            </a:endParaRPr>
          </a:p>
          <a:p>
            <a:pPr>
              <a:buNone/>
            </a:pPr>
            <a:endParaRPr sz="1750" b="0" i="0">
              <a:latin typeface="Arial"/>
            </a:endParaRPr>
          </a:p>
          <a:p>
            <a:r>
              <a:rPr sz="1750" b="0" i="0" u="none"/>
              <a:t>Conflicting rules with unclear precedence</a:t>
            </a:r>
            <a:endParaRPr sz="1750" b="0" i="0">
              <a:latin typeface="Arial"/>
            </a:endParaRPr>
          </a:p>
          <a:p>
            <a:r>
              <a:rPr sz="1750" b="0" i="0" u="none"/>
              <a:t>Vague goals like "be better" without measurable criteria</a:t>
            </a:r>
            <a:endParaRPr sz="1750" b="0" i="0">
              <a:latin typeface="Arial"/>
            </a:endParaRPr>
          </a:p>
          <a:p>
            <a:r>
              <a:rPr sz="1750" b="0" i="0" u="none"/>
              <a:t>Oversized files with duplicated guidance</a:t>
            </a:r>
            <a:endParaRPr sz="1750" b="0" i="0">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00" b="0" i="0" u="none"/>
              <a:t>Practical before and after behavior</a:t>
            </a:r>
          </a:p>
        </p:txBody>
      </p:sp>
      <p:sp>
        <p:nvSpPr>
          <p:cNvPr id="3" name="Content Placeholder 2"/>
          <p:cNvSpPr>
            <a:spLocks noGrp="1"/>
          </p:cNvSpPr>
          <p:nvPr>
            <p:ph idx="1"/>
          </p:nvPr>
        </p:nvSpPr>
        <p:spPr/>
        <p:txBody>
          <a:bodyPr wrap="square">
            <a:normAutofit/>
          </a:bodyPr>
          <a:lstStyle/>
          <a:p>
            <a:pPr>
              <a:buNone/>
            </a:pPr>
            <a:r>
              <a:rPr sz="1350" b="0" i="0" u="none"/>
              <a:t>Prompt: "Add tests for this parser and fix edge cases"</a:t>
            </a:r>
            <a:endParaRPr sz="1350" b="0" i="0">
              <a:latin typeface="Arial"/>
            </a:endParaRPr>
          </a:p>
          <a:p>
            <a:pPr>
              <a:buNone/>
            </a:pPr>
            <a:endParaRPr sz="1350" b="0" i="0">
              <a:latin typeface="Arial"/>
            </a:endParaRPr>
          </a:p>
          <a:p>
            <a:pPr>
              <a:buNone/>
            </a:pPr>
            <a:r>
              <a:rPr sz="1350" b="0" i="0" u="none"/>
              <a:t>Without strong instruction rules:</a:t>
            </a:r>
            <a:endParaRPr sz="1350" b="0" i="0">
              <a:latin typeface="Arial"/>
            </a:endParaRPr>
          </a:p>
          <a:p>
            <a:pPr>
              <a:buNone/>
            </a:pPr>
            <a:endParaRPr sz="1350" b="0" i="0">
              <a:latin typeface="Arial"/>
            </a:endParaRPr>
          </a:p>
          <a:p>
            <a:r>
              <a:rPr sz="1350" b="0" i="0" u="none"/>
              <a:t>Broad repository scanning</a:t>
            </a:r>
            <a:endParaRPr sz="1350" b="0" i="0">
              <a:latin typeface="Arial"/>
            </a:endParaRPr>
          </a:p>
          <a:p>
            <a:r>
              <a:rPr sz="1350" b="0" i="0" u="none"/>
              <a:t>Generic tests with weak edge coverage</a:t>
            </a:r>
            <a:endParaRPr sz="1350" b="0" i="0">
              <a:latin typeface="Arial"/>
            </a:endParaRPr>
          </a:p>
          <a:p>
            <a:r>
              <a:rPr sz="1350" b="0" i="0" u="none"/>
              <a:t>Long explanation before direct fix</a:t>
            </a:r>
            <a:endParaRPr sz="1350" b="0" i="0">
              <a:latin typeface="Arial"/>
            </a:endParaRPr>
          </a:p>
          <a:p>
            <a:pPr>
              <a:buNone/>
            </a:pPr>
            <a:endParaRPr sz="1350" b="0" i="0">
              <a:latin typeface="Arial"/>
            </a:endParaRPr>
          </a:p>
          <a:p>
            <a:pPr>
              <a:buNone/>
            </a:pPr>
            <a:r>
              <a:rPr sz="1350" b="0" i="0" u="none"/>
              <a:t>With the example instruction file:</a:t>
            </a:r>
            <a:endParaRPr sz="1350" b="0" i="0">
              <a:latin typeface="Arial"/>
            </a:endParaRPr>
          </a:p>
          <a:p>
            <a:pPr>
              <a:buNone/>
            </a:pPr>
            <a:endParaRPr sz="1350" b="0" i="0">
              <a:latin typeface="Arial"/>
            </a:endParaRPr>
          </a:p>
          <a:p>
            <a:r>
              <a:rPr sz="1350" b="0" i="0" u="none"/>
              <a:t>Direct request handled first</a:t>
            </a:r>
            <a:endParaRPr sz="1350" b="0" i="0">
              <a:latin typeface="Arial"/>
            </a:endParaRPr>
          </a:p>
          <a:p>
            <a:r>
              <a:rPr sz="1350" b="0" i="0" u="none"/>
              <a:t>Minimal, relevant file reads</a:t>
            </a:r>
            <a:endParaRPr sz="1350" b="0" i="0">
              <a:latin typeface="Arial"/>
            </a:endParaRPr>
          </a:p>
          <a:p>
            <a:r>
              <a:rPr sz="1350" b="0" i="0" u="none"/>
              <a:t>Focused edge-case tests and concise report</a:t>
            </a:r>
            <a:endParaRPr sz="1350" b="0" i="0">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Scoped vs Non‑Scoped Instructions</a:t>
            </a:r>
          </a:p>
        </p:txBody>
      </p:sp>
      <p:sp>
        <p:nvSpPr>
          <p:cNvPr id="3" name="Subtitle 2"/>
          <p:cNvSpPr>
            <a:spLocks noGrp="1"/>
          </p:cNvSpPr>
          <p:nvPr>
            <p:ph type="subTitle" idx="1"/>
          </p:nvPr>
        </p:nvSpPr>
        <p:spPr/>
        <p:txBody>
          <a:bodyPr wrap="square">
            <a:normAutofit/>
          </a:bodyPr>
          <a:lstStyle/>
          <a:p>
            <a:pPr>
              <a:buNone/>
            </a:pPr>
            <a:r>
              <a:rPr b="0" i="0" u="none"/>
              <a:t>Choosing the Right Instruction File Type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Scoped </a:t>
            </a:r>
            <a:r>
              <a:rPr sz="3800" b="0" i="0" u="none">
                <a:latin typeface="Consolas"/>
              </a:rPr>
              <a:t>&lt;name&gt;.instructions.md</a:t>
            </a:r>
            <a:r>
              <a:rPr sz="3800" b="0" i="0" u="none"/>
              <a:t> files</a:t>
            </a:r>
          </a:p>
        </p:txBody>
      </p:sp>
      <p:sp>
        <p:nvSpPr>
          <p:cNvPr id="3" name="Content Placeholder 2"/>
          <p:cNvSpPr>
            <a:spLocks noGrp="1"/>
          </p:cNvSpPr>
          <p:nvPr>
            <p:ph idx="1"/>
          </p:nvPr>
        </p:nvSpPr>
        <p:spPr/>
        <p:txBody>
          <a:bodyPr wrap="square">
            <a:normAutofit/>
          </a:bodyPr>
          <a:lstStyle/>
          <a:p>
            <a:r>
              <a:rPr sz="1800" b="0" i="0" u="none"/>
              <a:t>Apply </a:t>
            </a:r>
            <a:r>
              <a:rPr sz="1800" b="1" i="0" u="none"/>
              <a:t>only</a:t>
            </a:r>
            <a:r>
              <a:rPr sz="1800" b="0" i="0" u="none"/>
              <a:t> when </a:t>
            </a:r>
            <a:r>
              <a:rPr sz="1800" b="0" i="0" u="none">
                <a:latin typeface="Consolas"/>
              </a:rPr>
              <a:t>applyTo</a:t>
            </a:r>
            <a:r>
              <a:rPr sz="1800" b="0" i="0" u="none"/>
              <a:t> matches</a:t>
            </a:r>
            <a:endParaRPr sz="1800" b="0" i="0">
              <a:latin typeface="Consolas"/>
            </a:endParaRPr>
          </a:p>
          <a:p>
            <a:r>
              <a:rPr sz="1800" b="0" i="0" u="none"/>
              <a:t>Can </a:t>
            </a:r>
            <a:r>
              <a:rPr sz="1800" b="1" i="0" u="none"/>
              <a:t>exclude</a:t>
            </a:r>
            <a:r>
              <a:rPr sz="1800" b="0" i="0" u="none"/>
              <a:t> paths</a:t>
            </a:r>
            <a:endParaRPr sz="1800" b="0" i="0">
              <a:latin typeface="Consolas"/>
            </a:endParaRPr>
          </a:p>
          <a:p>
            <a:r>
              <a:rPr sz="1800" b="0" i="0" u="none"/>
              <a:t>For </a:t>
            </a:r>
            <a:r>
              <a:rPr sz="1800" b="1" i="0" u="none"/>
              <a:t>language‑, framework‑, or domain‑specific rules</a:t>
            </a:r>
            <a:endParaRPr sz="1800" b="0" i="0">
              <a:latin typeface="Consolas"/>
            </a:endParaRPr>
          </a:p>
          <a:p>
            <a:r>
              <a:rPr sz="1800" b="0" i="0" u="none"/>
              <a:t>Ideal for precision control</a:t>
            </a:r>
            <a:endParaRPr sz="1800" b="0" i="0">
              <a:latin typeface="Consolas"/>
            </a:endParaRPr>
          </a:p>
          <a:p>
            <a:r>
              <a:rPr sz="1800" b="0" i="0" u="none"/>
              <a:t>Best for </a:t>
            </a:r>
            <a:r>
              <a:rPr sz="1800" b="1" i="0" u="none"/>
              <a:t>targeted, contextual guidance</a:t>
            </a:r>
            <a:endParaRPr sz="1800" b="0" i="0">
              <a:latin typeface="Consola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Repo‑level </a:t>
            </a:r>
            <a:r>
              <a:rPr b="0" i="0" u="none">
                <a:latin typeface="Consolas"/>
              </a:rPr>
              <a:t>.md</a:t>
            </a:r>
            <a:r>
              <a:rPr b="0" i="0" u="none"/>
              <a:t> files</a:t>
            </a:r>
          </a:p>
        </p:txBody>
      </p:sp>
      <p:sp>
        <p:nvSpPr>
          <p:cNvPr id="3" name="Content Placeholder 2"/>
          <p:cNvSpPr>
            <a:spLocks noGrp="1"/>
          </p:cNvSpPr>
          <p:nvPr>
            <p:ph idx="1"/>
          </p:nvPr>
        </p:nvSpPr>
        <p:spPr/>
        <p:txBody>
          <a:bodyPr wrap="square">
            <a:normAutofit/>
          </a:bodyPr>
          <a:lstStyle/>
          <a:p>
            <a:r>
              <a:rPr sz="1800" b="0" i="0" u="none"/>
              <a:t>Apply </a:t>
            </a:r>
            <a:r>
              <a:rPr sz="1800" b="1" i="0" u="none"/>
              <a:t>everywhere</a:t>
            </a:r>
            <a:r>
              <a:rPr sz="1800" b="0" i="0" u="none"/>
              <a:t> in the repo</a:t>
            </a:r>
            <a:endParaRPr sz="1800" b="0" i="0">
              <a:latin typeface="Consolas"/>
            </a:endParaRPr>
          </a:p>
          <a:p>
            <a:r>
              <a:rPr sz="1800" b="0" i="0" u="none"/>
              <a:t>Always included</a:t>
            </a:r>
            <a:endParaRPr sz="1800" b="0" i="0">
              <a:latin typeface="Consolas"/>
            </a:endParaRPr>
          </a:p>
          <a:p>
            <a:r>
              <a:rPr sz="1800" b="0" i="0" u="none"/>
              <a:t>For </a:t>
            </a:r>
            <a:r>
              <a:rPr sz="1800" b="1" i="0" u="none"/>
              <a:t>universal rules</a:t>
            </a:r>
            <a:r>
              <a:rPr sz="1800" b="0" i="0" u="none"/>
              <a:t>: style, security, logging, architecture</a:t>
            </a:r>
            <a:endParaRPr sz="1800" b="0" i="0">
              <a:latin typeface="Consolas"/>
            </a:endParaRPr>
          </a:p>
          <a:p>
            <a:r>
              <a:rPr sz="1800" b="0" i="0" u="none"/>
              <a:t>No </a:t>
            </a:r>
            <a:r>
              <a:rPr sz="1800" b="0" i="0" u="none">
                <a:latin typeface="Consolas"/>
              </a:rPr>
              <a:t>applyTo</a:t>
            </a:r>
            <a:r>
              <a:rPr sz="1800" b="0" i="0" u="none"/>
              <a:t> / </a:t>
            </a:r>
            <a:r>
              <a:rPr sz="1800" b="0" i="0" u="none">
                <a:latin typeface="Consolas"/>
              </a:rPr>
              <a:t>exclude</a:t>
            </a:r>
            <a:r>
              <a:rPr sz="1800" b="0" i="0" u="none"/>
              <a:t> support</a:t>
            </a:r>
            <a:endParaRPr sz="1800" b="0" i="0">
              <a:latin typeface="Consolas"/>
            </a:endParaRPr>
          </a:p>
          <a:p>
            <a:r>
              <a:rPr sz="1800" b="0" i="0" u="none"/>
              <a:t>Best for </a:t>
            </a:r>
            <a:r>
              <a:rPr sz="1800" b="1" i="0" u="none"/>
              <a:t>global, evergreen guidance</a:t>
            </a:r>
            <a:endParaRPr sz="1800" b="0" i="0">
              <a:latin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Decision Rule</a:t>
            </a:r>
          </a:p>
        </p:txBody>
      </p:sp>
      <p:sp>
        <p:nvSpPr>
          <p:cNvPr id="3" name="Content Placeholder 2"/>
          <p:cNvSpPr>
            <a:spLocks noGrp="1"/>
          </p:cNvSpPr>
          <p:nvPr>
            <p:ph idx="1"/>
          </p:nvPr>
        </p:nvSpPr>
        <p:spPr/>
        <p:txBody>
          <a:bodyPr wrap="square">
            <a:normAutofit/>
          </a:bodyPr>
          <a:lstStyle/>
          <a:p>
            <a:r>
              <a:rPr sz="1800" b="0" i="0" u="none"/>
              <a:t>If it should apply </a:t>
            </a:r>
            <a:r>
              <a:rPr sz="1800" b="1" i="0" u="none"/>
              <a:t>repo‑wide</a:t>
            </a:r>
            <a:r>
              <a:rPr sz="1800" b="0" i="0" u="none"/>
              <a:t> → use </a:t>
            </a:r>
            <a:r>
              <a:rPr sz="1800" b="0" i="0" u="none">
                <a:latin typeface="Consolas"/>
              </a:rPr>
              <a:t>.md</a:t>
            </a:r>
            <a:endParaRPr sz="1800" b="0" i="0">
              <a:latin typeface="Consolas"/>
            </a:endParaRPr>
          </a:p>
          <a:p>
            <a:r>
              <a:rPr sz="1800" b="0" i="0" u="none"/>
              <a:t>If it should apply </a:t>
            </a:r>
            <a:r>
              <a:rPr sz="1800" b="1" i="0" u="none"/>
              <a:t>only in certain paths</a:t>
            </a:r>
            <a:r>
              <a:rPr sz="1800" b="0" i="0" u="none"/>
              <a:t> → use </a:t>
            </a:r>
            <a:r>
              <a:rPr sz="1800" b="0" i="0" u="none">
                <a:latin typeface="Consolas"/>
              </a:rPr>
              <a:t>.instructions.md</a:t>
            </a:r>
            <a:endParaRPr sz="1800" b="0" i="0">
              <a:latin typeface="Consolas"/>
            </a:endParaRPr>
          </a:p>
          <a:p>
            <a:r>
              <a:rPr sz="1800" b="0" i="0" u="none"/>
              <a:t>If you need </a:t>
            </a:r>
            <a:r>
              <a:rPr sz="1800" b="1" i="0" u="none"/>
              <a:t>exclusions</a:t>
            </a:r>
            <a:r>
              <a:rPr sz="1800" b="0" i="0" u="none"/>
              <a:t> → must use </a:t>
            </a:r>
            <a:r>
              <a:rPr sz="1800" b="0" i="0" u="none">
                <a:latin typeface="Consolas"/>
              </a:rPr>
              <a:t>.instructions.md</a:t>
            </a:r>
            <a:endParaRPr sz="1800" b="0" i="0">
              <a:latin typeface="Consola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latin typeface="Consolas"/>
              </a:rPr>
              <a:t>exclude:</a:t>
            </a:r>
            <a:r>
              <a:rPr b="0" i="0" u="none"/>
              <a:t> in Practice</a:t>
            </a:r>
          </a:p>
        </p:txBody>
      </p:sp>
      <p:sp>
        <p:nvSpPr>
          <p:cNvPr id="3" name="Content Placeholder 2"/>
          <p:cNvSpPr>
            <a:spLocks noGrp="1"/>
          </p:cNvSpPr>
          <p:nvPr>
            <p:ph idx="1"/>
          </p:nvPr>
        </p:nvSpPr>
        <p:spPr/>
        <p:txBody>
          <a:bodyPr wrap="square">
            <a:normAutofit/>
          </a:bodyPr>
          <a:lstStyle/>
          <a:p>
            <a:endParaRPr sz="1800" b="0" i="0">
              <a:latin typeface="Consolas"/>
            </a:endParaRPr>
          </a:p>
          <a:p>
            <a:pPr>
              <a:buNone/>
            </a:pPr>
            <a:r>
              <a:rPr sz="1800">
                <a:latin typeface="Consolas"/>
              </a:rPr>
              <a:t>applyTo:</a:t>
            </a:r>
            <a:endParaRPr sz="1800" b="0" i="0">
              <a:latin typeface="Consolas"/>
            </a:endParaRPr>
          </a:p>
          <a:p>
            <a:pPr>
              <a:buNone/>
            </a:pPr>
            <a:r>
              <a:rPr sz="1800">
                <a:latin typeface="Consolas"/>
              </a:rPr>
              <a:t>  - "src/**"</a:t>
            </a:r>
            <a:endParaRPr sz="1800" b="0" i="0">
              <a:latin typeface="Consolas"/>
            </a:endParaRPr>
          </a:p>
          <a:p>
            <a:pPr>
              <a:buNone/>
            </a:pPr>
            <a:r>
              <a:rPr sz="1800">
                <a:latin typeface="Consolas"/>
              </a:rPr>
              <a:t>exclude:</a:t>
            </a:r>
            <a:endParaRPr sz="1800" b="0" i="0">
              <a:latin typeface="Consolas"/>
            </a:endParaRPr>
          </a:p>
          <a:p>
            <a:pPr>
              <a:buNone/>
            </a:pPr>
            <a:r>
              <a:rPr sz="1800">
                <a:latin typeface="Consolas"/>
              </a:rPr>
              <a:t>  - "src/experimental/**"</a:t>
            </a:r>
            <a:endParaRPr sz="1800" b="0" i="0">
              <a:latin typeface="Consolas"/>
            </a:endParaRPr>
          </a:p>
          <a:p>
            <a:pPr>
              <a:buNone/>
            </a:pPr>
            <a:r>
              <a:rPr sz="1800">
                <a:latin typeface="Consolas"/>
              </a:rPr>
              <a:t>  - "src/legacy/*.js"</a:t>
            </a:r>
            <a:endParaRPr sz="1800" b="0" i="0">
              <a:latin typeface="Consolas"/>
            </a:endParaRPr>
          </a:p>
          <a:p>
            <a:pPr>
              <a:buNone/>
            </a:pPr>
            <a:endParaRPr sz="1800" b="0" i="0">
              <a:latin typeface="Consolas"/>
            </a:endParaRPr>
          </a:p>
          <a:p>
            <a:r>
              <a:rPr sz="1800" b="0" i="0" u="none"/>
              <a:t>Scope instructions to </a:t>
            </a:r>
            <a:r>
              <a:rPr sz="1800" b="0" i="0" u="none">
                <a:latin typeface="Consolas"/>
              </a:rPr>
              <a:t>src/</a:t>
            </a:r>
            <a:r>
              <a:rPr sz="1800" b="0" i="0" u="none"/>
              <a:t> but carve out experimental and legacy paths</a:t>
            </a:r>
            <a:endParaRPr sz="1800" b="0" i="0">
              <a:latin typeface="Consolas"/>
            </a:endParaRPr>
          </a:p>
          <a:p>
            <a:r>
              <a:rPr sz="1800" b="0" i="0" u="none"/>
              <a:t>Only available with </a:t>
            </a:r>
            <a:r>
              <a:rPr sz="1800" b="0" i="0" u="none">
                <a:latin typeface="Consolas"/>
              </a:rPr>
              <a:t>.instructions.md</a:t>
            </a:r>
            <a:r>
              <a:rPr sz="1800" b="0" i="0" u="none"/>
              <a:t> files (not repo‑level </a:t>
            </a:r>
            <a:r>
              <a:rPr sz="1800" b="0" i="0" u="none">
                <a:latin typeface="Consolas"/>
              </a:rPr>
              <a:t>.md</a:t>
            </a:r>
            <a:r>
              <a:rPr sz="1800" b="0" i="0" u="none"/>
              <a:t>)</a:t>
            </a:r>
            <a:endParaRPr sz="1800" b="0" i="0">
              <a:latin typeface="Consola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Instruction File applyTo Patterns</a:t>
            </a:r>
          </a:p>
        </p:txBody>
      </p:sp>
      <p:sp>
        <p:nvSpPr>
          <p:cNvPr id="3" name="Subtitle 2"/>
          <p:cNvSpPr>
            <a:spLocks noGrp="1"/>
          </p:cNvSpPr>
          <p:nvPr>
            <p:ph type="subTitle" idx="1"/>
          </p:nvPr>
        </p:nvSpPr>
        <p:spPr/>
        <p:txBody>
          <a:bodyPr wrap="square">
            <a:normAutofit/>
          </a:bodyPr>
          <a:lstStyle/>
          <a:p>
            <a:pPr>
              <a:buNone/>
            </a:pPr>
            <a:r>
              <a:rPr b="0" i="0" u="none"/>
              <a:t>Glob Patterns: The Bouncer at Your AI's Door</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Instruction File </a:t>
            </a:r>
            <a:r>
              <a:rPr b="0" i="0" u="none">
                <a:latin typeface="Consolas"/>
              </a:rPr>
              <a:t>applyTo</a:t>
            </a:r>
            <a:r>
              <a:rPr b="0" i="0" u="none"/>
              <a:t> Patterns</a:t>
            </a:r>
          </a:p>
        </p:txBody>
      </p:sp>
      <p:sp>
        <p:nvSpPr>
          <p:cNvPr id="3" name="Content Placeholder 2"/>
          <p:cNvSpPr>
            <a:spLocks noGrp="1"/>
          </p:cNvSpPr>
          <p:nvPr>
            <p:ph idx="1"/>
          </p:nvPr>
        </p:nvSpPr>
        <p:spPr/>
        <p:txBody>
          <a:bodyPr wrap="square">
            <a:normAutofit/>
          </a:bodyPr>
          <a:lstStyle/>
          <a:p>
            <a:pPr>
              <a:buNone/>
            </a:pPr>
            <a:r>
              <a:rPr sz="2800" b="1" i="0" u="none"/>
              <a:t>Understanding Glob Pattern Matching</a:t>
            </a:r>
            <a:endParaRPr sz="2800" b="0" i="0">
              <a:latin typeface="Arial"/>
            </a:endParaRPr>
          </a:p>
          <a:p>
            <a:pPr>
              <a:buNone/>
            </a:pPr>
            <a:endParaRPr sz="2800" b="0" i="0">
              <a:latin typeface="Arial"/>
            </a:endParaRPr>
          </a:p>
          <a:p>
            <a:pPr>
              <a:buNone/>
            </a:pPr>
            <a:r>
              <a:rPr sz="2800" b="0" i="0" u="none"/>
              <a:t>Controlling When Instructions Apply to Your Code</a:t>
            </a:r>
            <a:endParaRPr sz="2800" b="0" i="0">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Where </a:t>
            </a:r>
            <a:r>
              <a:rPr b="0" i="0" u="none">
                <a:latin typeface="Consolas"/>
              </a:rPr>
              <a:t>appliesTo</a:t>
            </a:r>
            <a:r>
              <a:rPr b="0" i="0" u="none"/>
              <a:t> Fits</a:t>
            </a:r>
          </a:p>
        </p:txBody>
      </p:sp>
      <p:sp>
        <p:nvSpPr>
          <p:cNvPr id="3" name="Content Placeholder 2"/>
          <p:cNvSpPr>
            <a:spLocks noGrp="1"/>
          </p:cNvSpPr>
          <p:nvPr>
            <p:ph idx="1"/>
          </p:nvPr>
        </p:nvSpPr>
        <p:spPr/>
        <p:txBody>
          <a:bodyPr wrap="square">
            <a:normAutofit/>
          </a:bodyPr>
          <a:lstStyle/>
          <a:p>
            <a:pPr>
              <a:buNone/>
            </a:pPr>
            <a:r>
              <a:rPr sz="1750" b="0" i="0" u="none"/>
              <a:t>The filtering mechanism for instruction files.</a:t>
            </a:r>
            <a:endParaRPr sz="1750" b="0" i="0">
              <a:latin typeface="Consolas"/>
            </a:endParaRPr>
          </a:p>
          <a:p>
            <a:pPr>
              <a:buNone/>
            </a:pPr>
            <a:endParaRPr sz="1750" b="0" i="0">
              <a:latin typeface="Consolas"/>
            </a:endParaRPr>
          </a:p>
          <a:p>
            <a:pPr>
              <a:buNone/>
            </a:pPr>
            <a:r>
              <a:rPr sz="1750" b="0" i="0" u="none">
                <a:latin typeface="Consolas"/>
              </a:rPr>
              <a:t>appliesTo</a:t>
            </a:r>
            <a:r>
              <a:rPr sz="1750" b="0" i="0" u="none"/>
              <a:t> is a </a:t>
            </a:r>
            <a:r>
              <a:rPr sz="1750" b="1" i="0" u="none"/>
              <a:t>selector</a:t>
            </a:r>
            <a:r>
              <a:rPr sz="1750" b="0" i="0" u="none"/>
              <a:t> that determines </a:t>
            </a:r>
            <a:r>
              <a:rPr sz="1750" b="0" i="1" u="none"/>
              <a:t>when</a:t>
            </a:r>
            <a:r>
              <a:rPr sz="1750" b="0" i="0" u="none"/>
              <a:t> an instruction file is included in the stack.</a:t>
            </a:r>
            <a:endParaRPr sz="1750" b="0" i="0">
              <a:latin typeface="Consolas"/>
            </a:endParaRPr>
          </a:p>
          <a:p>
            <a:pPr>
              <a:buNone/>
            </a:pPr>
            <a:endParaRPr sz="1750" b="0" i="0">
              <a:latin typeface="Consolas"/>
            </a:endParaRPr>
          </a:p>
          <a:p>
            <a:pPr>
              <a:buNone/>
            </a:pPr>
            <a:r>
              <a:rPr sz="1750" b="1" i="0" u="none"/>
              <a:t>Common selectors</a:t>
            </a:r>
            <a:endParaRPr sz="1750" b="0" i="0">
              <a:latin typeface="Consolas"/>
            </a:endParaRPr>
          </a:p>
          <a:p>
            <a:pPr>
              <a:buNone/>
            </a:pPr>
            <a:endParaRPr sz="1750" b="0" i="0">
              <a:latin typeface="Consolas"/>
            </a:endParaRPr>
          </a:p>
          <a:p>
            <a:r>
              <a:rPr sz="1750" b="1" i="0" u="none"/>
              <a:t>repositories</a:t>
            </a:r>
            <a:r>
              <a:rPr sz="1750" b="0" i="0" u="none"/>
              <a:t> -- specific repos only</a:t>
            </a:r>
            <a:endParaRPr sz="1750" b="0" i="0">
              <a:latin typeface="Consolas"/>
            </a:endParaRPr>
          </a:p>
          <a:p>
            <a:r>
              <a:rPr sz="1750" b="1" i="0" u="none"/>
              <a:t>languages</a:t>
            </a:r>
            <a:r>
              <a:rPr sz="1750" b="0" i="0" u="none"/>
              <a:t> -- certain languages only</a:t>
            </a:r>
            <a:endParaRPr sz="1750" b="0" i="0">
              <a:latin typeface="Consolas"/>
            </a:endParaRPr>
          </a:p>
          <a:p>
            <a:r>
              <a:rPr sz="1750" b="1" i="0" u="none"/>
              <a:t>filePatterns</a:t>
            </a:r>
            <a:r>
              <a:rPr sz="1750" b="0" i="0" u="none"/>
              <a:t> -- specific files only</a:t>
            </a:r>
            <a:endParaRPr sz="1750" b="0" i="0">
              <a:latin typeface="Consolas"/>
            </a:endParaRPr>
          </a:p>
          <a:p>
            <a:r>
              <a:rPr sz="1750" b="1" i="0" u="none"/>
              <a:t>tools</a:t>
            </a:r>
            <a:r>
              <a:rPr sz="1750" b="0" i="0" u="none"/>
              <a:t> -- certain Copilot features only</a:t>
            </a:r>
            <a:endParaRPr sz="1750" b="0" i="0">
              <a:latin typeface="Consolas"/>
            </a:endParaRPr>
          </a:p>
          <a:p>
            <a:r>
              <a:rPr sz="1750" b="1" i="0" u="none"/>
              <a:t>scopes</a:t>
            </a:r>
            <a:r>
              <a:rPr sz="1750" b="0" i="0" u="none"/>
              <a:t> -- chat only, editor only, and similar contexts</a:t>
            </a:r>
            <a:endParaRPr sz="1750" b="0" i="0">
              <a:latin typeface="Consola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50" b="0" i="0" u="none"/>
              <a:t>How </a:t>
            </a:r>
            <a:r>
              <a:rPr sz="3650" b="0" i="0" u="none">
                <a:latin typeface="Consolas"/>
              </a:rPr>
              <a:t>appliesTo</a:t>
            </a:r>
            <a:r>
              <a:rPr sz="3650" b="0" i="0" u="none"/>
              <a:t> Interacts with the Stack</a:t>
            </a:r>
          </a:p>
        </p:txBody>
      </p:sp>
      <p:sp>
        <p:nvSpPr>
          <p:cNvPr id="3" name="Content Placeholder 2"/>
          <p:cNvSpPr>
            <a:spLocks noGrp="1"/>
          </p:cNvSpPr>
          <p:nvPr>
            <p:ph idx="1"/>
          </p:nvPr>
        </p:nvSpPr>
        <p:spPr/>
        <p:txBody>
          <a:bodyPr wrap="square">
            <a:normAutofit/>
          </a:bodyPr>
          <a:lstStyle/>
          <a:p>
            <a:pPr>
              <a:buNone/>
            </a:pPr>
            <a:r>
              <a:rPr sz="1800" b="0" i="0" u="none"/>
              <a:t>Filtering happens </a:t>
            </a:r>
            <a:r>
              <a:rPr sz="1800" b="0" i="1" u="none"/>
              <a:t>before</a:t>
            </a:r>
            <a:r>
              <a:rPr sz="1800" b="0" i="0" u="none"/>
              <a:t> merging</a:t>
            </a:r>
            <a:endParaRPr sz="1800" b="0" i="0">
              <a:latin typeface="Consolas"/>
            </a:endParaRPr>
          </a:p>
          <a:p>
            <a:pPr>
              <a:buNone/>
            </a:pPr>
            <a:endParaRPr sz="1800" b="0" i="0">
              <a:latin typeface="Consolas"/>
            </a:endParaRPr>
          </a:p>
          <a:p>
            <a:pPr>
              <a:buNone/>
            </a:pPr>
            <a:r>
              <a:rPr sz="1800" b="0" i="0" u="none"/>
              <a:t>1.  Copilot discovers all instruction files in scope</a:t>
            </a:r>
            <a:endParaRPr sz="1800" b="0" i="0">
              <a:latin typeface="Consolas"/>
            </a:endParaRPr>
          </a:p>
          <a:p>
            <a:pPr>
              <a:buNone/>
            </a:pPr>
            <a:r>
              <a:rPr sz="1800" b="0" i="0" u="none"/>
              <a:t>2.  Copilot filters them using </a:t>
            </a:r>
            <a:r>
              <a:rPr sz="1800" b="0" i="0" u="none">
                <a:latin typeface="Consolas"/>
              </a:rPr>
              <a:t>appliesTo</a:t>
            </a:r>
            <a:endParaRPr sz="1800" b="0" i="0">
              <a:latin typeface="Consolas"/>
            </a:endParaRPr>
          </a:p>
          <a:p>
            <a:pPr>
              <a:buNone/>
            </a:pPr>
            <a:r>
              <a:rPr sz="1800" b="0" i="0" u="none"/>
              <a:t>3.  Copilot merges the remaining files into the stack</a:t>
            </a:r>
            <a:endParaRPr sz="1800" b="0" i="0">
              <a:latin typeface="Consola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Universal Application</a:t>
            </a:r>
          </a:p>
        </p:txBody>
      </p:sp>
      <p:sp>
        <p:nvSpPr>
          <p:cNvPr id="3" name="Content Placeholder 2"/>
          <p:cNvSpPr>
            <a:spLocks noGrp="1"/>
          </p:cNvSpPr>
          <p:nvPr>
            <p:ph idx="1"/>
          </p:nvPr>
        </p:nvSpPr>
        <p:spPr/>
        <p:txBody>
          <a:bodyPr wrap="square">
            <a:normAutofit/>
          </a:bodyPr>
          <a:lstStyle/>
          <a:p>
            <a:pPr>
              <a:buNone/>
            </a:pPr>
            <a:r>
              <a:rPr sz="1700" b="0" i="0" u="none"/>
              <a:t>Apply instructions to </a:t>
            </a:r>
            <a:r>
              <a:rPr sz="1700" b="1" i="0" u="none"/>
              <a:t>all files</a:t>
            </a:r>
            <a:r>
              <a:rPr sz="1700" b="0" i="0" u="none"/>
              <a:t> in the repository:</a:t>
            </a:r>
            <a:endParaRPr sz="1700" b="0" i="0">
              <a:latin typeface="Consolas"/>
            </a:endParaRPr>
          </a:p>
          <a:p>
            <a:pPr>
              <a:buNone/>
            </a:pPr>
            <a:endParaRPr sz="1700" b="0" i="0">
              <a:latin typeface="Consolas"/>
            </a:endParaRPr>
          </a:p>
          <a:p>
            <a:pPr>
              <a:buNone/>
            </a:pPr>
            <a:r>
              <a:rPr sz="1700">
                <a:latin typeface="Consolas"/>
              </a:rPr>
              <a:t>applyTo: "**"        # All files</a:t>
            </a:r>
            <a:endParaRPr sz="1700" b="0" i="0">
              <a:latin typeface="Consolas"/>
            </a:endParaRPr>
          </a:p>
          <a:p>
            <a:pPr>
              <a:buNone/>
            </a:pPr>
            <a:r>
              <a:rPr sz="1700">
                <a:latin typeface="Consolas"/>
              </a:rPr>
              <a:t>applyTo: "**/*"      # All files (explicit)</a:t>
            </a:r>
            <a:endParaRPr sz="1700" b="0" i="0">
              <a:latin typeface="Consolas"/>
            </a:endParaRPr>
          </a:p>
          <a:p>
            <a:pPr>
              <a:buNone/>
            </a:pPr>
            <a:endParaRPr sz="1700" b="0" i="0">
              <a:latin typeface="Consolas"/>
            </a:endParaRPr>
          </a:p>
          <a:p>
            <a:pPr>
              <a:buNone/>
            </a:pPr>
            <a:r>
              <a:rPr sz="1700" b="1" i="0" u="none"/>
              <a:t>Use Cases:</a:t>
            </a:r>
            <a:endParaRPr sz="1700" b="0" i="0">
              <a:latin typeface="Consolas"/>
            </a:endParaRPr>
          </a:p>
          <a:p>
            <a:pPr lvl="1"/>
            <a:r>
              <a:rPr sz="1700" b="0" i="0" u="none"/>
              <a:t>AI-assisted output policies</a:t>
            </a:r>
            <a:endParaRPr sz="1700" b="0" i="0">
              <a:latin typeface="Consolas"/>
            </a:endParaRPr>
          </a:p>
          <a:p>
            <a:pPr lvl="1"/>
            <a:r>
              <a:rPr sz="1700" b="0" i="0" u="none"/>
              <a:t>General code quality standards</a:t>
            </a:r>
            <a:endParaRPr sz="1700" b="0" i="0">
              <a:latin typeface="Consolas"/>
            </a:endParaRPr>
          </a:p>
          <a:p>
            <a:pPr lvl="1"/>
            <a:r>
              <a:rPr sz="1700" b="0" i="0" u="none"/>
              <a:t>Repository-wide conventions</a:t>
            </a:r>
            <a:endParaRPr sz="1700" b="0" i="0">
              <a:latin typeface="Consolas"/>
            </a:endParaRPr>
          </a:p>
          <a:p>
            <a:pPr lvl="1"/>
            <a:r>
              <a:rPr sz="1700" b="0" i="0" u="none"/>
              <a:t>Copilot behavior guidelines</a:t>
            </a:r>
            <a:endParaRPr sz="1700" b="0" i="0">
              <a:latin typeface="Consolas"/>
            </a:endParaRPr>
          </a:p>
          <a:p>
            <a:pPr>
              <a:buNone/>
            </a:pPr>
            <a:endParaRPr sz="1700" b="0" i="0">
              <a:latin typeface="Consolas"/>
            </a:endParaRPr>
          </a:p>
          <a:p>
            <a:pPr>
              <a:buNone/>
            </a:pPr>
            <a:r>
              <a:rPr sz="1700" b="1" i="0" u="none"/>
              <a:t>Caution:</a:t>
            </a:r>
            <a:r>
              <a:rPr sz="1700" b="0" i="0" u="none"/>
              <a:t> Use sparingly - can create conflicts with more specific instructions</a:t>
            </a:r>
            <a:endParaRPr sz="1700" b="0" i="0">
              <a:latin typeface="Consola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lang="en-US" b="0" i="0" u="none" dirty="0"/>
              <a:t> </a:t>
            </a:r>
            <a:r>
              <a:rPr b="0" i="0" u="none" dirty="0"/>
              <a:t>File Extension Matching</a:t>
            </a:r>
          </a:p>
        </p:txBody>
      </p:sp>
      <p:sp>
        <p:nvSpPr>
          <p:cNvPr id="3" name="Content Placeholder 2"/>
          <p:cNvSpPr>
            <a:spLocks noGrp="1"/>
          </p:cNvSpPr>
          <p:nvPr>
            <p:ph idx="1"/>
          </p:nvPr>
        </p:nvSpPr>
        <p:spPr/>
        <p:txBody>
          <a:bodyPr wrap="square">
            <a:normAutofit/>
          </a:bodyPr>
          <a:lstStyle/>
          <a:p>
            <a:pPr>
              <a:buNone/>
            </a:pPr>
            <a:r>
              <a:rPr sz="1500" b="0" i="0" u="none"/>
              <a:t>Target specific file types using extension patterns:</a:t>
            </a:r>
            <a:endParaRPr sz="1500" b="0" i="0">
              <a:latin typeface="Consolas"/>
            </a:endParaRPr>
          </a:p>
          <a:p>
            <a:pPr>
              <a:buNone/>
            </a:pPr>
            <a:endParaRPr sz="1500" b="0" i="0">
              <a:latin typeface="Consolas"/>
            </a:endParaRPr>
          </a:p>
          <a:p>
            <a:pPr>
              <a:buNone/>
            </a:pPr>
            <a:r>
              <a:rPr sz="1500">
                <a:latin typeface="Consolas"/>
              </a:rPr>
              <a:t>applyTo: "**/*.md"</a:t>
            </a:r>
            <a:endParaRPr sz="1500" b="0" i="0">
              <a:latin typeface="Consolas"/>
            </a:endParaRPr>
          </a:p>
          <a:p>
            <a:pPr>
              <a:buNone/>
            </a:pPr>
            <a:endParaRPr sz="1500" b="0" i="0">
              <a:latin typeface="Consolas"/>
            </a:endParaRPr>
          </a:p>
          <a:p>
            <a:pPr>
              <a:buNone/>
            </a:pPr>
            <a:r>
              <a:rPr sz="1500">
                <a:latin typeface="Consolas"/>
              </a:rPr>
              <a:t>applyTo: "**/*.{cs,ts,js}"</a:t>
            </a:r>
            <a:endParaRPr sz="1500" b="0" i="0">
              <a:latin typeface="Consolas"/>
            </a:endParaRPr>
          </a:p>
          <a:p>
            <a:pPr>
              <a:buNone/>
            </a:pPr>
            <a:endParaRPr sz="1500" b="0" i="0">
              <a:latin typeface="Consolas"/>
            </a:endParaRPr>
          </a:p>
          <a:p>
            <a:pPr>
              <a:buNone/>
            </a:pPr>
            <a:r>
              <a:rPr sz="1500">
                <a:latin typeface="Consolas"/>
              </a:rPr>
              <a:t>applyTo: "**/*.instructions.md"</a:t>
            </a:r>
            <a:endParaRPr sz="1500" b="0" i="0">
              <a:latin typeface="Consolas"/>
            </a:endParaRPr>
          </a:p>
          <a:p>
            <a:pPr>
              <a:buNone/>
            </a:pPr>
            <a:endParaRPr sz="1500" b="0" i="0">
              <a:latin typeface="Consolas"/>
            </a:endParaRPr>
          </a:p>
          <a:p>
            <a:pPr>
              <a:buNone/>
            </a:pPr>
            <a:r>
              <a:rPr sz="1500" b="1" i="0" u="none"/>
              <a:t>Most Common:</a:t>
            </a:r>
            <a:endParaRPr sz="1500" b="0" i="0">
              <a:latin typeface="Consolas"/>
            </a:endParaRPr>
          </a:p>
          <a:p>
            <a:pPr lvl="1"/>
            <a:r>
              <a:rPr sz="1500" b="0" i="0" u="none">
                <a:latin typeface="Consolas"/>
              </a:rPr>
              <a:t>**/*.md</a:t>
            </a:r>
            <a:r>
              <a:rPr sz="1500" b="0" i="0" u="none"/>
              <a:t> - All Markdown files</a:t>
            </a:r>
            <a:endParaRPr sz="1500" b="0" i="0">
              <a:latin typeface="Consolas"/>
            </a:endParaRPr>
          </a:p>
          <a:p>
            <a:pPr lvl="1"/>
            <a:r>
              <a:rPr sz="1500" b="0" i="0" u="none">
                <a:latin typeface="Consolas"/>
              </a:rPr>
              <a:t>**/*.{cs,ts,js,py}</a:t>
            </a:r>
            <a:r>
              <a:rPr sz="1500" b="0" i="0" u="none"/>
              <a:t> - Multiple programming languages</a:t>
            </a:r>
            <a:endParaRPr sz="1500" b="0" i="0">
              <a:latin typeface="Consolas"/>
            </a:endParaRPr>
          </a:p>
          <a:p>
            <a:pPr lvl="1"/>
            <a:r>
              <a:rPr sz="1500" b="0" i="0" u="none">
                <a:latin typeface="Consolas"/>
              </a:rPr>
              <a:t>**/*.test.js</a:t>
            </a:r>
            <a:r>
              <a:rPr sz="1500" b="0" i="0" u="none"/>
              <a:t> - Test files</a:t>
            </a:r>
            <a:endParaRPr sz="1500" b="0" i="0">
              <a:latin typeface="Consolas"/>
            </a:endParaRPr>
          </a:p>
          <a:p>
            <a:pPr lvl="1"/>
            <a:r>
              <a:rPr sz="1500" b="0" i="0" u="none">
                <a:latin typeface="Consolas"/>
              </a:rPr>
              <a:t>**/*.instructions.md</a:t>
            </a:r>
            <a:r>
              <a:rPr sz="1500" b="0" i="0" u="none"/>
              <a:t> - Instruction files</a:t>
            </a:r>
            <a:endParaRPr sz="1500" b="0" i="0">
              <a:latin typeface="Consola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dirty="0"/>
              <a:t>Directory-Specific Patterns</a:t>
            </a:r>
          </a:p>
        </p:txBody>
      </p:sp>
      <p:sp>
        <p:nvSpPr>
          <p:cNvPr id="3" name="Content Placeholder 2"/>
          <p:cNvSpPr>
            <a:spLocks noGrp="1"/>
          </p:cNvSpPr>
          <p:nvPr>
            <p:ph idx="1"/>
          </p:nvPr>
        </p:nvSpPr>
        <p:spPr/>
        <p:txBody>
          <a:bodyPr wrap="square">
            <a:normAutofit/>
          </a:bodyPr>
          <a:lstStyle/>
          <a:p>
            <a:pPr>
              <a:buNone/>
            </a:pPr>
            <a:r>
              <a:rPr sz="1650" b="0" i="0" u="none"/>
              <a:t>Limit instructions to specific directories:</a:t>
            </a:r>
            <a:endParaRPr sz="1650" b="0" i="0">
              <a:latin typeface="Consolas"/>
            </a:endParaRPr>
          </a:p>
          <a:p>
            <a:pPr>
              <a:buNone/>
            </a:pPr>
            <a:endParaRPr sz="1650" b="0" i="0">
              <a:latin typeface="Consolas"/>
            </a:endParaRPr>
          </a:p>
          <a:p>
            <a:pPr>
              <a:buNone/>
            </a:pPr>
            <a:r>
              <a:rPr sz="1650">
                <a:latin typeface="Consolas"/>
              </a:rPr>
              <a:t>applyTo: "slides/marp/**"</a:t>
            </a:r>
            <a:endParaRPr sz="1650" b="0" i="0">
              <a:latin typeface="Consolas"/>
            </a:endParaRPr>
          </a:p>
          <a:p>
            <a:pPr>
              <a:buNone/>
            </a:pPr>
            <a:endParaRPr sz="1650" b="0" i="0">
              <a:latin typeface="Consolas"/>
            </a:endParaRPr>
          </a:p>
          <a:p>
            <a:pPr>
              <a:buNone/>
            </a:pPr>
            <a:r>
              <a:rPr sz="1650">
                <a:latin typeface="Consolas"/>
              </a:rPr>
              <a:t>applyTo: "src/Features/**/*.cs"</a:t>
            </a:r>
            <a:endParaRPr sz="1650" b="0" i="0">
              <a:latin typeface="Consolas"/>
            </a:endParaRPr>
          </a:p>
          <a:p>
            <a:pPr>
              <a:buNone/>
            </a:pPr>
            <a:endParaRPr sz="1650" b="0" i="0">
              <a:latin typeface="Consolas"/>
            </a:endParaRPr>
          </a:p>
          <a:p>
            <a:pPr>
              <a:buNone/>
            </a:pPr>
            <a:r>
              <a:rPr sz="1650">
                <a:latin typeface="Consolas"/>
              </a:rPr>
              <a:t>applyTo: ".github/instructions/**/*.md"</a:t>
            </a:r>
            <a:endParaRPr sz="1650" b="0" i="0">
              <a:latin typeface="Consolas"/>
            </a:endParaRPr>
          </a:p>
          <a:p>
            <a:pPr>
              <a:buNone/>
            </a:pPr>
            <a:endParaRPr sz="1650" b="0" i="0">
              <a:latin typeface="Consolas"/>
            </a:endParaRPr>
          </a:p>
          <a:p>
            <a:pPr>
              <a:buNone/>
            </a:pPr>
            <a:r>
              <a:rPr sz="1650" b="1" i="0" u="none"/>
              <a:t>Benefits:</a:t>
            </a:r>
            <a:endParaRPr sz="1650" b="0" i="0">
              <a:latin typeface="Consolas"/>
            </a:endParaRPr>
          </a:p>
          <a:p>
            <a:pPr lvl="1"/>
            <a:r>
              <a:rPr sz="1650" b="0" i="0" u="none"/>
              <a:t>Isolate concerns (slides vs code vs docs)</a:t>
            </a:r>
            <a:endParaRPr sz="1650" b="0" i="0">
              <a:latin typeface="Consolas"/>
            </a:endParaRPr>
          </a:p>
          <a:p>
            <a:pPr lvl="1"/>
            <a:r>
              <a:rPr sz="1650" b="0" i="0" u="none"/>
              <a:t>Different rules for different project areas</a:t>
            </a:r>
            <a:endParaRPr sz="1650" b="0" i="0">
              <a:latin typeface="Consolas"/>
            </a:endParaRPr>
          </a:p>
          <a:p>
            <a:pPr lvl="1"/>
            <a:r>
              <a:rPr sz="1650" b="0" i="0" u="none"/>
              <a:t>Clearer instruction purpose</a:t>
            </a:r>
            <a:endParaRPr sz="1650" b="0" i="0">
              <a:latin typeface="Consola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Glob Pattern Syntax</a:t>
            </a:r>
          </a:p>
        </p:txBody>
      </p:sp>
      <p:sp>
        <p:nvSpPr>
          <p:cNvPr id="3" name="Content Placeholder 2"/>
          <p:cNvSpPr>
            <a:spLocks noGrp="1"/>
          </p:cNvSpPr>
          <p:nvPr>
            <p:ph idx="1"/>
          </p:nvPr>
        </p:nvSpPr>
        <p:spPr/>
        <p:txBody>
          <a:bodyPr wrap="square">
            <a:normAutofit/>
          </a:bodyPr>
          <a:lstStyle/>
          <a:p>
            <a:pPr>
              <a:buNone/>
            </a:pPr>
            <a:r>
              <a:rPr sz="1450" b="1" i="0" u="none"/>
              <a:t>Core wildcards</a:t>
            </a:r>
            <a:endParaRPr sz="1450" b="0" i="0">
              <a:latin typeface="Consolas"/>
            </a:endParaRPr>
          </a:p>
          <a:p>
            <a:pPr lvl="1"/>
            <a:r>
              <a:rPr sz="1450" b="0" i="0" u="none">
                <a:latin typeface="Consolas"/>
              </a:rPr>
              <a:t>*</a:t>
            </a:r>
            <a:r>
              <a:rPr sz="1450" b="0" i="0" u="none"/>
              <a:t> -- any characters except </a:t>
            </a:r>
            <a:r>
              <a:rPr sz="1450" b="0" i="0" u="none">
                <a:latin typeface="Consolas"/>
              </a:rPr>
              <a:t>/</a:t>
            </a:r>
            <a:endParaRPr sz="1450" b="0" i="0">
              <a:latin typeface="Consolas"/>
            </a:endParaRPr>
          </a:p>
          <a:p>
            <a:pPr lvl="1"/>
            <a:r>
              <a:rPr sz="1450" b="0" i="0" u="none">
                <a:latin typeface="Consolas"/>
              </a:rPr>
              <a:t>**</a:t>
            </a:r>
            <a:r>
              <a:rPr sz="1450" b="0" i="0" u="none"/>
              <a:t> -- zero or more directory levels</a:t>
            </a:r>
            <a:endParaRPr sz="1450" b="0" i="0">
              <a:latin typeface="Consolas"/>
            </a:endParaRPr>
          </a:p>
          <a:p>
            <a:pPr lvl="1"/>
            <a:r>
              <a:rPr sz="1450" b="0" i="0" u="none">
                <a:latin typeface="Consolas"/>
              </a:rPr>
              <a:t>?</a:t>
            </a:r>
            <a:r>
              <a:rPr sz="1450" b="0" i="0" u="none"/>
              <a:t> -- exactly one character</a:t>
            </a:r>
            <a:endParaRPr sz="1450" b="0" i="0">
              <a:latin typeface="Consolas"/>
            </a:endParaRPr>
          </a:p>
          <a:p>
            <a:pPr>
              <a:buNone/>
            </a:pPr>
            <a:endParaRPr sz="1450" b="0" i="0">
              <a:latin typeface="Consolas"/>
            </a:endParaRPr>
          </a:p>
          <a:p>
            <a:pPr>
              <a:buNone/>
            </a:pPr>
            <a:r>
              <a:rPr sz="1450" b="1" i="0" u="none"/>
              <a:t>Pattern sets</a:t>
            </a:r>
            <a:endParaRPr sz="1450" b="0" i="0">
              <a:latin typeface="Consolas"/>
            </a:endParaRPr>
          </a:p>
          <a:p>
            <a:pPr lvl="1"/>
            <a:r>
              <a:rPr sz="1450" b="0" i="0" u="none">
                <a:latin typeface="Consolas"/>
              </a:rPr>
              <a:t>[abc]</a:t>
            </a:r>
            <a:r>
              <a:rPr sz="1450" b="0" i="0" u="none"/>
              <a:t> -- one character from a set</a:t>
            </a:r>
            <a:endParaRPr sz="1450" b="0" i="0">
              <a:latin typeface="Consolas"/>
            </a:endParaRPr>
          </a:p>
          <a:p>
            <a:pPr lvl="1"/>
            <a:r>
              <a:rPr sz="1450" b="0" i="0" u="none">
                <a:latin typeface="Consolas"/>
              </a:rPr>
              <a:t>[a-z]</a:t>
            </a:r>
            <a:r>
              <a:rPr sz="1450" b="0" i="0" u="none"/>
              <a:t> -- one character from a range</a:t>
            </a:r>
            <a:endParaRPr sz="1450" b="0" i="0">
              <a:latin typeface="Consolas"/>
            </a:endParaRPr>
          </a:p>
          <a:p>
            <a:pPr lvl="1"/>
            <a:r>
              <a:rPr sz="1450" b="0" i="0" u="none">
                <a:latin typeface="Consolas"/>
              </a:rPr>
              <a:t>{a,b}</a:t>
            </a:r>
            <a:r>
              <a:rPr sz="1450" b="0" i="0" u="none"/>
              <a:t> -- one of several alternatives</a:t>
            </a:r>
            <a:endParaRPr sz="1450" b="0" i="0">
              <a:latin typeface="Consolas"/>
            </a:endParaRPr>
          </a:p>
          <a:p>
            <a:pPr>
              <a:buNone/>
            </a:pPr>
            <a:endParaRPr sz="1450" b="0" i="0">
              <a:latin typeface="Consolas"/>
            </a:endParaRPr>
          </a:p>
          <a:p>
            <a:pPr>
              <a:buNone/>
            </a:pPr>
            <a:r>
              <a:rPr sz="1450" b="1" i="0" u="none"/>
              <a:t>Examples</a:t>
            </a:r>
            <a:endParaRPr sz="1450" b="0" i="0">
              <a:latin typeface="Consolas"/>
            </a:endParaRPr>
          </a:p>
          <a:p>
            <a:pPr lvl="1"/>
            <a:r>
              <a:rPr sz="1450" b="0" i="0" u="none">
                <a:latin typeface="Consolas"/>
              </a:rPr>
              <a:t>*.md</a:t>
            </a:r>
            <a:r>
              <a:rPr sz="1450" b="0" i="0" u="none"/>
              <a:t> -&gt; </a:t>
            </a:r>
            <a:r>
              <a:rPr sz="1450" b="0" i="0" u="none">
                <a:latin typeface="Consolas"/>
              </a:rPr>
              <a:t>README.md</a:t>
            </a:r>
            <a:endParaRPr sz="1450" b="0" i="0">
              <a:latin typeface="Consolas"/>
            </a:endParaRPr>
          </a:p>
          <a:p>
            <a:pPr lvl="1"/>
            <a:r>
              <a:rPr sz="1450" b="0" i="0" u="none">
                <a:latin typeface="Consolas"/>
              </a:rPr>
              <a:t>**/*.md</a:t>
            </a:r>
            <a:r>
              <a:rPr sz="1450" b="0" i="0" u="none"/>
              <a:t> -&gt; </a:t>
            </a:r>
            <a:r>
              <a:rPr sz="1450" b="0" i="0" u="none">
                <a:latin typeface="Consolas"/>
              </a:rPr>
              <a:t>docs/guide.md</a:t>
            </a:r>
            <a:endParaRPr sz="1450" b="0" i="0">
              <a:latin typeface="Consolas"/>
            </a:endParaRPr>
          </a:p>
          <a:p>
            <a:pPr lvl="1"/>
            <a:r>
              <a:rPr sz="1450" b="0" i="0" u="none">
                <a:latin typeface="Consolas"/>
              </a:rPr>
              <a:t>*.{js,ts}</a:t>
            </a:r>
            <a:r>
              <a:rPr sz="1450" b="0" i="0" u="none"/>
              <a:t> -&gt; </a:t>
            </a:r>
            <a:r>
              <a:rPr sz="1450" b="0" i="0" u="none">
                <a:latin typeface="Consolas"/>
              </a:rPr>
              <a:t>app.ts</a:t>
            </a:r>
            <a:endParaRPr sz="1450" b="0" i="0">
              <a:latin typeface="Consola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Pattern Matching Rules</a:t>
            </a:r>
          </a:p>
        </p:txBody>
      </p:sp>
      <p:sp>
        <p:nvSpPr>
          <p:cNvPr id="3" name="Content Placeholder 2"/>
          <p:cNvSpPr>
            <a:spLocks noGrp="1"/>
          </p:cNvSpPr>
          <p:nvPr>
            <p:ph idx="1"/>
          </p:nvPr>
        </p:nvSpPr>
        <p:spPr/>
        <p:txBody>
          <a:bodyPr wrap="square">
            <a:normAutofit/>
          </a:bodyPr>
          <a:lstStyle/>
          <a:p>
            <a:pPr>
              <a:buNone/>
            </a:pPr>
            <a:r>
              <a:rPr sz="2050" b="1" i="0" u="none"/>
              <a:t>Key Points to Remember:</a:t>
            </a:r>
            <a:endParaRPr sz="2050" b="0" i="0">
              <a:latin typeface="Arial"/>
            </a:endParaRPr>
          </a:p>
          <a:p>
            <a:pPr lvl="1"/>
            <a:r>
              <a:rPr sz="2050" b="0" i="0" u="none"/>
              <a:t>Patterns are evaluated when files are opened</a:t>
            </a:r>
            <a:endParaRPr sz="2050" b="0" i="0">
              <a:latin typeface="Arial"/>
            </a:endParaRPr>
          </a:p>
          <a:p>
            <a:pPr lvl="1"/>
            <a:r>
              <a:rPr sz="2050" b="0" i="0" u="none"/>
              <a:t>Multiple instruction files can match the same file</a:t>
            </a:r>
            <a:endParaRPr sz="2050" b="0" i="0">
              <a:latin typeface="Arial"/>
            </a:endParaRPr>
          </a:p>
          <a:p>
            <a:pPr lvl="1"/>
            <a:r>
              <a:rPr sz="2050" b="0" i="0" u="none"/>
              <a:t>More specific patterns take precedence (in terms of clarity, not override)</a:t>
            </a:r>
            <a:endParaRPr sz="2050" b="0" i="0">
              <a:latin typeface="Arial"/>
            </a:endParaRPr>
          </a:p>
          <a:p>
            <a:pPr lvl="1"/>
            <a:r>
              <a:rPr sz="2050" b="0" i="0" u="none"/>
              <a:t>Patterns are relative to repository root</a:t>
            </a:r>
            <a:endParaRPr sz="2050" b="0" i="0">
              <a:latin typeface="Arial"/>
            </a:endParaRPr>
          </a:p>
          <a:p>
            <a:pPr lvl="1"/>
            <a:r>
              <a:rPr sz="2050" b="0" i="0" u="none"/>
              <a:t>Case sensitivity depends on file system (Windows: no, Linux: yes)</a:t>
            </a:r>
            <a:endParaRPr sz="2050" b="0" i="0">
              <a:latin typeface="Arial"/>
            </a:endParaRPr>
          </a:p>
          <a:p>
            <a:pPr>
              <a:buNone/>
            </a:pPr>
            <a:endParaRPr sz="2050" b="0" i="0">
              <a:latin typeface="Arial"/>
            </a:endParaRPr>
          </a:p>
          <a:p>
            <a:pPr>
              <a:buNone/>
            </a:pPr>
            <a:r>
              <a:rPr sz="2050" b="1" i="0" u="none"/>
              <a:t>When Copilot Evaluates Patterns:</a:t>
            </a:r>
            <a:endParaRPr sz="2050" b="0" i="0">
              <a:latin typeface="Arial"/>
            </a:endParaRPr>
          </a:p>
          <a:p>
            <a:pPr lvl="1">
              <a:buNone/>
            </a:pPr>
            <a:r>
              <a:rPr sz="2050" b="0" i="0" u="none"/>
              <a:t>  1. File opened in editor → Check all instruction files</a:t>
            </a:r>
            <a:endParaRPr sz="2050" b="0" i="0">
              <a:latin typeface="Arial"/>
            </a:endParaRPr>
          </a:p>
          <a:p>
            <a:pPr lvl="1">
              <a:buNone/>
            </a:pPr>
            <a:r>
              <a:rPr sz="2050" b="0" i="0" u="none"/>
              <a:t>  2. Load matching instructions into context</a:t>
            </a:r>
            <a:endParaRPr sz="2050" b="0" i="0">
              <a:latin typeface="Arial"/>
            </a:endParaRPr>
          </a:p>
          <a:p>
            <a:pPr lvl="1">
              <a:buNone/>
            </a:pPr>
            <a:r>
              <a:rPr sz="2050" b="0" i="0" u="none"/>
              <a:t>  3. Apply rules during code generation</a:t>
            </a:r>
            <a:endParaRPr sz="2050" b="0" i="0">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Instruction Files</a:t>
            </a:r>
          </a:p>
        </p:txBody>
      </p:sp>
      <p:sp>
        <p:nvSpPr>
          <p:cNvPr id="3" name="Subtitle 2"/>
          <p:cNvSpPr>
            <a:spLocks noGrp="1"/>
          </p:cNvSpPr>
          <p:nvPr>
            <p:ph type="subTitle" idx="1"/>
          </p:nvPr>
        </p:nvSpPr>
        <p:spPr/>
        <p:txBody>
          <a:bodyPr wrap="square">
            <a:normAutofit/>
          </a:bodyPr>
          <a:lstStyle/>
          <a:p>
            <a:pPr>
              <a:buNone/>
            </a:pPr>
            <a:r>
              <a:rPr b="0" i="0" u="none"/>
              <a:t>The Constitution of Your AI Republic</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Instructions</a:t>
            </a:r>
          </a:p>
        </p:txBody>
      </p:sp>
      <p:sp>
        <p:nvSpPr>
          <p:cNvPr id="3" name="Content Placeholder 2"/>
          <p:cNvSpPr>
            <a:spLocks noGrp="1"/>
          </p:cNvSpPr>
          <p:nvPr>
            <p:ph sz="half" idx="1"/>
          </p:nvPr>
        </p:nvSpPr>
        <p:spPr/>
        <p:txBody>
          <a:bodyPr wrap="square">
            <a:normAutofit/>
          </a:bodyPr>
          <a:lstStyle/>
          <a:p>
            <a:pPr>
              <a:buNone/>
            </a:pPr>
            <a:r>
              <a:rPr sz="1400" b="1" i="0" u="none"/>
              <a:t>Artifact and workflow rules</a:t>
            </a:r>
            <a:endParaRPr sz="1800" b="0" i="0">
              <a:latin typeface="Consolas"/>
            </a:endParaRPr>
          </a:p>
          <a:p>
            <a:pPr>
              <a:buNone/>
            </a:pPr>
            <a:endParaRPr sz="1800" b="0" i="0">
              <a:latin typeface="Consolas"/>
            </a:endParaRPr>
          </a:p>
          <a:p>
            <a:pPr>
              <a:buNone/>
            </a:pPr>
            <a:r>
              <a:rPr sz="1400" b="0" i="0" u="none">
                <a:latin typeface="Consolas"/>
              </a:rPr>
              <a:t>ai-assisted-output.instructions.md</a:t>
            </a:r>
            <a:endParaRPr sz="1800" b="0" i="0">
              <a:latin typeface="Consolas"/>
            </a:endParaRPr>
          </a:p>
          <a:p>
            <a:pPr lvl="1"/>
            <a:r>
              <a:rPr sz="1400" b="0" i="0" u="none"/>
              <a:t>Guidance for AI-generated artifacts</a:t>
            </a:r>
            <a:endParaRPr sz="1800" b="0" i="0">
              <a:latin typeface="Consolas"/>
            </a:endParaRPr>
          </a:p>
          <a:p>
            <a:pPr>
              <a:buNone/>
            </a:pPr>
            <a:endParaRPr sz="1800" b="0" i="0">
              <a:latin typeface="Consolas"/>
            </a:endParaRPr>
          </a:p>
          <a:p>
            <a:pPr>
              <a:buNone/>
            </a:pPr>
            <a:r>
              <a:rPr sz="1400" b="0" i="0" u="none">
                <a:latin typeface="Consolas"/>
              </a:rPr>
              <a:t>chatmode-file.instructions.md</a:t>
            </a:r>
            <a:endParaRPr sz="1800" b="0" i="0">
              <a:latin typeface="Consolas"/>
            </a:endParaRPr>
          </a:p>
          <a:p>
            <a:pPr lvl="1"/>
            <a:r>
              <a:rPr sz="1400" b="0" i="0" u="none"/>
              <a:t>Guidance for generating chat modes</a:t>
            </a:r>
            <a:endParaRPr sz="1800" b="0" i="0">
              <a:latin typeface="Consolas"/>
            </a:endParaRPr>
          </a:p>
          <a:p>
            <a:pPr>
              <a:buNone/>
            </a:pPr>
            <a:endParaRPr sz="1800" b="0" i="0">
              <a:latin typeface="Consolas"/>
            </a:endParaRPr>
          </a:p>
          <a:p>
            <a:pPr>
              <a:buNone/>
            </a:pPr>
            <a:r>
              <a:rPr sz="1400" b="0" i="0" u="none">
                <a:latin typeface="Consolas"/>
              </a:rPr>
              <a:t>instruction-files.instructions.md</a:t>
            </a:r>
            <a:endParaRPr sz="1800" b="0" i="0">
              <a:latin typeface="Consolas"/>
            </a:endParaRPr>
          </a:p>
          <a:p>
            <a:pPr lvl="1"/>
            <a:r>
              <a:rPr sz="1400" b="0" i="0" u="none"/>
              <a:t>Guidance for generating instruction files</a:t>
            </a:r>
            <a:endParaRPr sz="1800" b="0" i="0">
              <a:latin typeface="Consolas"/>
            </a:endParaRPr>
          </a:p>
        </p:txBody>
      </p:sp>
      <p:sp>
        <p:nvSpPr>
          <p:cNvPr id="4" name="Content Placeholder 3"/>
          <p:cNvSpPr>
            <a:spLocks noGrp="1"/>
          </p:cNvSpPr>
          <p:nvPr>
            <p:ph sz="half" idx="2"/>
          </p:nvPr>
        </p:nvSpPr>
        <p:spPr/>
        <p:txBody>
          <a:bodyPr wrap="square">
            <a:normAutofit/>
          </a:bodyPr>
          <a:lstStyle/>
          <a:p>
            <a:pPr>
              <a:buNone/>
            </a:pPr>
            <a:r>
              <a:rPr sz="1400" b="1" i="0" u="none"/>
              <a:t>Prompt-related rules</a:t>
            </a:r>
          </a:p>
          <a:p>
            <a:pPr>
              <a:buNone/>
            </a:pPr>
            <a:endParaRPr sz="1400" b="1" i="0" u="none"/>
          </a:p>
          <a:p>
            <a:pPr>
              <a:buNone/>
            </a:pPr>
            <a:r>
              <a:rPr sz="1400" b="0" i="0" u="none">
                <a:latin typeface="Consolas"/>
              </a:rPr>
              <a:t>prompt-file.instructions.md</a:t>
            </a:r>
          </a:p>
          <a:p>
            <a:pPr lvl="1"/>
            <a:r>
              <a:rPr sz="1400" b="0" i="0" u="none"/>
              <a:t>Guidance for generating prompt files</a:t>
            </a:r>
          </a:p>
          <a:p>
            <a:pPr>
              <a:buNone/>
            </a:pPr>
            <a:r>
              <a:rPr sz="1400" b="0" i="0" u="none">
                <a:latin typeface="Consolas"/>
              </a:rPr>
              <a:t>instruction-prompt-files.instructions.md</a:t>
            </a:r>
          </a:p>
          <a:p>
            <a:pPr lvl="1"/>
            <a:r>
              <a:rPr sz="1400" b="0" i="0" u="none"/>
              <a:t>Guidance for prompts that generate instruction files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Organizational vs. Repository Instruction Files</a:t>
            </a:r>
          </a:p>
        </p:txBody>
      </p:sp>
      <p:sp>
        <p:nvSpPr>
          <p:cNvPr id="3" name="Subtitle 2"/>
          <p:cNvSpPr>
            <a:spLocks noGrp="1"/>
          </p:cNvSpPr>
          <p:nvPr>
            <p:ph type="subTitle" idx="1"/>
          </p:nvPr>
        </p:nvSpPr>
        <p:spPr/>
        <p:txBody>
          <a:bodyPr wrap="square">
            <a:normAutofit/>
          </a:bodyPr>
          <a:lstStyle/>
          <a:p>
            <a:pPr>
              <a:buNone/>
            </a:pPr>
            <a:r>
              <a:rPr b="0" i="0" u="none"/>
              <a:t>Corporate Rules vs. Your Team's Rules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Organizational vs. Repository Instruction Files</a:t>
            </a:r>
          </a:p>
        </p:txBody>
      </p:sp>
      <p:sp>
        <p:nvSpPr>
          <p:cNvPr id="3" name="Content Placeholder 2"/>
          <p:cNvSpPr>
            <a:spLocks noGrp="1"/>
          </p:cNvSpPr>
          <p:nvPr>
            <p:ph idx="1"/>
          </p:nvPr>
        </p:nvSpPr>
        <p:spPr/>
        <p:txBody>
          <a:bodyPr wrap="square">
            <a:normAutofit/>
          </a:bodyPr>
          <a:lstStyle/>
          <a:p>
            <a:r>
              <a:rPr sz="2800" b="0" i="0" u="none"/>
              <a:t>Business/Enterprise tier capabilities</a:t>
            </a:r>
            <a:endParaRPr sz="2800" b="0" i="0">
              <a:latin typeface="Arial"/>
            </a:endParaRPr>
          </a:p>
          <a:p>
            <a:r>
              <a:rPr sz="2800" b="0" i="0" u="none"/>
              <a:t>Path-scoped instruction files</a:t>
            </a:r>
            <a:endParaRPr sz="2800" b="0" i="0">
              <a:latin typeface="Arial"/>
            </a:endParaRPr>
          </a:p>
          <a:p>
            <a:r>
              <a:rPr sz="2800" b="0" i="0" u="none"/>
              <a:t>Folder-level technology-specific rules</a:t>
            </a:r>
            <a:endParaRPr sz="2800" b="0" i="0">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Two Instruction Layers Exist</a:t>
            </a:r>
          </a:p>
        </p:txBody>
      </p:sp>
      <p:sp>
        <p:nvSpPr>
          <p:cNvPr id="3" name="Content Placeholder 2"/>
          <p:cNvSpPr>
            <a:spLocks noGrp="1"/>
          </p:cNvSpPr>
          <p:nvPr>
            <p:ph idx="1"/>
          </p:nvPr>
        </p:nvSpPr>
        <p:spPr/>
        <p:txBody>
          <a:bodyPr wrap="square">
            <a:normAutofit/>
          </a:bodyPr>
          <a:lstStyle/>
          <a:p>
            <a:r>
              <a:rPr sz="2550" b="0" i="0" u="none"/>
              <a:t>Enterprise instructions enforce baseline policy and governance</a:t>
            </a:r>
            <a:endParaRPr sz="2550" b="0" i="0">
              <a:latin typeface="Arial"/>
            </a:endParaRPr>
          </a:p>
          <a:p>
            <a:r>
              <a:rPr sz="2550" b="0" i="0" u="none"/>
              <a:t>Repository instructions optimize for project context and implementation detail</a:t>
            </a:r>
            <a:endParaRPr sz="2550" b="0" i="0">
              <a:latin typeface="Arial"/>
            </a:endParaRPr>
          </a:p>
          <a:p>
            <a:r>
              <a:rPr sz="2550" b="0" i="0" u="none"/>
              <a:t>Together they balance consistency and local autonomy</a:t>
            </a:r>
            <a:endParaRPr sz="2550" b="0" i="0">
              <a:latin typeface="Arial"/>
            </a:endParaRPr>
          </a:p>
          <a:p>
            <a:pPr>
              <a:buNone/>
            </a:pPr>
            <a:endParaRPr sz="2550" b="0" i="0">
              <a:latin typeface="Arial"/>
            </a:endParaRPr>
          </a:p>
          <a:p>
            <a:pPr>
              <a:buNone/>
            </a:pPr>
            <a:r>
              <a:rPr sz="2550" b="1" i="0" u="none"/>
              <a:t>Key Idea</a:t>
            </a:r>
            <a:endParaRPr sz="2550" b="0" i="0">
              <a:latin typeface="Arial"/>
            </a:endParaRPr>
          </a:p>
          <a:p>
            <a:pPr>
              <a:buNone/>
            </a:pPr>
            <a:endParaRPr sz="2550" b="0" i="0">
              <a:latin typeface="Arial"/>
            </a:endParaRPr>
          </a:p>
          <a:p>
            <a:pPr>
              <a:buNone/>
            </a:pPr>
            <a:r>
              <a:rPr sz="2550" b="0" i="0" u="none"/>
              <a:t>Define global guardrails once, then narrow behavior where code lives.</a:t>
            </a:r>
            <a:endParaRPr sz="2550" b="0" i="0">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Business/Enterprise Tier Capabilities</a:t>
            </a:r>
          </a:p>
        </p:txBody>
      </p:sp>
      <p:sp>
        <p:nvSpPr>
          <p:cNvPr id="3" name="Content Placeholder 2"/>
          <p:cNvSpPr>
            <a:spLocks noGrp="1"/>
          </p:cNvSpPr>
          <p:nvPr>
            <p:ph idx="1"/>
          </p:nvPr>
        </p:nvSpPr>
        <p:spPr/>
        <p:txBody>
          <a:bodyPr wrap="square">
            <a:normAutofit/>
          </a:bodyPr>
          <a:lstStyle/>
          <a:p>
            <a:r>
              <a:rPr sz="2350" b="0" i="0" u="none"/>
              <a:t>Organization-wide safety and compliance standards</a:t>
            </a:r>
            <a:endParaRPr sz="2350" b="0" i="0">
              <a:latin typeface="Arial"/>
            </a:endParaRPr>
          </a:p>
          <a:p>
            <a:r>
              <a:rPr sz="2350" b="0" i="0" u="none"/>
              <a:t>Approved model and tool usage policy</a:t>
            </a:r>
            <a:endParaRPr sz="2350" b="0" i="0">
              <a:latin typeface="Arial"/>
            </a:endParaRPr>
          </a:p>
          <a:p>
            <a:r>
              <a:rPr sz="2350" b="0" i="0" u="none"/>
              <a:t>Mandatory provenance and audit requirements</a:t>
            </a:r>
            <a:endParaRPr sz="2350" b="0" i="0">
              <a:latin typeface="Arial"/>
            </a:endParaRPr>
          </a:p>
          <a:p>
            <a:r>
              <a:rPr sz="2350" b="0" i="0" u="none"/>
              <a:t>Security and legal baselines (secret handling, license constraints)</a:t>
            </a:r>
            <a:endParaRPr sz="2350" b="0" i="0">
              <a:latin typeface="Arial"/>
            </a:endParaRPr>
          </a:p>
          <a:p>
            <a:r>
              <a:rPr sz="2350" b="0" i="0" u="none"/>
              <a:t>Shared quality gates for CI/CD</a:t>
            </a:r>
            <a:endParaRPr sz="2350" b="0" i="0">
              <a:latin typeface="Arial"/>
            </a:endParaRPr>
          </a:p>
          <a:p>
            <a:pPr>
              <a:buNone/>
            </a:pPr>
            <a:endParaRPr sz="2350" b="0" i="0">
              <a:latin typeface="Arial"/>
            </a:endParaRPr>
          </a:p>
          <a:p>
            <a:pPr>
              <a:buNone/>
            </a:pPr>
            <a:r>
              <a:rPr sz="2350" b="1" i="0" u="none"/>
              <a:t>Typical Scope</a:t>
            </a:r>
            <a:endParaRPr sz="2350" b="0" i="0">
              <a:latin typeface="Arial"/>
            </a:endParaRPr>
          </a:p>
          <a:p>
            <a:pPr>
              <a:buNone/>
            </a:pPr>
            <a:endParaRPr sz="2350" b="0" i="0">
              <a:latin typeface="Arial"/>
            </a:endParaRPr>
          </a:p>
          <a:p>
            <a:pPr>
              <a:buNone/>
            </a:pPr>
            <a:r>
              <a:rPr sz="2350" b="0" i="0" u="none"/>
              <a:t>All repositories, all teams, all environments.</a:t>
            </a:r>
            <a:endParaRPr sz="2350" b="0" i="0">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Copilot User Instruction Files</a:t>
            </a:r>
          </a:p>
        </p:txBody>
      </p:sp>
      <p:sp>
        <p:nvSpPr>
          <p:cNvPr id="3" name="Content Placeholder 2"/>
          <p:cNvSpPr>
            <a:spLocks noGrp="1"/>
          </p:cNvSpPr>
          <p:nvPr>
            <p:ph idx="1"/>
          </p:nvPr>
        </p:nvSpPr>
        <p:spPr/>
        <p:txBody>
          <a:bodyPr wrap="square">
            <a:normAutofit/>
          </a:bodyPr>
          <a:lstStyle/>
          <a:p>
            <a:r>
              <a:rPr sz="2800" b="0" i="0" u="none"/>
              <a:t>Scope your rules to match where they matter</a:t>
            </a:r>
            <a:endParaRPr sz="2800" b="0" i="0">
              <a:latin typeface="Arial"/>
            </a:endParaRPr>
          </a:p>
          <a:p>
            <a:r>
              <a:rPr sz="2800" b="0" i="0" u="none"/>
              <a:t>Keep guidance specific, testable, and safe</a:t>
            </a:r>
            <a:endParaRPr sz="2800" b="0" i="0">
              <a:latin typeface="Arial"/>
            </a:endParaRPr>
          </a:p>
          <a:p>
            <a:r>
              <a:rPr sz="2800" b="0" i="0" u="none"/>
              <a:t>Reduce prompt repetition across teams</a:t>
            </a:r>
            <a:endParaRPr sz="2800" b="0" i="0">
              <a:latin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user instruction files?</a:t>
            </a:r>
          </a:p>
        </p:txBody>
      </p:sp>
      <p:sp>
        <p:nvSpPr>
          <p:cNvPr id="3" name="Content Placeholder 2"/>
          <p:cNvSpPr>
            <a:spLocks noGrp="1"/>
          </p:cNvSpPr>
          <p:nvPr>
            <p:ph idx="1"/>
          </p:nvPr>
        </p:nvSpPr>
        <p:spPr/>
        <p:txBody>
          <a:bodyPr wrap="square">
            <a:normAutofit/>
          </a:bodyPr>
          <a:lstStyle/>
          <a:p>
            <a:r>
              <a:rPr sz="1800" b="0" i="0" u="none"/>
              <a:t>Markdown files that define persistent AI working rules</a:t>
            </a:r>
            <a:endParaRPr sz="1800" b="0" i="0">
              <a:latin typeface="Consolas"/>
            </a:endParaRPr>
          </a:p>
          <a:p>
            <a:r>
              <a:rPr sz="1800" b="0" i="0" u="none"/>
              <a:t>Applied automatically when a file path matches scope</a:t>
            </a:r>
            <a:endParaRPr sz="1800" b="0" i="0">
              <a:latin typeface="Consolas"/>
            </a:endParaRPr>
          </a:p>
          <a:p>
            <a:r>
              <a:rPr sz="1800" b="0" i="0" u="none"/>
              <a:t>Best for style, safety, architecture, and workflow constraints</a:t>
            </a:r>
            <a:endParaRPr sz="1800" b="0" i="0">
              <a:latin typeface="Consolas"/>
            </a:endParaRPr>
          </a:p>
          <a:p>
            <a:pPr>
              <a:buNone/>
            </a:pPr>
            <a:endParaRPr sz="1800" b="0" i="0">
              <a:latin typeface="Consolas"/>
            </a:endParaRPr>
          </a:p>
          <a:p>
            <a:pPr>
              <a:buNone/>
            </a:pPr>
            <a:r>
              <a:rPr sz="1800" b="0" i="0" u="none"/>
              <a:t>Two common locations:</a:t>
            </a:r>
            <a:endParaRPr sz="1800" b="0" i="0">
              <a:latin typeface="Consolas"/>
            </a:endParaRPr>
          </a:p>
          <a:p>
            <a:pPr>
              <a:buNone/>
            </a:pPr>
            <a:endParaRPr sz="1800" b="0" i="0">
              <a:latin typeface="Consolas"/>
            </a:endParaRPr>
          </a:p>
          <a:p>
            <a:r>
              <a:rPr sz="1800" b="0" i="0" u="none">
                <a:latin typeface="Consolas"/>
              </a:rPr>
              <a:t>.github/instructions/</a:t>
            </a:r>
            <a:r>
              <a:rPr sz="1800" b="0" i="0" u="none"/>
              <a:t> for repository-governed behavior</a:t>
            </a:r>
            <a:endParaRPr sz="1800" b="0" i="0">
              <a:latin typeface="Consolas"/>
            </a:endParaRPr>
          </a:p>
          <a:p>
            <a:r>
              <a:rPr sz="1800" b="0" i="0" u="none"/>
              <a:t>User prompt folder for personal or global defaults</a:t>
            </a:r>
            <a:endParaRPr sz="1800" b="0" i="0">
              <a:latin typeface="Consola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Example file used in this deck</a:t>
            </a:r>
          </a:p>
        </p:txBody>
      </p:sp>
      <p:sp>
        <p:nvSpPr>
          <p:cNvPr id="3" name="Content Placeholder 2"/>
          <p:cNvSpPr>
            <a:spLocks noGrp="1"/>
          </p:cNvSpPr>
          <p:nvPr>
            <p:ph idx="1"/>
          </p:nvPr>
        </p:nvSpPr>
        <p:spPr/>
        <p:txBody>
          <a:bodyPr wrap="square">
            <a:normAutofit/>
          </a:bodyPr>
          <a:lstStyle/>
          <a:p>
            <a:pPr>
              <a:buNone/>
            </a:pPr>
            <a:r>
              <a:rPr sz="2450" b="0" i="0" u="none">
                <a:latin typeface="Consolas"/>
              </a:rPr>
              <a:t>c:/Users/JohnM/AppData/Roaming/Code/User/prompts/prompt-instructions.md.instructions.md</a:t>
            </a:r>
          </a:p>
          <a:p>
            <a:pPr>
              <a:buNone/>
            </a:pPr>
            <a:endParaRPr sz="2450" b="0" i="0" u="none">
              <a:latin typeface="Consolas"/>
            </a:endParaRPr>
          </a:p>
          <a:p>
            <a:pPr>
              <a:buNone/>
            </a:pPr>
            <a:r>
              <a:rPr sz="2450" b="0" i="0" u="none"/>
              <a:t>What this example emphasizes:</a:t>
            </a:r>
          </a:p>
          <a:p>
            <a:pPr>
              <a:buNone/>
            </a:pPr>
            <a:endParaRPr sz="2450" b="0" i="0" u="none"/>
          </a:p>
          <a:p>
            <a:r>
              <a:rPr sz="2450" b="0" i="0" u="none"/>
              <a:t>Answer the direct request first</a:t>
            </a:r>
          </a:p>
          <a:p>
            <a:r>
              <a:rPr sz="2450" b="0" i="0" u="none"/>
              <a:t>Gather only necessary context</a:t>
            </a:r>
          </a:p>
          <a:p>
            <a:r>
              <a:rPr sz="2450" b="0" i="0" u="none"/>
              <a:t>Prefer concise, actionable, safe output</a:t>
            </a:r>
          </a:p>
          <a:p>
            <a:r>
              <a:rPr sz="2450" b="0" i="0" u="none"/>
              <a:t>Validate when practical and adapt to feedback</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Rule categories in the example file</a:t>
            </a:r>
          </a:p>
        </p:txBody>
      </p:sp>
      <p:graphicFrame>
        <p:nvGraphicFramePr>
          <p:cNvPr id="3" name="Table 2"/>
          <p:cNvGraphicFramePr>
            <a:graphicFrameLocks noGrp="1"/>
          </p:cNvGraphicFramePr>
          <p:nvPr/>
        </p:nvGraphicFramePr>
        <p:xfrm>
          <a:off x="1219200" y="1828800"/>
          <a:ext cx="9753600" cy="32004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Category</a:t>
                      </a:r>
                    </a:p>
                  </a:txBody>
                  <a:tcPr>
                    <a:solidFill>
                      <a:schemeClr val="accent4"/>
                    </a:solidFill>
                  </a:tcPr>
                </a:tc>
                <a:tc>
                  <a:txBody>
                    <a:bodyPr/>
                    <a:lstStyle/>
                    <a:p>
                      <a:pPr>
                        <a:buNone/>
                        <a:defRPr sz="1600" b="1">
                          <a:solidFill>
                            <a:schemeClr val="bg1"/>
                          </a:solidFill>
                        </a:defRPr>
                      </a:pPr>
                      <a:r>
                        <a:rPr sz="1600" b="0" i="0" u="none"/>
                        <a:t>Example behavior</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Prioritization</a:t>
                      </a:r>
                    </a:p>
                  </a:txBody>
                  <a:tcPr>
                    <a:solidFill>
                      <a:schemeClr val="accent4">
                        <a:lumMod val="20000"/>
                        <a:lumOff val="80000"/>
                      </a:schemeClr>
                    </a:solidFill>
                  </a:tcPr>
                </a:tc>
                <a:tc>
                  <a:txBody>
                    <a:bodyPr/>
                    <a:lstStyle/>
                    <a:p>
                      <a:pPr>
                        <a:buNone/>
                        <a:defRPr sz="1600" b="0">
                          <a:solidFill>
                            <a:schemeClr val="tx1"/>
                          </a:solidFill>
                        </a:defRPr>
                      </a:pPr>
                      <a:r>
                        <a:rPr sz="1600" b="0" i="0" u="none"/>
                        <a:t>Start with the concrete ask</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Confidence</a:t>
                      </a:r>
                    </a:p>
                  </a:txBody>
                  <a:tcPr>
                    <a:solidFill>
                      <a:schemeClr val="accent4">
                        <a:lumMod val="8000"/>
                        <a:lumOff val="92000"/>
                      </a:schemeClr>
                    </a:solidFill>
                  </a:tcPr>
                </a:tc>
                <a:tc>
                  <a:txBody>
                    <a:bodyPr/>
                    <a:lstStyle/>
                    <a:p>
                      <a:pPr>
                        <a:buNone/>
                        <a:defRPr sz="1600" b="0">
                          <a:solidFill>
                            <a:schemeClr val="tx1"/>
                          </a:solidFill>
                        </a:defRPr>
                      </a:pPr>
                      <a:r>
                        <a:rPr sz="1600" b="0" i="0" u="none"/>
                        <a:t>Ask clarifying questions when intent is low</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Scope control</a:t>
                      </a:r>
                    </a:p>
                  </a:txBody>
                  <a:tcPr>
                    <a:solidFill>
                      <a:schemeClr val="accent4">
                        <a:lumMod val="20000"/>
                        <a:lumOff val="80000"/>
                      </a:schemeClr>
                    </a:solidFill>
                  </a:tcPr>
                </a:tc>
                <a:tc>
                  <a:txBody>
                    <a:bodyPr/>
                    <a:lstStyle/>
                    <a:p>
                      <a:pPr>
                        <a:buNone/>
                        <a:defRPr sz="1600" b="0">
                          <a:solidFill>
                            <a:schemeClr val="tx1"/>
                          </a:solidFill>
                        </a:defRPr>
                      </a:pPr>
                      <a:r>
                        <a:rPr sz="1600" b="0" i="0" u="none"/>
                        <a:t>Read only relevant files and code</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Simplicity</a:t>
                      </a:r>
                    </a:p>
                  </a:txBody>
                  <a:tcPr>
                    <a:solidFill>
                      <a:schemeClr val="accent4">
                        <a:lumMod val="8000"/>
                        <a:lumOff val="92000"/>
                      </a:schemeClr>
                    </a:solidFill>
                  </a:tcPr>
                </a:tc>
                <a:tc>
                  <a:txBody>
                    <a:bodyPr/>
                    <a:lstStyle/>
                    <a:p>
                      <a:pPr>
                        <a:buNone/>
                        <a:defRPr sz="1600" b="0">
                          <a:solidFill>
                            <a:schemeClr val="tx1"/>
                          </a:solidFill>
                        </a:defRPr>
                      </a:pPr>
                      <a:r>
                        <a:rPr sz="1600" b="0" i="0" u="none"/>
                        <a:t>Prefer straightforward solutions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Safety</a:t>
                      </a:r>
                    </a:p>
                  </a:txBody>
                  <a:tcPr>
                    <a:solidFill>
                      <a:schemeClr val="accent4">
                        <a:lumMod val="20000"/>
                        <a:lumOff val="80000"/>
                      </a:schemeClr>
                    </a:solidFill>
                  </a:tcPr>
                </a:tc>
                <a:tc>
                  <a:txBody>
                    <a:bodyPr/>
                    <a:lstStyle/>
                    <a:p>
                      <a:pPr>
                        <a:buNone/>
                        <a:defRPr sz="1600" b="0">
                          <a:solidFill>
                            <a:schemeClr val="tx1"/>
                          </a:solidFill>
                        </a:defRPr>
                      </a:pPr>
                      <a:r>
                        <a:rPr sz="1600" b="0" i="0" u="none"/>
                        <a:t>Avoid insecure or privacy-risking guidance</a:t>
                      </a:r>
                    </a:p>
                  </a:txBody>
                  <a:tcPr>
                    <a:solidFill>
                      <a:schemeClr val="accent4">
                        <a:lumMod val="20000"/>
                        <a:lumOff val="80000"/>
                      </a:schemeClr>
                    </a:solidFill>
                  </a:tcPr>
                </a:tc>
                <a:extLst>
                  <a:ext uri="{0D108BD9-81ED-4DB2-BD59-A6C34878D82A}">
                    <a16:rowId xmlns:a16="http://schemas.microsoft.com/office/drawing/2014/main" val="10005"/>
                  </a:ext>
                </a:extLst>
              </a:tr>
              <a:tr h="457200">
                <a:tc>
                  <a:txBody>
                    <a:bodyPr/>
                    <a:lstStyle/>
                    <a:p>
                      <a:pPr>
                        <a:buNone/>
                        <a:defRPr sz="1600" b="0">
                          <a:solidFill>
                            <a:schemeClr val="tx1"/>
                          </a:solidFill>
                        </a:defRPr>
                      </a:pPr>
                      <a:r>
                        <a:rPr sz="1600" b="0" i="0" u="none"/>
                        <a:t>Validation</a:t>
                      </a:r>
                    </a:p>
                  </a:txBody>
                  <a:tcPr>
                    <a:solidFill>
                      <a:schemeClr val="accent4">
                        <a:lumMod val="8000"/>
                        <a:lumOff val="92000"/>
                      </a:schemeClr>
                    </a:solidFill>
                  </a:tcPr>
                </a:tc>
                <a:tc>
                  <a:txBody>
                    <a:bodyPr/>
                    <a:lstStyle/>
                    <a:p>
                      <a:pPr>
                        <a:buNone/>
                        <a:defRPr sz="1600" b="0">
                          <a:solidFill>
                            <a:schemeClr val="tx1"/>
                          </a:solidFill>
                        </a:defRPr>
                      </a:pPr>
                      <a:r>
                        <a:rPr sz="1600" b="0" i="0" u="none"/>
                        <a:t>Test or verify when feasible</a:t>
                      </a:r>
                    </a:p>
                  </a:txBody>
                  <a:tcPr>
                    <a:solidFill>
                      <a:schemeClr val="accent4">
                        <a:lumMod val="8000"/>
                        <a:lumOff val="92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How instruction files shape Copilot responses</a:t>
            </a:r>
          </a:p>
        </p:txBody>
      </p:sp>
      <p:pic>
        <p:nvPicPr>
          <p:cNvPr id="3" name="Picture 2" descr="e68f1bf3cd8fc53339f0b10705895810b6738222.png"/>
          <p:cNvPicPr>
            <a:picLocks noChangeAspect="1"/>
          </p:cNvPicPr>
          <p:nvPr/>
        </p:nvPicPr>
        <p:blipFill>
          <a:blip r:embed="rId3"/>
          <a:stretch>
            <a:fillRect/>
          </a:stretch>
        </p:blipFill>
        <p:spPr>
          <a:xfrm>
            <a:off x="4858629" y="962708"/>
            <a:ext cx="2650001" cy="5895292"/>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50" b="0" i="0" u="none"/>
              <a:t>Authoring checklist for high-quality instruction files</a:t>
            </a:r>
          </a:p>
        </p:txBody>
      </p:sp>
      <p:sp>
        <p:nvSpPr>
          <p:cNvPr id="3" name="Content Placeholder 2"/>
          <p:cNvSpPr>
            <a:spLocks noGrp="1"/>
          </p:cNvSpPr>
          <p:nvPr>
            <p:ph idx="1"/>
          </p:nvPr>
        </p:nvSpPr>
        <p:spPr/>
        <p:txBody>
          <a:bodyPr wrap="square">
            <a:normAutofit/>
          </a:bodyPr>
          <a:lstStyle/>
          <a:p>
            <a:pPr>
              <a:buNone/>
            </a:pPr>
            <a:r>
              <a:rPr sz="1750" b="0" i="0" u="none"/>
              <a:t>1. Use clear priorities in descending order</a:t>
            </a:r>
            <a:endParaRPr sz="1750" b="0" i="0">
              <a:latin typeface="Arial"/>
            </a:endParaRPr>
          </a:p>
          <a:p>
            <a:pPr>
              <a:buNone/>
            </a:pPr>
            <a:r>
              <a:rPr sz="1750" b="0" i="0" u="none"/>
              <a:t>2. Write concrete, testable rules</a:t>
            </a:r>
            <a:endParaRPr sz="1750" b="0" i="0">
              <a:latin typeface="Arial"/>
            </a:endParaRPr>
          </a:p>
          <a:p>
            <a:pPr>
              <a:buNone/>
            </a:pPr>
            <a:r>
              <a:rPr sz="1750" b="0" i="0" u="none"/>
              <a:t>3. Separate global rules from path-specific rules</a:t>
            </a:r>
            <a:endParaRPr sz="1750" b="0" i="0">
              <a:latin typeface="Arial"/>
            </a:endParaRPr>
          </a:p>
          <a:p>
            <a:pPr>
              <a:buNone/>
            </a:pPr>
            <a:r>
              <a:rPr sz="1750" b="0" i="0" u="none"/>
              <a:t>4. Keep language short and operational</a:t>
            </a:r>
            <a:endParaRPr sz="1750" b="0" i="0">
              <a:latin typeface="Arial"/>
            </a:endParaRPr>
          </a:p>
          <a:p>
            <a:pPr>
              <a:buNone/>
            </a:pPr>
            <a:r>
              <a:rPr sz="1750" b="0" i="0" u="none"/>
              <a:t>5. Review and prune outdated directives regularly</a:t>
            </a:r>
            <a:endParaRPr sz="1750" b="0" i="0">
              <a:latin typeface="Arial"/>
            </a:endParaRPr>
          </a:p>
          <a:p>
            <a:pPr>
              <a:buNone/>
            </a:pPr>
            <a:endParaRPr sz="1750" b="0" i="0">
              <a:latin typeface="Arial"/>
            </a:endParaRPr>
          </a:p>
          <a:p>
            <a:pPr>
              <a:buNone/>
            </a:pPr>
            <a:r>
              <a:rPr sz="1750" b="0" i="0" u="none"/>
              <a:t>Anti-patterns to avoid:</a:t>
            </a:r>
            <a:endParaRPr sz="1750" b="0" i="0">
              <a:latin typeface="Arial"/>
            </a:endParaRPr>
          </a:p>
          <a:p>
            <a:pPr>
              <a:buNone/>
            </a:pPr>
            <a:endParaRPr sz="1750" b="0" i="0">
              <a:latin typeface="Arial"/>
            </a:endParaRPr>
          </a:p>
          <a:p>
            <a:r>
              <a:rPr sz="1750" b="0" i="0" u="none"/>
              <a:t>Conflicting rules with unclear precedence</a:t>
            </a:r>
            <a:endParaRPr sz="1750" b="0" i="0">
              <a:latin typeface="Arial"/>
            </a:endParaRPr>
          </a:p>
          <a:p>
            <a:r>
              <a:rPr sz="1750" b="0" i="0" u="none"/>
              <a:t>Vague goals like "be better" without measurable criteria</a:t>
            </a:r>
            <a:endParaRPr sz="1750" b="0" i="0">
              <a:latin typeface="Arial"/>
            </a:endParaRPr>
          </a:p>
          <a:p>
            <a:r>
              <a:rPr sz="1750" b="0" i="0" u="none"/>
              <a:t>Oversized files with duplicated guidance</a:t>
            </a:r>
            <a:endParaRPr sz="1750" b="0" i="0">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00" b="0" i="0" u="none"/>
              <a:t>Practical before and after behavior</a:t>
            </a:r>
          </a:p>
        </p:txBody>
      </p:sp>
      <p:sp>
        <p:nvSpPr>
          <p:cNvPr id="3" name="Content Placeholder 2"/>
          <p:cNvSpPr>
            <a:spLocks noGrp="1"/>
          </p:cNvSpPr>
          <p:nvPr>
            <p:ph idx="1"/>
          </p:nvPr>
        </p:nvSpPr>
        <p:spPr/>
        <p:txBody>
          <a:bodyPr wrap="square">
            <a:normAutofit/>
          </a:bodyPr>
          <a:lstStyle/>
          <a:p>
            <a:pPr>
              <a:buNone/>
            </a:pPr>
            <a:r>
              <a:rPr sz="1350" b="0" i="0" u="none"/>
              <a:t>Prompt: "Add tests for this parser and fix edge cases"</a:t>
            </a:r>
            <a:endParaRPr sz="1350" b="0" i="0">
              <a:latin typeface="Arial"/>
            </a:endParaRPr>
          </a:p>
          <a:p>
            <a:pPr>
              <a:buNone/>
            </a:pPr>
            <a:endParaRPr sz="1350" b="0" i="0">
              <a:latin typeface="Arial"/>
            </a:endParaRPr>
          </a:p>
          <a:p>
            <a:pPr>
              <a:buNone/>
            </a:pPr>
            <a:r>
              <a:rPr sz="1350" b="0" i="0" u="none"/>
              <a:t>Without strong instruction rules:</a:t>
            </a:r>
            <a:endParaRPr sz="1350" b="0" i="0">
              <a:latin typeface="Arial"/>
            </a:endParaRPr>
          </a:p>
          <a:p>
            <a:pPr>
              <a:buNone/>
            </a:pPr>
            <a:endParaRPr sz="1350" b="0" i="0">
              <a:latin typeface="Arial"/>
            </a:endParaRPr>
          </a:p>
          <a:p>
            <a:r>
              <a:rPr sz="1350" b="0" i="0" u="none"/>
              <a:t>Broad repository scanning</a:t>
            </a:r>
            <a:endParaRPr sz="1350" b="0" i="0">
              <a:latin typeface="Arial"/>
            </a:endParaRPr>
          </a:p>
          <a:p>
            <a:r>
              <a:rPr sz="1350" b="0" i="0" u="none"/>
              <a:t>Generic tests with weak edge coverage</a:t>
            </a:r>
            <a:endParaRPr sz="1350" b="0" i="0">
              <a:latin typeface="Arial"/>
            </a:endParaRPr>
          </a:p>
          <a:p>
            <a:r>
              <a:rPr sz="1350" b="0" i="0" u="none"/>
              <a:t>Long explanation before direct fix</a:t>
            </a:r>
            <a:endParaRPr sz="1350" b="0" i="0">
              <a:latin typeface="Arial"/>
            </a:endParaRPr>
          </a:p>
          <a:p>
            <a:pPr>
              <a:buNone/>
            </a:pPr>
            <a:endParaRPr sz="1350" b="0" i="0">
              <a:latin typeface="Arial"/>
            </a:endParaRPr>
          </a:p>
          <a:p>
            <a:pPr>
              <a:buNone/>
            </a:pPr>
            <a:r>
              <a:rPr sz="1350" b="0" i="0" u="none"/>
              <a:t>With the example instruction file:</a:t>
            </a:r>
            <a:endParaRPr sz="1350" b="0" i="0">
              <a:latin typeface="Arial"/>
            </a:endParaRPr>
          </a:p>
          <a:p>
            <a:pPr>
              <a:buNone/>
            </a:pPr>
            <a:endParaRPr sz="1350" b="0" i="0">
              <a:latin typeface="Arial"/>
            </a:endParaRPr>
          </a:p>
          <a:p>
            <a:r>
              <a:rPr sz="1350" b="0" i="0" u="none"/>
              <a:t>Direct request handled first</a:t>
            </a:r>
            <a:endParaRPr sz="1350" b="0" i="0">
              <a:latin typeface="Arial"/>
            </a:endParaRPr>
          </a:p>
          <a:p>
            <a:r>
              <a:rPr sz="1350" b="0" i="0" u="none"/>
              <a:t>Minimal, relevant file reads</a:t>
            </a:r>
            <a:endParaRPr sz="1350" b="0" i="0">
              <a:latin typeface="Arial"/>
            </a:endParaRPr>
          </a:p>
          <a:p>
            <a:r>
              <a:rPr sz="1350" b="0" i="0" u="none"/>
              <a:t>Focused edge-case tests and concise report</a:t>
            </a:r>
            <a:endParaRPr sz="1350" b="0" i="0">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Recommended rollout in your repository</a:t>
            </a:r>
          </a:p>
        </p:txBody>
      </p:sp>
      <p:sp>
        <p:nvSpPr>
          <p:cNvPr id="3" name="Content Placeholder 2"/>
          <p:cNvSpPr>
            <a:spLocks noGrp="1"/>
          </p:cNvSpPr>
          <p:nvPr>
            <p:ph idx="1"/>
          </p:nvPr>
        </p:nvSpPr>
        <p:spPr/>
        <p:txBody>
          <a:bodyPr wrap="square">
            <a:normAutofit/>
          </a:bodyPr>
          <a:lstStyle/>
          <a:p>
            <a:r>
              <a:rPr sz="1800" b="0" i="0" u="none" dirty="0"/>
              <a:t>Start with a small core file for universal rules</a:t>
            </a:r>
            <a:endParaRPr sz="1800" b="0" i="0" dirty="0">
              <a:latin typeface="Consolas"/>
            </a:endParaRPr>
          </a:p>
          <a:p>
            <a:r>
              <a:rPr sz="1800" b="0" i="0" u="none" dirty="0"/>
              <a:t>Add scoped files only where behavior genuinely differs</a:t>
            </a:r>
            <a:endParaRPr sz="1800" b="0" i="0" dirty="0">
              <a:latin typeface="Consolas"/>
            </a:endParaRPr>
          </a:p>
          <a:p>
            <a:r>
              <a:rPr sz="1800" b="0" i="0" u="none" dirty="0"/>
              <a:t>Validate outcomes against tests, security checks, and review comments</a:t>
            </a:r>
            <a:endParaRPr sz="1800" b="0" i="0" dirty="0">
              <a:latin typeface="Consolas"/>
            </a:endParaRPr>
          </a:p>
          <a:p>
            <a:r>
              <a:rPr sz="1800" b="0" i="0" u="none" dirty="0"/>
              <a:t>Treat instruction files as versioned architecture guidance</a:t>
            </a:r>
            <a:endParaRPr sz="1800" b="0" i="0" dirty="0">
              <a:latin typeface="Consolas"/>
            </a:endParaRPr>
          </a:p>
          <a:p>
            <a:pPr>
              <a:buNone/>
            </a:pPr>
            <a:endParaRPr sz="1800" b="0" i="0" dirty="0">
              <a:latin typeface="Consola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Technology Inventory and Instruction Generation</a:t>
            </a:r>
          </a:p>
        </p:txBody>
      </p:sp>
      <p:sp>
        <p:nvSpPr>
          <p:cNvPr id="3" name="Subtitle 2"/>
          <p:cNvSpPr>
            <a:spLocks noGrp="1"/>
          </p:cNvSpPr>
          <p:nvPr>
            <p:ph type="subTitle" idx="1"/>
          </p:nvPr>
        </p:nvSpPr>
        <p:spPr/>
        <p:txBody>
          <a:bodyPr wrap="square">
            <a:normAutofit/>
          </a:bodyPr>
          <a:lstStyle/>
          <a:p>
            <a:pPr>
              <a:buNone/>
            </a:pPr>
            <a:r>
              <a:rPr b="0" i="0" u="none"/>
              <a:t>Take Stock Before You Start Spending Tokens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450" b="0" i="0" u="none"/>
              <a:t>Exercise: Technology Inventory and Instruction Generation</a:t>
            </a:r>
          </a:p>
        </p:txBody>
      </p:sp>
      <p:sp>
        <p:nvSpPr>
          <p:cNvPr id="3" name="Content Placeholder 2"/>
          <p:cNvSpPr>
            <a:spLocks noGrp="1"/>
          </p:cNvSpPr>
          <p:nvPr>
            <p:ph sz="half" idx="1"/>
          </p:nvPr>
        </p:nvSpPr>
        <p:spPr/>
        <p:txBody>
          <a:bodyPr wrap="square">
            <a:normAutofit fontScale="77500" lnSpcReduction="20000"/>
          </a:bodyPr>
          <a:lstStyle/>
          <a:p>
            <a:pPr>
              <a:buNone/>
            </a:pPr>
            <a:r>
              <a:rPr sz="1200" b="0" i="0" u="none"/>
              <a:t>Objectives</a:t>
            </a:r>
            <a:endParaRPr sz="1200" b="0" i="0">
              <a:latin typeface="Arial"/>
            </a:endParaRPr>
          </a:p>
          <a:p>
            <a:pPr>
              <a:buNone/>
            </a:pPr>
            <a:endParaRPr sz="1200" b="0" i="0">
              <a:latin typeface="Arial"/>
            </a:endParaRPr>
          </a:p>
          <a:p>
            <a:r>
              <a:rPr sz="1200" b="0" i="0" u="none"/>
              <a:t>Create a clear inventory of project technologies across the repository</a:t>
            </a:r>
            <a:endParaRPr sz="1200" b="0" i="0">
              <a:latin typeface="Arial"/>
            </a:endParaRPr>
          </a:p>
          <a:p>
            <a:r>
              <a:rPr sz="1200" b="0" i="0" u="none"/>
              <a:t>Use background sessions to run concurrent analysis and drafting work</a:t>
            </a:r>
            <a:endParaRPr sz="1200" b="0" i="0">
              <a:latin typeface="Arial"/>
            </a:endParaRPr>
          </a:p>
          <a:p>
            <a:r>
              <a:rPr sz="1200" b="0" i="0" u="none"/>
              <a:t>Generate multiple instruction files simultaneously from the inventory results</a:t>
            </a:r>
            <a:endParaRPr sz="1200" b="0" i="0">
              <a:latin typeface="Arial"/>
            </a:endParaRPr>
          </a:p>
          <a:p>
            <a:r>
              <a:rPr sz="1200" b="0" i="0" u="none"/>
              <a:t>Practice session management interface workflows for parallel task control</a:t>
            </a:r>
            <a:endParaRPr sz="1200" b="0" i="0">
              <a:latin typeface="Arial"/>
            </a:endParaRPr>
          </a:p>
          <a:p>
            <a:pPr>
              <a:buNone/>
            </a:pPr>
            <a:endParaRPr sz="1200" b="0" i="0">
              <a:latin typeface="Arial"/>
            </a:endParaRPr>
          </a:p>
          <a:p>
            <a:pPr>
              <a:buNone/>
            </a:pPr>
            <a:r>
              <a:rPr sz="1200" b="0" i="0" u="none"/>
              <a:t>Activities</a:t>
            </a:r>
            <a:endParaRPr sz="1200" b="0" i="0">
              <a:latin typeface="Arial"/>
            </a:endParaRPr>
          </a:p>
          <a:p>
            <a:pPr>
              <a:buNone/>
            </a:pPr>
            <a:endParaRPr sz="1200" b="0" i="0">
              <a:latin typeface="Arial"/>
            </a:endParaRPr>
          </a:p>
          <a:p>
            <a:pPr>
              <a:buNone/>
            </a:pPr>
            <a:r>
              <a:rPr sz="1200" b="0" i="0" u="none"/>
              <a:t>1. Technology Inventory Build:</a:t>
            </a:r>
            <a:endParaRPr sz="1200" b="0" i="0">
              <a:latin typeface="Arial"/>
            </a:endParaRPr>
          </a:p>
          <a:p>
            <a:pPr lvl="1"/>
            <a:r>
              <a:rPr sz="1200" b="0" i="0" u="none"/>
              <a:t>Scan the repository and list languages, frameworks, build tools, and test stacks</a:t>
            </a:r>
            <a:endParaRPr sz="1200" b="0" i="0">
              <a:latin typeface="Arial"/>
            </a:endParaRPr>
          </a:p>
          <a:p>
            <a:pPr lvl="1"/>
            <a:r>
              <a:rPr sz="1200" b="0" i="0" u="none"/>
              <a:t>Group technologies by folder ownership and lifecycle criticality</a:t>
            </a:r>
            <a:endParaRPr sz="1200" b="0" i="0">
              <a:latin typeface="Arial"/>
            </a:endParaRPr>
          </a:p>
          <a:p>
            <a:pPr lvl="1"/>
            <a:r>
              <a:rPr sz="1200" b="0" i="0" u="none"/>
              <a:t>Identify missing or outdated instruction coverage per technology area</a:t>
            </a:r>
            <a:endParaRPr sz="1200" b="0" i="0">
              <a:latin typeface="Arial"/>
            </a:endParaRPr>
          </a:p>
          <a:p>
            <a:pPr>
              <a:buNone/>
            </a:pPr>
            <a:endParaRPr sz="1200" b="0" i="0">
              <a:latin typeface="Arial"/>
            </a:endParaRPr>
          </a:p>
          <a:p>
            <a:pPr>
              <a:buNone/>
            </a:pPr>
            <a:r>
              <a:rPr sz="1200" b="0" i="0" u="none"/>
              <a:t>2. Background Session Orchestration:</a:t>
            </a:r>
            <a:endParaRPr sz="1200" b="0" i="0">
              <a:latin typeface="Arial"/>
            </a:endParaRPr>
          </a:p>
          <a:p>
            <a:pPr lvl="1"/>
            <a:r>
              <a:rPr sz="1200" b="0" i="0" u="none"/>
              <a:t>Start parallel background sessions for discovery, drafting, and validation</a:t>
            </a:r>
            <a:endParaRPr sz="1200" b="0" i="0">
              <a:latin typeface="Arial"/>
            </a:endParaRPr>
          </a:p>
          <a:p>
            <a:pPr lvl="1"/>
            <a:r>
              <a:rPr sz="1200" b="0" i="0" u="none"/>
              <a:t>Assign one focused outcome per session (inventory, file generation, review)</a:t>
            </a:r>
            <a:endParaRPr sz="1200" b="0" i="0">
              <a:latin typeface="Arial"/>
            </a:endParaRPr>
          </a:p>
          <a:p>
            <a:pPr lvl="1"/>
            <a:r>
              <a:rPr sz="1200" b="0" i="0" u="none"/>
              <a:t>Capture each session's outputs and merge findings into one working backlog</a:t>
            </a:r>
            <a:endParaRPr sz="1200" b="0" i="0">
              <a:latin typeface="Arial"/>
            </a:endParaRPr>
          </a:p>
        </p:txBody>
      </p:sp>
      <p:sp>
        <p:nvSpPr>
          <p:cNvPr id="4" name="Content Placeholder 3"/>
          <p:cNvSpPr>
            <a:spLocks noGrp="1"/>
          </p:cNvSpPr>
          <p:nvPr>
            <p:ph sz="half" idx="2"/>
          </p:nvPr>
        </p:nvSpPr>
        <p:spPr/>
        <p:txBody>
          <a:bodyPr wrap="square">
            <a:normAutofit fontScale="77500" lnSpcReduction="20000"/>
          </a:bodyPr>
          <a:lstStyle/>
          <a:p>
            <a:pPr>
              <a:buNone/>
            </a:pPr>
            <a:r>
              <a:rPr sz="1200" b="0" i="0" u="none"/>
              <a:t>3. Simultaneous Instruction Generation:</a:t>
            </a:r>
            <a:endParaRPr sz="1200" b="0" i="0">
              <a:latin typeface="Arial"/>
            </a:endParaRPr>
          </a:p>
          <a:p>
            <a:pPr lvl="1"/>
            <a:r>
              <a:rPr sz="1200" b="0" i="0" u="none"/>
              <a:t>Generate multiple instruction files for high-priority technology folders</a:t>
            </a:r>
            <a:endParaRPr sz="1200" b="0" i="0">
              <a:latin typeface="Arial"/>
            </a:endParaRPr>
          </a:p>
          <a:p>
            <a:pPr lvl="1"/>
            <a:r>
              <a:rPr sz="1200" b="0" i="0" u="none"/>
              <a:t>Apply path-scoped patterns to each generated instruction file</a:t>
            </a:r>
            <a:endParaRPr sz="1200" b="0" i="0">
              <a:latin typeface="Arial"/>
            </a:endParaRPr>
          </a:p>
          <a:p>
            <a:pPr lvl="1"/>
            <a:r>
              <a:rPr sz="1200" b="0" i="0" u="none"/>
              <a:t>Validate that each file is targeted, non-overlapping, and implementation-ready</a:t>
            </a:r>
            <a:endParaRPr sz="1200" b="0" i="0">
              <a:latin typeface="Arial"/>
            </a:endParaRPr>
          </a:p>
          <a:p>
            <a:pPr>
              <a:buNone/>
            </a:pPr>
            <a:endParaRPr sz="1200" b="0" i="0">
              <a:latin typeface="Arial"/>
            </a:endParaRPr>
          </a:p>
          <a:p>
            <a:pPr>
              <a:buNone/>
            </a:pPr>
            <a:r>
              <a:rPr sz="1200" b="0" i="0" u="none"/>
              <a:t>4. Session Management Interface Review:</a:t>
            </a:r>
            <a:endParaRPr sz="1200" b="0" i="0">
              <a:latin typeface="Arial"/>
            </a:endParaRPr>
          </a:p>
          <a:p>
            <a:pPr lvl="1"/>
            <a:r>
              <a:rPr sz="1200" b="0" i="0" u="none"/>
              <a:t>Track session state, ownership, and completion status</a:t>
            </a:r>
            <a:endParaRPr sz="1200" b="0" i="0">
              <a:latin typeface="Arial"/>
            </a:endParaRPr>
          </a:p>
          <a:p>
            <a:pPr lvl="1"/>
            <a:r>
              <a:rPr sz="1200" b="0" i="0" u="none"/>
              <a:t>Resolve collisions between concurrently generated instruction outputs</a:t>
            </a:r>
            <a:endParaRPr sz="1200" b="0" i="0">
              <a:latin typeface="Arial"/>
            </a:endParaRPr>
          </a:p>
          <a:p>
            <a:pPr lvl="1"/>
            <a:r>
              <a:rPr sz="1200" b="0" i="0" u="none"/>
              <a:t>Close sessions with a summarized decision log and next-step actions</a:t>
            </a:r>
            <a:endParaRPr sz="1200" b="0" i="0">
              <a:latin typeface="Arial"/>
            </a:endParaRPr>
          </a:p>
          <a:p>
            <a:pPr>
              <a:buNone/>
            </a:pPr>
            <a:endParaRPr sz="1200" b="0" i="0">
              <a:latin typeface="Arial"/>
            </a:endParaRPr>
          </a:p>
          <a:p>
            <a:pPr>
              <a:buNone/>
            </a:pPr>
            <a:r>
              <a:rPr sz="1200" b="0" i="0" u="none"/>
              <a:t>Success Criteria</a:t>
            </a:r>
            <a:endParaRPr sz="1200" b="0" i="0">
              <a:latin typeface="Arial"/>
            </a:endParaRPr>
          </a:p>
          <a:p>
            <a:pPr>
              <a:buNone/>
            </a:pPr>
            <a:endParaRPr sz="1200" b="0" i="0">
              <a:latin typeface="Arial"/>
            </a:endParaRPr>
          </a:p>
          <a:p>
            <a:r>
              <a:rPr sz="1200" b="0" i="0" u="none"/>
              <a:t>Technology inventory includes stack, location, and risk/priority attributes</a:t>
            </a:r>
            <a:endParaRPr sz="1200" b="0" i="0">
              <a:latin typeface="Arial"/>
            </a:endParaRPr>
          </a:p>
          <a:p>
            <a:r>
              <a:rPr sz="1200" b="0" i="0" u="none"/>
              <a:t>At least three instruction files are generated concurrently and scoped correctly</a:t>
            </a:r>
            <a:endParaRPr sz="1200" b="0" i="0">
              <a:latin typeface="Arial"/>
            </a:endParaRPr>
          </a:p>
          <a:p>
            <a:r>
              <a:rPr sz="1200" b="0" i="0" u="none"/>
              <a:t>Background sessions are documented with clear responsibilities and outcomes</a:t>
            </a:r>
            <a:endParaRPr sz="1200" b="0" i="0">
              <a:latin typeface="Arial"/>
            </a:endParaRPr>
          </a:p>
          <a:p>
            <a:r>
              <a:rPr sz="1200" b="0" i="0" u="none"/>
              <a:t>Session management process is repeatable for future multi-stream work</a:t>
            </a:r>
            <a:endParaRPr sz="1200" b="0" i="0">
              <a:latin typeface="Arial"/>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1799</TotalTime>
  <Words>13173</Words>
  <Application>Microsoft Office PowerPoint</Application>
  <PresentationFormat>Widescreen</PresentationFormat>
  <Paragraphs>1629</Paragraphs>
  <Slides>91</Slides>
  <Notes>91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91</vt:i4>
      </vt:variant>
    </vt:vector>
  </HeadingPairs>
  <TitlesOfParts>
    <vt:vector size="97" baseType="lpstr">
      <vt:lpstr>Arial</vt:lpstr>
      <vt:lpstr>Calibri</vt:lpstr>
      <vt:lpstr>Consolas</vt:lpstr>
      <vt:lpstr>Noto Sans</vt:lpstr>
      <vt:lpstr>Victor Mono</vt:lpstr>
      <vt:lpstr>CODE Training</vt:lpstr>
      <vt:lpstr>Welcome to AI Assisted Software Development</vt:lpstr>
      <vt:lpstr>John Michael Miller</vt:lpstr>
      <vt:lpstr>Hi, I'm a Developer Who Has Talked to a Robot</vt:lpstr>
      <vt:lpstr>Introductions</vt:lpstr>
      <vt:lpstr>About CODE Magazine</vt:lpstr>
      <vt:lpstr>Daily Themes</vt:lpstr>
      <vt:lpstr>Course Modules</vt:lpstr>
      <vt:lpstr>The More Things Change, the More They Still Compile</vt:lpstr>
      <vt:lpstr>Programming Evolution: Rising Abstraction Layers</vt:lpstr>
      <vt:lpstr>The Modern Mainstream Coding Experience</vt:lpstr>
      <vt:lpstr>The Natural Language Era</vt:lpstr>
      <vt:lpstr>The Game Changer</vt:lpstr>
      <vt:lpstr>AI Understands Intent - Not Just Commands</vt:lpstr>
      <vt:lpstr>It's Just Another Tool</vt:lpstr>
      <vt:lpstr>Verification Still Matters</vt:lpstr>
      <vt:lpstr>The Future Is Still Intent-Driven Development</vt:lpstr>
      <vt:lpstr>The AI Revolution in Software Development</vt:lpstr>
      <vt:lpstr>Why AI Assisted Software Development</vt:lpstr>
      <vt:lpstr>AI-First &amp; Prompt-First</vt:lpstr>
      <vt:lpstr>What Each Optimizes For</vt:lpstr>
      <vt:lpstr>How They Treat Artifacts</vt:lpstr>
      <vt:lpstr>Relationship Between the Two</vt:lpstr>
      <vt:lpstr>AI First Software Development</vt:lpstr>
      <vt:lpstr>Prompt-First Software Development</vt:lpstr>
      <vt:lpstr>Course Modules</vt:lpstr>
      <vt:lpstr>Hands-On with GitHub Copilot in VS Code</vt:lpstr>
      <vt:lpstr>Prompt Specificity</vt:lpstr>
      <vt:lpstr>Exercise: Getting Started with GitHub Copilot in VS Code</vt:lpstr>
      <vt:lpstr>Exercise: Understanding Context Management</vt:lpstr>
      <vt:lpstr>Exercise: Chat Management and Workflow</vt:lpstr>
      <vt:lpstr>Course Modules</vt:lpstr>
      <vt:lpstr>Collaborative AI Development</vt:lpstr>
      <vt:lpstr>Collaborating on a Solution</vt:lpstr>
      <vt:lpstr>Evergreen Software Core Principles</vt:lpstr>
      <vt:lpstr>Core Evergreen Principles</vt:lpstr>
      <vt:lpstr>Why Software Fails to Be Evergreen</vt:lpstr>
      <vt:lpstr>Course Modules</vt:lpstr>
      <vt:lpstr>Adding AI Guardrails</vt:lpstr>
      <vt:lpstr>Adding AI Guardrails</vt:lpstr>
      <vt:lpstr>Instructions for Generating Artifacts</vt:lpstr>
      <vt:lpstr>Enforcing Provenance for AI Artifacts</vt:lpstr>
      <vt:lpstr>Instructions for AI Generated Artifacts</vt:lpstr>
      <vt:lpstr>AI-Assisted Output Instructions</vt:lpstr>
      <vt:lpstr>Required Provenance Metadata</vt:lpstr>
      <vt:lpstr>Metadata Placement Policy</vt:lpstr>
      <vt:lpstr>AI Chat Logging Workflow</vt:lpstr>
      <vt:lpstr>Quality &amp; PR Checklist</vt:lpstr>
      <vt:lpstr>Copilot Integration Requirements</vt:lpstr>
      <vt:lpstr>Enforcement &amp; Remediation</vt:lpstr>
      <vt:lpstr>Core Instruction files</vt:lpstr>
      <vt:lpstr>Exercise: Copy the Core Instructions</vt:lpstr>
      <vt:lpstr>Exercise: Create an Instruction File for Evergreen Development</vt:lpstr>
      <vt:lpstr>Exercise: Context-Related Issues</vt:lpstr>
      <vt:lpstr>Instruction Files</vt:lpstr>
      <vt:lpstr>What Are Instruction Files?</vt:lpstr>
      <vt:lpstr>Instruction Files: Use Cases</vt:lpstr>
      <vt:lpstr>Copilot User Instruction Files</vt:lpstr>
      <vt:lpstr>Rule categories in the example file</vt:lpstr>
      <vt:lpstr>How instruction files shape Copilot responses</vt:lpstr>
      <vt:lpstr>Authoring checklist for high-quality instruction files</vt:lpstr>
      <vt:lpstr>Practical before and after behavior</vt:lpstr>
      <vt:lpstr>Scoped vs Non‑Scoped Instructions</vt:lpstr>
      <vt:lpstr>Scoped &lt;name&gt;.instructions.md files</vt:lpstr>
      <vt:lpstr>Repo‑level .md files</vt:lpstr>
      <vt:lpstr>Decision Rule</vt:lpstr>
      <vt:lpstr>exclude: in Practice</vt:lpstr>
      <vt:lpstr>Instruction File applyTo Patterns</vt:lpstr>
      <vt:lpstr>Instruction File applyTo Patterns</vt:lpstr>
      <vt:lpstr>Where appliesTo Fits</vt:lpstr>
      <vt:lpstr>How appliesTo Interacts with the Stack</vt:lpstr>
      <vt:lpstr>Universal Application</vt:lpstr>
      <vt:lpstr> File Extension Matching</vt:lpstr>
      <vt:lpstr>Directory-Specific Patterns</vt:lpstr>
      <vt:lpstr>Glob Pattern Syntax</vt:lpstr>
      <vt:lpstr>Pattern Matching Rules</vt:lpstr>
      <vt:lpstr>Core Instruction Files</vt:lpstr>
      <vt:lpstr>Core Instructions</vt:lpstr>
      <vt:lpstr>Organizational vs. Repository Instruction Files</vt:lpstr>
      <vt:lpstr>Organizational vs. Repository Instruction Files</vt:lpstr>
      <vt:lpstr>Why Two Instruction Layers Exist</vt:lpstr>
      <vt:lpstr>Business/Enterprise Tier Capabilities</vt:lpstr>
      <vt:lpstr>Copilot User Instruction Files</vt:lpstr>
      <vt:lpstr>What are user instruction files?</vt:lpstr>
      <vt:lpstr>Example file used in this deck</vt:lpstr>
      <vt:lpstr>Rule categories in the example file</vt:lpstr>
      <vt:lpstr>How instruction files shape Copilot responses</vt:lpstr>
      <vt:lpstr>Authoring checklist for high-quality instruction files</vt:lpstr>
      <vt:lpstr>Practical before and after behavior</vt:lpstr>
      <vt:lpstr>Recommended rollout in your repository</vt:lpstr>
      <vt:lpstr>Exercise: Technology Inventory and Instruction Generation</vt:lpstr>
      <vt:lpstr>Exercise: Technology Inventory and Instruction Generation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8</cp:revision>
  <dcterms:created xsi:type="dcterms:W3CDTF">2025-10-19T18:09:53Z</dcterms:created>
  <dcterms:modified xsi:type="dcterms:W3CDTF">2026-05-19T04:49:47Z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