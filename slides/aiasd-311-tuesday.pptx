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3" r:id="rId1"/>
  </p:sldMasterIdLst>
  <p:notesMasterIdLst>
    <p:notesMasterId r:id="rId8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14" r:id="rId55"/>
    <p:sldId id="315" r:id="rId56"/>
    <p:sldId id="316" r:id="rId57"/>
    <p:sldId id="317" r:id="rId58"/>
    <p:sldId id="318" r:id="rId59"/>
    <p:sldId id="319" r:id="rId60"/>
    <p:sldId id="320" r:id="rId61"/>
    <p:sldId id="321" r:id="rId62"/>
    <p:sldId id="322" r:id="rId63"/>
    <p:sldId id="323" r:id="rId64"/>
    <p:sldId id="324" r:id="rId65"/>
    <p:sldId id="325" r:id="rId66"/>
    <p:sldId id="326" r:id="rId67"/>
    <p:sldId id="327" r:id="rId68"/>
    <p:sldId id="328" r:id="rId69"/>
    <p:sldId id="329" r:id="rId70"/>
    <p:sldId id="330" r:id="rId71"/>
    <p:sldId id="331" r:id="rId72"/>
    <p:sldId id="332" r:id="rId73"/>
    <p:sldId id="333" r:id="rId74"/>
    <p:sldId id="334" r:id="rId75"/>
    <p:sldId id="335" r:id="rId76"/>
    <p:sldId id="336" r:id="rId77"/>
    <p:sldId id="337" r:id="rId78"/>
    <p:sldId id="338" r:id="rId79"/>
    <p:sldId id="339" r:id="rId80"/>
    <p:sldId id="340" r:id="rId81"/>
    <p:sldId id="341" r:id="rId82"/>
    <p:sldId id="342" r:id="rId8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08B12"/>
    <a:srgbClr val="8E1416"/>
    <a:srgbClr val="922123"/>
    <a:srgbClr val="AA8200"/>
    <a:srgbClr val="DEAA00"/>
    <a:srgbClr val="007FB1"/>
    <a:srgbClr val="38955A"/>
    <a:srgbClr val="920000"/>
    <a:srgbClr val="212121"/>
    <a:srgbClr val="2C4D7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FAE7FD0-4962-4DC1-A3EE-93E2334470BB}" v="8" dt="2026-05-19T05:26:08.80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07" autoAdjust="0"/>
    <p:restoredTop sz="63597" autoAdjust="0"/>
  </p:normalViewPr>
  <p:slideViewPr>
    <p:cSldViewPr snapToGrid="0" showGuides="1">
      <p:cViewPr varScale="1">
        <p:scale>
          <a:sx n="70" d="100"/>
          <a:sy n="70" d="100"/>
        </p:scale>
        <p:origin x="717" y="36"/>
      </p:cViewPr>
      <p:guideLst/>
    </p:cSldViewPr>
  </p:slideViewPr>
  <p:outlineViewPr>
    <p:cViewPr>
      <p:scale>
        <a:sx n="33" d="100"/>
        <a:sy n="33" d="100"/>
      </p:scale>
      <p:origin x="0" y="-16152"/>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notesMaster" Target="notesMasters/notesMaster1.xml"/><Relationship Id="rId89" Type="http://schemas.microsoft.com/office/2016/11/relationships/changesInfo" Target="changesInfos/changesInfo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microsoft.com/office/2015/10/relationships/revisionInfo" Target="revisionInfo.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Miller" userId="70e70d2d-fa72-4952-98cf-67858fa4ef7a" providerId="ADAL" clId="{3C0F8D48-B805-4732-975A-89F26263F015}"/>
    <pc:docChg chg="undo custSel delSld modSld">
      <pc:chgData name="John Miller" userId="70e70d2d-fa72-4952-98cf-67858fa4ef7a" providerId="ADAL" clId="{3C0F8D48-B805-4732-975A-89F26263F015}" dt="2026-05-19T05:31:15.853" v="246" actId="27636"/>
      <pc:docMkLst>
        <pc:docMk/>
      </pc:docMkLst>
      <pc:sldChg chg="addSp delSp modSp mod modClrScheme chgLayout">
        <pc:chgData name="John Miller" userId="70e70d2d-fa72-4952-98cf-67858fa4ef7a" providerId="ADAL" clId="{3C0F8D48-B805-4732-975A-89F26263F015}" dt="2026-05-19T04:56:57.540" v="13" actId="20577"/>
        <pc:sldMkLst>
          <pc:docMk/>
          <pc:sldMk cId="0" sldId="256"/>
        </pc:sldMkLst>
        <pc:spChg chg="mod ord">
          <ac:chgData name="John Miller" userId="70e70d2d-fa72-4952-98cf-67858fa4ef7a" providerId="ADAL" clId="{3C0F8D48-B805-4732-975A-89F26263F015}" dt="2026-05-19T04:56:57.540" v="13" actId="20577"/>
          <ac:spMkLst>
            <pc:docMk/>
            <pc:sldMk cId="0" sldId="256"/>
            <ac:spMk id="2" creationId="{00000000-0000-0000-0000-000000000000}"/>
          </ac:spMkLst>
        </pc:spChg>
        <pc:spChg chg="add del mod ord">
          <ac:chgData name="John Miller" userId="70e70d2d-fa72-4952-98cf-67858fa4ef7a" providerId="ADAL" clId="{3C0F8D48-B805-4732-975A-89F26263F015}" dt="2026-05-19T04:55:25.562" v="1" actId="700"/>
          <ac:spMkLst>
            <pc:docMk/>
            <pc:sldMk cId="0" sldId="256"/>
            <ac:spMk id="3" creationId="{722E6159-32FC-3DB5-4AAC-D22DA400C66B}"/>
          </ac:spMkLst>
        </pc:spChg>
        <pc:spChg chg="add del mod ord">
          <ac:chgData name="John Miller" userId="70e70d2d-fa72-4952-98cf-67858fa4ef7a" providerId="ADAL" clId="{3C0F8D48-B805-4732-975A-89F26263F015}" dt="2026-05-19T04:55:36.169" v="2" actId="700"/>
          <ac:spMkLst>
            <pc:docMk/>
            <pc:sldMk cId="0" sldId="256"/>
            <ac:spMk id="4" creationId="{31B39828-6430-2ED9-AE2C-F8BBB52A5630}"/>
          </ac:spMkLst>
        </pc:spChg>
        <pc:spChg chg="add mod ord">
          <ac:chgData name="John Miller" userId="70e70d2d-fa72-4952-98cf-67858fa4ef7a" providerId="ADAL" clId="{3C0F8D48-B805-4732-975A-89F26263F015}" dt="2026-05-19T04:56:50.444" v="4"/>
          <ac:spMkLst>
            <pc:docMk/>
            <pc:sldMk cId="0" sldId="256"/>
            <ac:spMk id="5" creationId="{9802B9BC-7DDD-0D26-FED2-007043A409ED}"/>
          </ac:spMkLst>
        </pc:spChg>
      </pc:sldChg>
      <pc:sldChg chg="addSp delSp modSp mod modClrScheme chgLayout">
        <pc:chgData name="John Miller" userId="70e70d2d-fa72-4952-98cf-67858fa4ef7a" providerId="ADAL" clId="{3C0F8D48-B805-4732-975A-89F26263F015}" dt="2026-05-19T05:00:51.446" v="26" actId="27636"/>
        <pc:sldMkLst>
          <pc:docMk/>
          <pc:sldMk cId="0" sldId="266"/>
        </pc:sldMkLst>
        <pc:spChg chg="mod ord">
          <ac:chgData name="John Miller" userId="70e70d2d-fa72-4952-98cf-67858fa4ef7a" providerId="ADAL" clId="{3C0F8D48-B805-4732-975A-89F26263F015}" dt="2026-05-19T04:59:46.974" v="14" actId="700"/>
          <ac:spMkLst>
            <pc:docMk/>
            <pc:sldMk cId="0" sldId="266"/>
            <ac:spMk id="2" creationId="{00000000-0000-0000-0000-000000000000}"/>
          </ac:spMkLst>
        </pc:spChg>
        <pc:spChg chg="mod ord">
          <ac:chgData name="John Miller" userId="70e70d2d-fa72-4952-98cf-67858fa4ef7a" providerId="ADAL" clId="{3C0F8D48-B805-4732-975A-89F26263F015}" dt="2026-05-19T05:00:51.446" v="26" actId="27636"/>
          <ac:spMkLst>
            <pc:docMk/>
            <pc:sldMk cId="0" sldId="266"/>
            <ac:spMk id="3" creationId="{00000000-0000-0000-0000-000000000000}"/>
          </ac:spMkLst>
        </pc:spChg>
        <pc:spChg chg="add del mod ord">
          <ac:chgData name="John Miller" userId="70e70d2d-fa72-4952-98cf-67858fa4ef7a" providerId="ADAL" clId="{3C0F8D48-B805-4732-975A-89F26263F015}" dt="2026-05-19T04:59:56.678" v="18"/>
          <ac:spMkLst>
            <pc:docMk/>
            <pc:sldMk cId="0" sldId="266"/>
            <ac:spMk id="5" creationId="{F434E857-9DDD-31DA-6795-68145B8B2DBA}"/>
          </ac:spMkLst>
        </pc:spChg>
        <pc:picChg chg="del">
          <ac:chgData name="John Miller" userId="70e70d2d-fa72-4952-98cf-67858fa4ef7a" providerId="ADAL" clId="{3C0F8D48-B805-4732-975A-89F26263F015}" dt="2026-05-19T04:59:54.561" v="17" actId="21"/>
          <ac:picMkLst>
            <pc:docMk/>
            <pc:sldMk cId="0" sldId="266"/>
            <ac:picMk id="4" creationId="{00000000-0000-0000-0000-000000000000}"/>
          </ac:picMkLst>
        </pc:picChg>
        <pc:picChg chg="add mod">
          <ac:chgData name="John Miller" userId="70e70d2d-fa72-4952-98cf-67858fa4ef7a" providerId="ADAL" clId="{3C0F8D48-B805-4732-975A-89F26263F015}" dt="2026-05-19T04:59:56.678" v="18"/>
          <ac:picMkLst>
            <pc:docMk/>
            <pc:sldMk cId="0" sldId="266"/>
            <ac:picMk id="6" creationId="{00000000-0000-0000-0000-000000000000}"/>
          </ac:picMkLst>
        </pc:picChg>
      </pc:sldChg>
      <pc:sldChg chg="addSp delSp modSp mod modClrScheme chgLayout">
        <pc:chgData name="John Miller" userId="70e70d2d-fa72-4952-98cf-67858fa4ef7a" providerId="ADAL" clId="{3C0F8D48-B805-4732-975A-89F26263F015}" dt="2026-05-19T05:04:20.957" v="49" actId="20577"/>
        <pc:sldMkLst>
          <pc:docMk/>
          <pc:sldMk cId="0" sldId="268"/>
        </pc:sldMkLst>
        <pc:spChg chg="mod ord">
          <ac:chgData name="John Miller" userId="70e70d2d-fa72-4952-98cf-67858fa4ef7a" providerId="ADAL" clId="{3C0F8D48-B805-4732-975A-89F26263F015}" dt="2026-05-19T05:04:20.957" v="49" actId="20577"/>
          <ac:spMkLst>
            <pc:docMk/>
            <pc:sldMk cId="0" sldId="268"/>
            <ac:spMk id="2" creationId="{00000000-0000-0000-0000-000000000000}"/>
          </ac:spMkLst>
        </pc:spChg>
        <pc:spChg chg="mod ord">
          <ac:chgData name="John Miller" userId="70e70d2d-fa72-4952-98cf-67858fa4ef7a" providerId="ADAL" clId="{3C0F8D48-B805-4732-975A-89F26263F015}" dt="2026-05-19T05:03:37.053" v="37" actId="6549"/>
          <ac:spMkLst>
            <pc:docMk/>
            <pc:sldMk cId="0" sldId="268"/>
            <ac:spMk id="3" creationId="{00000000-0000-0000-0000-000000000000}"/>
          </ac:spMkLst>
        </pc:spChg>
        <pc:spChg chg="add del mod ord">
          <ac:chgData name="John Miller" userId="70e70d2d-fa72-4952-98cf-67858fa4ef7a" providerId="ADAL" clId="{3C0F8D48-B805-4732-975A-89F26263F015}" dt="2026-05-19T05:03:25.709" v="31"/>
          <ac:spMkLst>
            <pc:docMk/>
            <pc:sldMk cId="0" sldId="268"/>
            <ac:spMk id="5" creationId="{3F5406E1-D906-4677-6986-8D2589F7A37B}"/>
          </ac:spMkLst>
        </pc:spChg>
        <pc:picChg chg="del">
          <ac:chgData name="John Miller" userId="70e70d2d-fa72-4952-98cf-67858fa4ef7a" providerId="ADAL" clId="{3C0F8D48-B805-4732-975A-89F26263F015}" dt="2026-05-19T05:03:23.428" v="30" actId="21"/>
          <ac:picMkLst>
            <pc:docMk/>
            <pc:sldMk cId="0" sldId="268"/>
            <ac:picMk id="4" creationId="{00000000-0000-0000-0000-000000000000}"/>
          </ac:picMkLst>
        </pc:picChg>
        <pc:picChg chg="add mod">
          <ac:chgData name="John Miller" userId="70e70d2d-fa72-4952-98cf-67858fa4ef7a" providerId="ADAL" clId="{3C0F8D48-B805-4732-975A-89F26263F015}" dt="2026-05-19T05:03:25.709" v="31"/>
          <ac:picMkLst>
            <pc:docMk/>
            <pc:sldMk cId="0" sldId="268"/>
            <ac:picMk id="6" creationId="{00000000-0000-0000-0000-000000000000}"/>
          </ac:picMkLst>
        </pc:picChg>
      </pc:sldChg>
      <pc:sldChg chg="modSp mod">
        <pc:chgData name="John Miller" userId="70e70d2d-fa72-4952-98cf-67858fa4ef7a" providerId="ADAL" clId="{3C0F8D48-B805-4732-975A-89F26263F015}" dt="2026-05-19T05:05:42.906" v="68" actId="27636"/>
        <pc:sldMkLst>
          <pc:docMk/>
          <pc:sldMk cId="0" sldId="269"/>
        </pc:sldMkLst>
        <pc:spChg chg="mod">
          <ac:chgData name="John Miller" userId="70e70d2d-fa72-4952-98cf-67858fa4ef7a" providerId="ADAL" clId="{3C0F8D48-B805-4732-975A-89F26263F015}" dt="2026-05-19T05:05:30.852" v="66" actId="404"/>
          <ac:spMkLst>
            <pc:docMk/>
            <pc:sldMk cId="0" sldId="269"/>
            <ac:spMk id="2" creationId="{00000000-0000-0000-0000-000000000000}"/>
          </ac:spMkLst>
        </pc:spChg>
        <pc:spChg chg="mod">
          <ac:chgData name="John Miller" userId="70e70d2d-fa72-4952-98cf-67858fa4ef7a" providerId="ADAL" clId="{3C0F8D48-B805-4732-975A-89F26263F015}" dt="2026-05-19T05:05:42.906" v="68" actId="27636"/>
          <ac:spMkLst>
            <pc:docMk/>
            <pc:sldMk cId="0" sldId="269"/>
            <ac:spMk id="3" creationId="{00000000-0000-0000-0000-000000000000}"/>
          </ac:spMkLst>
        </pc:spChg>
      </pc:sldChg>
      <pc:sldChg chg="modSp mod">
        <pc:chgData name="John Miller" userId="70e70d2d-fa72-4952-98cf-67858fa4ef7a" providerId="ADAL" clId="{3C0F8D48-B805-4732-975A-89F26263F015}" dt="2026-05-19T05:07:24.404" v="69" actId="114"/>
        <pc:sldMkLst>
          <pc:docMk/>
          <pc:sldMk cId="0" sldId="275"/>
        </pc:sldMkLst>
        <pc:spChg chg="mod">
          <ac:chgData name="John Miller" userId="70e70d2d-fa72-4952-98cf-67858fa4ef7a" providerId="ADAL" clId="{3C0F8D48-B805-4732-975A-89F26263F015}" dt="2026-05-19T05:07:24.404" v="69" actId="114"/>
          <ac:spMkLst>
            <pc:docMk/>
            <pc:sldMk cId="0" sldId="275"/>
            <ac:spMk id="3" creationId="{00000000-0000-0000-0000-000000000000}"/>
          </ac:spMkLst>
        </pc:spChg>
      </pc:sldChg>
      <pc:sldChg chg="addSp delSp modSp mod modClrScheme chgLayout">
        <pc:chgData name="John Miller" userId="70e70d2d-fa72-4952-98cf-67858fa4ef7a" providerId="ADAL" clId="{3C0F8D48-B805-4732-975A-89F26263F015}" dt="2026-05-19T05:09:20.017" v="74"/>
        <pc:sldMkLst>
          <pc:docMk/>
          <pc:sldMk cId="0" sldId="285"/>
        </pc:sldMkLst>
        <pc:spChg chg="mod ord">
          <ac:chgData name="John Miller" userId="70e70d2d-fa72-4952-98cf-67858fa4ef7a" providerId="ADAL" clId="{3C0F8D48-B805-4732-975A-89F26263F015}" dt="2026-05-19T05:09:14.223" v="70" actId="700"/>
          <ac:spMkLst>
            <pc:docMk/>
            <pc:sldMk cId="0" sldId="285"/>
            <ac:spMk id="2" creationId="{00000000-0000-0000-0000-000000000000}"/>
          </ac:spMkLst>
        </pc:spChg>
        <pc:spChg chg="mod ord">
          <ac:chgData name="John Miller" userId="70e70d2d-fa72-4952-98cf-67858fa4ef7a" providerId="ADAL" clId="{3C0F8D48-B805-4732-975A-89F26263F015}" dt="2026-05-19T05:09:14.258" v="72" actId="27636"/>
          <ac:spMkLst>
            <pc:docMk/>
            <pc:sldMk cId="0" sldId="285"/>
            <ac:spMk id="3" creationId="{00000000-0000-0000-0000-000000000000}"/>
          </ac:spMkLst>
        </pc:spChg>
        <pc:spChg chg="add del mod ord">
          <ac:chgData name="John Miller" userId="70e70d2d-fa72-4952-98cf-67858fa4ef7a" providerId="ADAL" clId="{3C0F8D48-B805-4732-975A-89F26263F015}" dt="2026-05-19T05:09:20.017" v="74"/>
          <ac:spMkLst>
            <pc:docMk/>
            <pc:sldMk cId="0" sldId="285"/>
            <ac:spMk id="5" creationId="{E30B5AF4-73D7-69D4-4789-2DEB7AC12D5A}"/>
          </ac:spMkLst>
        </pc:spChg>
        <pc:picChg chg="del">
          <ac:chgData name="John Miller" userId="70e70d2d-fa72-4952-98cf-67858fa4ef7a" providerId="ADAL" clId="{3C0F8D48-B805-4732-975A-89F26263F015}" dt="2026-05-19T05:09:18.520" v="73" actId="21"/>
          <ac:picMkLst>
            <pc:docMk/>
            <pc:sldMk cId="0" sldId="285"/>
            <ac:picMk id="4" creationId="{00000000-0000-0000-0000-000000000000}"/>
          </ac:picMkLst>
        </pc:picChg>
        <pc:picChg chg="add mod">
          <ac:chgData name="John Miller" userId="70e70d2d-fa72-4952-98cf-67858fa4ef7a" providerId="ADAL" clId="{3C0F8D48-B805-4732-975A-89F26263F015}" dt="2026-05-19T05:09:20.017" v="74"/>
          <ac:picMkLst>
            <pc:docMk/>
            <pc:sldMk cId="0" sldId="285"/>
            <ac:picMk id="6" creationId="{00000000-0000-0000-0000-000000000000}"/>
          </ac:picMkLst>
        </pc:picChg>
      </pc:sldChg>
      <pc:sldChg chg="del">
        <pc:chgData name="John Miller" userId="70e70d2d-fa72-4952-98cf-67858fa4ef7a" providerId="ADAL" clId="{3C0F8D48-B805-4732-975A-89F26263F015}" dt="2026-05-19T05:11:29.024" v="75" actId="47"/>
        <pc:sldMkLst>
          <pc:docMk/>
          <pc:sldMk cId="0" sldId="309"/>
        </pc:sldMkLst>
      </pc:sldChg>
      <pc:sldChg chg="del">
        <pc:chgData name="John Miller" userId="70e70d2d-fa72-4952-98cf-67858fa4ef7a" providerId="ADAL" clId="{3C0F8D48-B805-4732-975A-89F26263F015}" dt="2026-05-19T05:11:31.241" v="76" actId="47"/>
        <pc:sldMkLst>
          <pc:docMk/>
          <pc:sldMk cId="0" sldId="310"/>
        </pc:sldMkLst>
      </pc:sldChg>
      <pc:sldChg chg="del">
        <pc:chgData name="John Miller" userId="70e70d2d-fa72-4952-98cf-67858fa4ef7a" providerId="ADAL" clId="{3C0F8D48-B805-4732-975A-89F26263F015}" dt="2026-05-19T05:11:33.457" v="77" actId="47"/>
        <pc:sldMkLst>
          <pc:docMk/>
          <pc:sldMk cId="0" sldId="311"/>
        </pc:sldMkLst>
      </pc:sldChg>
      <pc:sldChg chg="del">
        <pc:chgData name="John Miller" userId="70e70d2d-fa72-4952-98cf-67858fa4ef7a" providerId="ADAL" clId="{3C0F8D48-B805-4732-975A-89F26263F015}" dt="2026-05-19T05:11:35.782" v="78" actId="47"/>
        <pc:sldMkLst>
          <pc:docMk/>
          <pc:sldMk cId="0" sldId="312"/>
        </pc:sldMkLst>
      </pc:sldChg>
      <pc:sldChg chg="del">
        <pc:chgData name="John Miller" userId="70e70d2d-fa72-4952-98cf-67858fa4ef7a" providerId="ADAL" clId="{3C0F8D48-B805-4732-975A-89F26263F015}" dt="2026-05-19T05:11:38.150" v="79" actId="47"/>
        <pc:sldMkLst>
          <pc:docMk/>
          <pc:sldMk cId="0" sldId="313"/>
        </pc:sldMkLst>
      </pc:sldChg>
      <pc:sldChg chg="modSp mod">
        <pc:chgData name="John Miller" userId="70e70d2d-fa72-4952-98cf-67858fa4ef7a" providerId="ADAL" clId="{3C0F8D48-B805-4732-975A-89F26263F015}" dt="2026-05-19T05:13:09.650" v="81" actId="15"/>
        <pc:sldMkLst>
          <pc:docMk/>
          <pc:sldMk cId="0" sldId="315"/>
        </pc:sldMkLst>
        <pc:spChg chg="mod">
          <ac:chgData name="John Miller" userId="70e70d2d-fa72-4952-98cf-67858fa4ef7a" providerId="ADAL" clId="{3C0F8D48-B805-4732-975A-89F26263F015}" dt="2026-05-19T05:13:09.650" v="81" actId="15"/>
          <ac:spMkLst>
            <pc:docMk/>
            <pc:sldMk cId="0" sldId="315"/>
            <ac:spMk id="3" creationId="{00000000-0000-0000-0000-000000000000}"/>
          </ac:spMkLst>
        </pc:spChg>
      </pc:sldChg>
      <pc:sldChg chg="modSp mod">
        <pc:chgData name="John Miller" userId="70e70d2d-fa72-4952-98cf-67858fa4ef7a" providerId="ADAL" clId="{3C0F8D48-B805-4732-975A-89F26263F015}" dt="2026-05-19T05:13:48.870" v="96" actId="27636"/>
        <pc:sldMkLst>
          <pc:docMk/>
          <pc:sldMk cId="0" sldId="316"/>
        </pc:sldMkLst>
        <pc:spChg chg="mod">
          <ac:chgData name="John Miller" userId="70e70d2d-fa72-4952-98cf-67858fa4ef7a" providerId="ADAL" clId="{3C0F8D48-B805-4732-975A-89F26263F015}" dt="2026-05-19T05:13:48.870" v="96" actId="27636"/>
          <ac:spMkLst>
            <pc:docMk/>
            <pc:sldMk cId="0" sldId="316"/>
            <ac:spMk id="3" creationId="{00000000-0000-0000-0000-000000000000}"/>
          </ac:spMkLst>
        </pc:spChg>
      </pc:sldChg>
      <pc:sldChg chg="modSp mod">
        <pc:chgData name="John Miller" userId="70e70d2d-fa72-4952-98cf-67858fa4ef7a" providerId="ADAL" clId="{3C0F8D48-B805-4732-975A-89F26263F015}" dt="2026-05-19T05:15:37.123" v="104" actId="403"/>
        <pc:sldMkLst>
          <pc:docMk/>
          <pc:sldMk cId="0" sldId="317"/>
        </pc:sldMkLst>
        <pc:spChg chg="mod">
          <ac:chgData name="John Miller" userId="70e70d2d-fa72-4952-98cf-67858fa4ef7a" providerId="ADAL" clId="{3C0F8D48-B805-4732-975A-89F26263F015}" dt="2026-05-19T05:15:11.557" v="100" actId="12"/>
          <ac:spMkLst>
            <pc:docMk/>
            <pc:sldMk cId="0" sldId="317"/>
            <ac:spMk id="3" creationId="{00000000-0000-0000-0000-000000000000}"/>
          </ac:spMkLst>
        </pc:spChg>
        <pc:spChg chg="mod">
          <ac:chgData name="John Miller" userId="70e70d2d-fa72-4952-98cf-67858fa4ef7a" providerId="ADAL" clId="{3C0F8D48-B805-4732-975A-89F26263F015}" dt="2026-05-19T05:15:37.123" v="104" actId="403"/>
          <ac:spMkLst>
            <pc:docMk/>
            <pc:sldMk cId="0" sldId="317"/>
            <ac:spMk id="4" creationId="{00000000-0000-0000-0000-000000000000}"/>
          </ac:spMkLst>
        </pc:spChg>
      </pc:sldChg>
      <pc:sldChg chg="modSp mod">
        <pc:chgData name="John Miller" userId="70e70d2d-fa72-4952-98cf-67858fa4ef7a" providerId="ADAL" clId="{3C0F8D48-B805-4732-975A-89F26263F015}" dt="2026-05-19T05:18:55.859" v="134" actId="27636"/>
        <pc:sldMkLst>
          <pc:docMk/>
          <pc:sldMk cId="0" sldId="319"/>
        </pc:sldMkLst>
        <pc:spChg chg="mod">
          <ac:chgData name="John Miller" userId="70e70d2d-fa72-4952-98cf-67858fa4ef7a" providerId="ADAL" clId="{3C0F8D48-B805-4732-975A-89F26263F015}" dt="2026-05-19T05:18:55.859" v="134" actId="27636"/>
          <ac:spMkLst>
            <pc:docMk/>
            <pc:sldMk cId="0" sldId="319"/>
            <ac:spMk id="3" creationId="{00000000-0000-0000-0000-000000000000}"/>
          </ac:spMkLst>
        </pc:spChg>
        <pc:spChg chg="mod">
          <ac:chgData name="John Miller" userId="70e70d2d-fa72-4952-98cf-67858fa4ef7a" providerId="ADAL" clId="{3C0F8D48-B805-4732-975A-89F26263F015}" dt="2026-05-19T05:18:55.858" v="133" actId="27636"/>
          <ac:spMkLst>
            <pc:docMk/>
            <pc:sldMk cId="0" sldId="319"/>
            <ac:spMk id="4" creationId="{00000000-0000-0000-0000-000000000000}"/>
          </ac:spMkLst>
        </pc:spChg>
      </pc:sldChg>
      <pc:sldChg chg="modSp mod">
        <pc:chgData name="John Miller" userId="70e70d2d-fa72-4952-98cf-67858fa4ef7a" providerId="ADAL" clId="{3C0F8D48-B805-4732-975A-89F26263F015}" dt="2026-05-19T05:22:21.858" v="163" actId="27636"/>
        <pc:sldMkLst>
          <pc:docMk/>
          <pc:sldMk cId="0" sldId="327"/>
        </pc:sldMkLst>
        <pc:spChg chg="mod">
          <ac:chgData name="John Miller" userId="70e70d2d-fa72-4952-98cf-67858fa4ef7a" providerId="ADAL" clId="{3C0F8D48-B805-4732-975A-89F26263F015}" dt="2026-05-19T05:22:21.858" v="163" actId="27636"/>
          <ac:spMkLst>
            <pc:docMk/>
            <pc:sldMk cId="0" sldId="327"/>
            <ac:spMk id="3" creationId="{00000000-0000-0000-0000-000000000000}"/>
          </ac:spMkLst>
        </pc:spChg>
        <pc:spChg chg="mod">
          <ac:chgData name="John Miller" userId="70e70d2d-fa72-4952-98cf-67858fa4ef7a" providerId="ADAL" clId="{3C0F8D48-B805-4732-975A-89F26263F015}" dt="2026-05-19T05:22:21.855" v="162" actId="27636"/>
          <ac:spMkLst>
            <pc:docMk/>
            <pc:sldMk cId="0" sldId="327"/>
            <ac:spMk id="4" creationId="{00000000-0000-0000-0000-000000000000}"/>
          </ac:spMkLst>
        </pc:spChg>
      </pc:sldChg>
      <pc:sldChg chg="modNotesTx">
        <pc:chgData name="John Miller" userId="70e70d2d-fa72-4952-98cf-67858fa4ef7a" providerId="ADAL" clId="{3C0F8D48-B805-4732-975A-89F26263F015}" dt="2026-05-19T05:23:41.705" v="164" actId="20577"/>
        <pc:sldMkLst>
          <pc:docMk/>
          <pc:sldMk cId="0" sldId="332"/>
        </pc:sldMkLst>
      </pc:sldChg>
      <pc:sldChg chg="modSp mod">
        <pc:chgData name="John Miller" userId="70e70d2d-fa72-4952-98cf-67858fa4ef7a" providerId="ADAL" clId="{3C0F8D48-B805-4732-975A-89F26263F015}" dt="2026-05-19T05:27:24.533" v="212" actId="403"/>
        <pc:sldMkLst>
          <pc:docMk/>
          <pc:sldMk cId="0" sldId="339"/>
        </pc:sldMkLst>
        <pc:spChg chg="mod">
          <ac:chgData name="John Miller" userId="70e70d2d-fa72-4952-98cf-67858fa4ef7a" providerId="ADAL" clId="{3C0F8D48-B805-4732-975A-89F26263F015}" dt="2026-05-19T05:26:54.140" v="194" actId="403"/>
          <ac:spMkLst>
            <pc:docMk/>
            <pc:sldMk cId="0" sldId="339"/>
            <ac:spMk id="3" creationId="{00000000-0000-0000-0000-000000000000}"/>
          </ac:spMkLst>
        </pc:spChg>
        <pc:spChg chg="mod">
          <ac:chgData name="John Miller" userId="70e70d2d-fa72-4952-98cf-67858fa4ef7a" providerId="ADAL" clId="{3C0F8D48-B805-4732-975A-89F26263F015}" dt="2026-05-19T05:27:24.533" v="212" actId="403"/>
          <ac:spMkLst>
            <pc:docMk/>
            <pc:sldMk cId="0" sldId="339"/>
            <ac:spMk id="4" creationId="{00000000-0000-0000-0000-000000000000}"/>
          </ac:spMkLst>
        </pc:spChg>
      </pc:sldChg>
      <pc:sldChg chg="modSp mod">
        <pc:chgData name="John Miller" userId="70e70d2d-fa72-4952-98cf-67858fa4ef7a" providerId="ADAL" clId="{3C0F8D48-B805-4732-975A-89F26263F015}" dt="2026-05-19T05:28:51.118" v="229" actId="27636"/>
        <pc:sldMkLst>
          <pc:docMk/>
          <pc:sldMk cId="0" sldId="342"/>
        </pc:sldMkLst>
        <pc:spChg chg="mod">
          <ac:chgData name="John Miller" userId="70e70d2d-fa72-4952-98cf-67858fa4ef7a" providerId="ADAL" clId="{3C0F8D48-B805-4732-975A-89F26263F015}" dt="2026-05-19T05:28:30.351" v="218" actId="20577"/>
          <ac:spMkLst>
            <pc:docMk/>
            <pc:sldMk cId="0" sldId="342"/>
            <ac:spMk id="2" creationId="{00000000-0000-0000-0000-000000000000}"/>
          </ac:spMkLst>
        </pc:spChg>
        <pc:spChg chg="mod">
          <ac:chgData name="John Miller" userId="70e70d2d-fa72-4952-98cf-67858fa4ef7a" providerId="ADAL" clId="{3C0F8D48-B805-4732-975A-89F26263F015}" dt="2026-05-19T05:28:51.118" v="229" actId="27636"/>
          <ac:spMkLst>
            <pc:docMk/>
            <pc:sldMk cId="0" sldId="342"/>
            <ac:spMk id="3" creationId="{00000000-0000-0000-0000-000000000000}"/>
          </ac:spMkLst>
        </pc:spChg>
      </pc:sldChg>
      <pc:sldChg chg="modSp mod">
        <pc:chgData name="John Miller" userId="70e70d2d-fa72-4952-98cf-67858fa4ef7a" providerId="ADAL" clId="{3C0F8D48-B805-4732-975A-89F26263F015}" dt="2026-05-19T05:30:30.903" v="238" actId="27636"/>
        <pc:sldMkLst>
          <pc:docMk/>
          <pc:sldMk cId="0" sldId="344"/>
        </pc:sldMkLst>
        <pc:spChg chg="mod">
          <ac:chgData name="John Miller" userId="70e70d2d-fa72-4952-98cf-67858fa4ef7a" providerId="ADAL" clId="{3C0F8D48-B805-4732-975A-89F26263F015}" dt="2026-05-19T05:30:30.903" v="238" actId="27636"/>
          <ac:spMkLst>
            <pc:docMk/>
            <pc:sldMk cId="0" sldId="344"/>
            <ac:spMk id="3" creationId="{00000000-0000-0000-0000-000000000000}"/>
          </ac:spMkLst>
        </pc:spChg>
      </pc:sldChg>
      <pc:sldChg chg="modSp mod">
        <pc:chgData name="John Miller" userId="70e70d2d-fa72-4952-98cf-67858fa4ef7a" providerId="ADAL" clId="{3C0F8D48-B805-4732-975A-89F26263F015}" dt="2026-05-19T05:31:15.853" v="246" actId="27636"/>
        <pc:sldMkLst>
          <pc:docMk/>
          <pc:sldMk cId="0" sldId="345"/>
        </pc:sldMkLst>
        <pc:spChg chg="mod">
          <ac:chgData name="John Miller" userId="70e70d2d-fa72-4952-98cf-67858fa4ef7a" providerId="ADAL" clId="{3C0F8D48-B805-4732-975A-89F26263F015}" dt="2026-05-19T05:31:15.853" v="246" actId="27636"/>
          <ac:spMkLst>
            <pc:docMk/>
            <pc:sldMk cId="0" sldId="345"/>
            <ac:spMk id="3" creationId="{00000000-0000-0000-0000-000000000000}"/>
          </ac:spMkLst>
        </pc:spChg>
      </pc:sldChg>
      <pc:sldChg chg="modSp mod">
        <pc:chgData name="John Miller" userId="70e70d2d-fa72-4952-98cf-67858fa4ef7a" providerId="ADAL" clId="{3C0F8D48-B805-4732-975A-89F26263F015}" dt="2026-05-19T04:56:50.774" v="8" actId="27636"/>
        <pc:sldMkLst>
          <pc:docMk/>
          <pc:sldMk cId="0" sldId="348"/>
        </pc:sldMkLst>
        <pc:spChg chg="mod">
          <ac:chgData name="John Miller" userId="70e70d2d-fa72-4952-98cf-67858fa4ef7a" providerId="ADAL" clId="{3C0F8D48-B805-4732-975A-89F26263F015}" dt="2026-05-19T04:56:50.774" v="8" actId="27636"/>
          <ac:spMkLst>
            <pc:docMk/>
            <pc:sldMk cId="0" sldId="348"/>
            <ac:spMk id="3"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E87355B-E5B2-6E48-8859-C40F7DC7FE0C}" type="datetimeFigureOut">
              <a:rPr lang="en-US" smtClean="0"/>
              <a:t>5/19/2026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D31DA66-BB00-F84C-BB6F-3E6E140CFF70}" type="slidenum">
              <a:rPr lang="en-US" smtClean="0"/>
              <a:t>‹#›</a:t>
            </a:fld>
            <a:endParaRPr lang="en-US"/>
          </a:p>
        </p:txBody>
      </p:sp>
    </p:spTree>
    <p:extLst>
      <p:ext uri="{BB962C8B-B14F-4D97-AF65-F5344CB8AC3E}">
        <p14:creationId xmlns:p14="http://schemas.microsoft.com/office/powerpoint/2010/main" val="622745019"/>
      </p:ext>
    </p:extLst>
  </p:cSld>
  <p:clrMap bg1="lt1" tx1="dk1" bg2="lt2" tx2="dk2" accent1="accent1" accent2="accent2" accent3="accent3" accent4="accent4" accent5="accent5" accent6="accent6" hlink="hlink" folHlink="folHlink"/>
  <p:notesStyle>
    <a:lvl1pPr marL="0" algn="l" defTabSz="1219170" rtl="0" eaLnBrk="1" latinLnBrk="0" hangingPunct="1">
      <a:defRPr sz="1600" kern="1200">
        <a:solidFill>
          <a:schemeClr val="tx1"/>
        </a:solidFill>
        <a:latin typeface="+mn-lt"/>
        <a:ea typeface="+mn-ea"/>
        <a:cs typeface="+mn-cs"/>
      </a:defRPr>
    </a:lvl1pPr>
    <a:lvl2pPr marL="609585" algn="l" defTabSz="1219170" rtl="0" eaLnBrk="1" latinLnBrk="0" hangingPunct="1">
      <a:defRPr sz="1600" kern="1200">
        <a:solidFill>
          <a:schemeClr val="tx1"/>
        </a:solidFill>
        <a:latin typeface="+mn-lt"/>
        <a:ea typeface="+mn-ea"/>
        <a:cs typeface="+mn-cs"/>
      </a:defRPr>
    </a:lvl2pPr>
    <a:lvl3pPr marL="1219170" algn="l" defTabSz="1219170" rtl="0" eaLnBrk="1" latinLnBrk="0" hangingPunct="1">
      <a:defRPr sz="1600" kern="1200">
        <a:solidFill>
          <a:schemeClr val="tx1"/>
        </a:solidFill>
        <a:latin typeface="+mn-lt"/>
        <a:ea typeface="+mn-ea"/>
        <a:cs typeface="+mn-cs"/>
      </a:defRPr>
    </a:lvl3pPr>
    <a:lvl4pPr marL="1828754" algn="l" defTabSz="1219170" rtl="0" eaLnBrk="1" latinLnBrk="0" hangingPunct="1">
      <a:defRPr sz="1600" kern="1200">
        <a:solidFill>
          <a:schemeClr val="tx1"/>
        </a:solidFill>
        <a:latin typeface="+mn-lt"/>
        <a:ea typeface="+mn-ea"/>
        <a:cs typeface="+mn-cs"/>
      </a:defRPr>
    </a:lvl4pPr>
    <a:lvl5pPr marL="2438339" algn="l" defTabSz="1219170" rtl="0" eaLnBrk="1" latinLnBrk="0" hangingPunct="1">
      <a:defRPr sz="1600" kern="1200">
        <a:solidFill>
          <a:schemeClr val="tx1"/>
        </a:solidFill>
        <a:latin typeface="+mn-lt"/>
        <a:ea typeface="+mn-ea"/>
        <a:cs typeface="+mn-cs"/>
      </a:defRPr>
    </a:lvl5pPr>
    <a:lvl6pPr marL="3047924" algn="l" defTabSz="1219170" rtl="0" eaLnBrk="1" latinLnBrk="0" hangingPunct="1">
      <a:defRPr sz="1600" kern="1200">
        <a:solidFill>
          <a:schemeClr val="tx1"/>
        </a:solidFill>
        <a:latin typeface="+mn-lt"/>
        <a:ea typeface="+mn-ea"/>
        <a:cs typeface="+mn-cs"/>
      </a:defRPr>
    </a:lvl6pPr>
    <a:lvl7pPr marL="3657509" algn="l" defTabSz="1219170" rtl="0" eaLnBrk="1" latinLnBrk="0" hangingPunct="1">
      <a:defRPr sz="1600" kern="1200">
        <a:solidFill>
          <a:schemeClr val="tx1"/>
        </a:solidFill>
        <a:latin typeface="+mn-lt"/>
        <a:ea typeface="+mn-ea"/>
        <a:cs typeface="+mn-cs"/>
      </a:defRPr>
    </a:lvl7pPr>
    <a:lvl8pPr marL="4267093" algn="l" defTabSz="1219170" rtl="0" eaLnBrk="1" latinLnBrk="0" hangingPunct="1">
      <a:defRPr sz="1600" kern="1200">
        <a:solidFill>
          <a:schemeClr val="tx1"/>
        </a:solidFill>
        <a:latin typeface="+mn-lt"/>
        <a:ea typeface="+mn-ea"/>
        <a:cs typeface="+mn-cs"/>
      </a:defRPr>
    </a:lvl8pPr>
    <a:lvl9pPr marL="4876678" algn="l" defTabSz="1219170"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opener as a reset after a break or between sessions.</a:t>
            </a:r>
          </a:p>
          <a:p>
            <a:r>
              <a:t>Welcome everyone back, then advance to the explicit session slide with the participation reminder.</a:t>
            </a:r>
          </a:p>
          <a:p>
            <a:endParaRPr/>
          </a:p>
          <a:p>
            <a:r>
              <a:t>---</a:t>
            </a:r>
          </a:p>
          <a:p>
            <a:endParaRPr/>
          </a:p>
          <a:p>
            <a:r>
              <a:t>Source: slides\marp\welcome-back.deck.md</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Welcome everyone back to the session. Take a moment to let people settle in before diving into content. Acknowledge that it's great to see everyone back and express enthusiasm for the session ahead.</a:t>
            </a:r>
          </a:p>
          <a:p>
            <a:endParaRPr/>
          </a:p>
          <a:p>
            <a:r>
              <a:t>Key talking points:</a:t>
            </a:r>
          </a:p>
          <a:p>
            <a:endParaRPr/>
          </a:p>
          <a:p>
            <a:r>
              <a:t>- Remind attendees of the previous session's topics briefly</a:t>
            </a:r>
          </a:p>
          <a:p>
            <a:r>
              <a:t>- Emphasize that questions are encouraged at any point — not just at the end</a:t>
            </a:r>
          </a:p>
          <a:p>
            <a:r>
              <a:t>- Set a positive, inclusive tone for the session</a:t>
            </a:r>
          </a:p>
          <a:p>
            <a:r>
              <a:t>- If this is after a break, give people 30 seconds to get re-focused</a:t>
            </a:r>
          </a:p>
          <a:p>
            <a:endParaRPr/>
          </a:p>
          <a:p>
            <a:r>
              <a:t>Transition: "Let's pick up right where we left off..."</a:t>
            </a:r>
          </a:p>
          <a:p>
            <a:endParaRPr/>
          </a:p>
          <a:p>
            <a:r>
              <a:t>---</a:t>
            </a:r>
          </a:p>
          <a:p>
            <a:endParaRPr/>
          </a:p>
          <a:p>
            <a:r>
              <a:t>Source: slides\marp\welcome-back.deck.md</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~00:01</a:t>
            </a:r>
          </a:p>
          <a:p>
            <a:endParaRPr dirty="0"/>
          </a:p>
          <a:p>
            <a:r>
              <a:rPr dirty="0"/>
              <a:t>Introduce the topic by framing it as a decision teams need to make. Most developers have heard of Copilot, but licensing details are often misunderstood. This session clarifies the tiers and what each unlocks.</a:t>
            </a:r>
          </a:p>
          <a:p>
            <a:endParaRPr dirty="0"/>
          </a:p>
          <a:p>
            <a:r>
              <a:rPr dirty="0"/>
              <a:t>Transition: "Let's start with an overview of what's available."</a:t>
            </a:r>
          </a:p>
          <a:p>
            <a:endParaRPr dirty="0"/>
          </a:p>
          <a:p>
            <a:r>
              <a:rPr dirty="0"/>
              <a:t>---</a:t>
            </a:r>
          </a:p>
          <a:p>
            <a:endParaRPr dirty="0"/>
          </a:p>
          <a:p>
            <a:r>
              <a:rPr dirty="0"/>
              <a:t>Source: slides\marp\copilot-pricing-licensing.deck.md</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Walk through the table column by column, not row by row — it helps the audience track each tier's value proposition.</a:t>
            </a:r>
          </a:p>
          <a:p>
            <a:endParaRPr/>
          </a:p>
          <a:p>
            <a:r>
              <a:t>Key talking points:</a:t>
            </a:r>
          </a:p>
          <a:p>
            <a:endParaRPr/>
          </a:p>
          <a:p>
            <a:r>
              <a:t>- Individual is for solo developers; no organizational control</a:t>
            </a:r>
          </a:p>
          <a:p>
            <a:r>
              <a:t>- Business at $19/user/month is the sweet spot for most teams</a:t>
            </a:r>
          </a:p>
          <a:p>
            <a:r>
              <a:t>- Enterprise adds Copilot Knowledge Bases, fine-tuning, and advanced audit logs</a:t>
            </a:r>
          </a:p>
          <a:p>
            <a:r>
              <a:t>- All paid plans include unlimited completions and chat</a:t>
            </a:r>
          </a:p>
          <a:p>
            <a:endParaRPr/>
          </a:p>
          <a:p>
            <a:r>
              <a:t>Emphasize: Business tier is where most organizations should start. Enterprise is for large orgs with compliance or custom knowledge needs.</a:t>
            </a:r>
          </a:p>
          <a:p>
            <a:endParaRPr/>
          </a:p>
          <a:p>
            <a:r>
              <a:t>---</a:t>
            </a:r>
          </a:p>
          <a:p>
            <a:endParaRPr/>
          </a:p>
          <a:p>
            <a:r>
              <a:t>Source: slides\marp\copilot-pricing-licensing.deck.md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Frame this as "Business is the foundation; Enterprise is the multiplier."</a:t>
            </a:r>
          </a:p>
          <a:p>
            <a:endParaRPr/>
          </a:p>
          <a:p>
            <a:r>
              <a:t>Key talking points:</a:t>
            </a:r>
          </a:p>
          <a:p>
            <a:endParaRPr/>
          </a:p>
          <a:p>
            <a:r>
              <a:t>- Most teams won't need Knowledge Bases until they have significant internal documentation</a:t>
            </a:r>
          </a:p>
          <a:p>
            <a:r>
              <a:t>- Fine-tuned models are a game-changer for teams with large proprietary codebases</a:t>
            </a:r>
          </a:p>
          <a:p>
            <a:r>
              <a:t>- PR summaries (Enterprise) save meaningful time in code review workflows</a:t>
            </a:r>
          </a:p>
          <a:p>
            <a:r>
              <a:t>- Data residency matters for EU/regulated industries</a:t>
            </a:r>
          </a:p>
          <a:p>
            <a:endParaRPr/>
          </a:p>
          <a:p>
            <a:r>
              <a:t>Help the audience self-select: "If you have a team under 500 and no compliance requirements, Business is probably right for you today."</a:t>
            </a:r>
          </a:p>
          <a:p>
            <a:endParaRPr/>
          </a:p>
          <a:p>
            <a:r>
              <a:t>---</a:t>
            </a:r>
          </a:p>
          <a:p>
            <a:endParaRPr/>
          </a:p>
          <a:p>
            <a:r>
              <a:t>Source: slides\marp\copilot-pricing-licensing.deck.md</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feature is one of the biggest unlocks of the Business tier and often underappreciated.</a:t>
            </a:r>
          </a:p>
          <a:p>
            <a:endParaRPr/>
          </a:p>
          <a:p>
            <a:r>
              <a:t>Key talking points:</a:t>
            </a:r>
          </a:p>
          <a:p>
            <a:endParaRPr/>
          </a:p>
          <a:p>
            <a:r>
              <a:t>- Org-level instructions are like a style guide that Copilot reads before every suggestion</a:t>
            </a:r>
          </a:p>
          <a:p>
            <a:r>
              <a:t>- Examples: "Always use our internal logger, never console.log", "Follow OWASP guidelines", "Use our DTO pattern"</a:t>
            </a:r>
          </a:p>
          <a:p>
            <a:r>
              <a:t>- Repo-level instructions inherit from org-level; they don't replace them</a:t>
            </a:r>
          </a:p>
          <a:p>
            <a:r>
              <a:t>- This is how you scale coding standards without code reviews catching every deviation</a:t>
            </a:r>
          </a:p>
          <a:p>
            <a:endParaRPr/>
          </a:p>
          <a:p>
            <a:r>
              <a:t>Demo opportunity: Show a `.github/instructions/` file with a coding standard rule, then show Copilot following it in the IDE.</a:t>
            </a:r>
          </a:p>
          <a:p>
            <a:endParaRPr/>
          </a:p>
          <a:p>
            <a:r>
              <a:t>Transition: "Let's talk about how to get started..."</a:t>
            </a:r>
          </a:p>
          <a:p>
            <a:endParaRPr/>
          </a:p>
          <a:p>
            <a:r>
              <a:t>---</a:t>
            </a:r>
          </a:p>
          <a:p>
            <a:endParaRPr/>
          </a:p>
          <a:p>
            <a:r>
              <a:t>Source: slides\marp\copilot-pricing-licensing.deck.md</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This is the most important conceptual slide. Many developers expect LLMs to behave like search engines or databases — they don't.</a:t>
            </a:r>
          </a:p>
          <a:p>
            <a:endParaRPr/>
          </a:p>
          <a:p>
            <a:r>
              <a:t>Key talking points:</a:t>
            </a:r>
          </a:p>
          <a:p>
            <a:endParaRPr/>
          </a:p>
          <a:p>
            <a:r>
              <a:t>- "Next token prediction" sounds simple but at scale it forces the model to learn grammar, logic, context, and even reasoning</a:t>
            </a:r>
          </a:p>
          <a:p>
            <a:r>
              <a:t>- "Weights" are just numbers — billions of floating point values that encode everything the model learned</a:t>
            </a:r>
          </a:p>
          <a:p>
            <a:r>
              <a:t>- Probabilistic output means the same prompt can produce different answers — this is by design, controlled by "temperature"</a:t>
            </a:r>
          </a:p>
          <a:p>
            <a:r>
              <a:t>- Analogy: autocomplete on your phone, but trained on all of human writing</a:t>
            </a:r>
          </a:p>
          <a:p>
            <a:endParaRPr/>
          </a:p>
          <a:p>
            <a:r>
              <a:t>Common misconception to address: "Does Copilot look up my code in a database?" — No. It generates completions based on learned patterns.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Tokenization is often overlooked but explains many "weird" LLM behaviors.</a:t>
            </a:r>
          </a:p>
          <a:p>
            <a:endParaRPr/>
          </a:p>
          <a:p>
            <a:r>
              <a:t>Key talking points:</a:t>
            </a:r>
          </a:p>
          <a:p>
            <a:endParaRPr/>
          </a:p>
          <a:p>
            <a:r>
              <a:t>- GPT-4 uses ~100,000 tokens in its vocabulary (tiktoken)</a:t>
            </a:r>
          </a:p>
          <a:p>
            <a:r>
              <a:t>- Context window limits (e.g., "128k tokens") are token limits, not character limits</a:t>
            </a:r>
          </a:p>
          <a:p>
            <a:r>
              <a:t>- Why does Copilot sometimes mishandle unusual variable names? Tokenization — rare strings get split awkwardly</a:t>
            </a:r>
          </a:p>
          <a:p>
            <a:r>
              <a:t>- Code tokenization differs from prose — identifiers often split at underscores, camelCase boundaries</a:t>
            </a:r>
          </a:p>
          <a:p>
            <a:endParaRPr/>
          </a:p>
          <a:p>
            <a:r>
              <a:t>Practical implication for developers:</a:t>
            </a:r>
          </a:p>
          <a:p>
            <a:endParaRPr/>
          </a:p>
          <a:p>
            <a:r>
              <a:t>- Long variable names consume more tokens than short ones</a:t>
            </a:r>
          </a:p>
          <a:p>
            <a:r>
              <a:t>- Copy-pasting large files into chat uses tokens fast</a:t>
            </a:r>
          </a:p>
          <a:p>
            <a:r>
              <a:t>- Understanding tokens helps estimate cost when using API</a:t>
            </a:r>
          </a:p>
          <a:p>
            <a:endParaRPr/>
          </a:p>
          <a:p>
            <a:r>
              <a:t>Interactive moment: Ask "How many tokens do you think this slide is?" — good engagement exercise.</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~00:03</a:t>
            </a:r>
          </a:p>
          <a:p>
            <a:endParaRPr dirty="0"/>
          </a:p>
          <a:p>
            <a:r>
              <a:rPr dirty="0"/>
              <a:t>You don't need to explain the math — focus on the intuition of attention.</a:t>
            </a:r>
          </a:p>
          <a:p>
            <a:endParaRPr dirty="0"/>
          </a:p>
          <a:p>
            <a:r>
              <a:rPr dirty="0"/>
              <a:t>Key talking points:</a:t>
            </a:r>
          </a:p>
          <a:p>
            <a:endParaRPr dirty="0"/>
          </a:p>
          <a:p>
            <a:r>
              <a:rPr dirty="0"/>
              <a:t>- Before Transformers: RNNs processed text sequentially (slow, forgot early context)</a:t>
            </a:r>
          </a:p>
          <a:p>
            <a:r>
              <a:rPr dirty="0"/>
              <a:t>- Transformers process everything in parallel — that's why they scale so well on GPUs</a:t>
            </a:r>
          </a:p>
          <a:p>
            <a:r>
              <a:rPr dirty="0"/>
              <a:t>- Self-attention intuition: "When I see the word 'it' in a sentence, which earlier word does 'it' refer to?" Attention figures this out</a:t>
            </a:r>
          </a:p>
          <a:p>
            <a:r>
              <a:rPr dirty="0"/>
              <a:t>- Layers build up from syntax → semantics → reasoning as you go deeper</a:t>
            </a:r>
          </a:p>
          <a:p>
            <a:endParaRPr dirty="0"/>
          </a:p>
          <a:p>
            <a:r>
              <a:rPr dirty="0"/>
              <a:t>Analogy for attention: Imagine reading a legal contract. When you hit a pronoun like "the aforementioned party," your brain jumps back to find who that is. That's attention.</a:t>
            </a:r>
          </a:p>
          <a:p>
            <a:endParaRPr dirty="0"/>
          </a:p>
          <a:p>
            <a:r>
              <a:rPr dirty="0"/>
              <a:t>Why this matters for developers: Larger context windows (more tokens processed at once) = Copilot can see more of your codebase at once = better suggestions.</a:t>
            </a:r>
          </a:p>
          <a:p>
            <a:endParaRPr dirty="0"/>
          </a:p>
          <a:p>
            <a:r>
              <a:rPr dirty="0"/>
              <a:t>---</a:t>
            </a:r>
          </a:p>
          <a:p>
            <a:endParaRPr dirty="0"/>
          </a:p>
          <a:p>
            <a:r>
              <a:rPr dirty="0"/>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Use the trophy/suitcase example — it's a classic from the research literature and immediately intuitive.</a:t>
            </a:r>
          </a:p>
          <a:p>
            <a:endParaRPr/>
          </a:p>
          <a:p>
            <a:r>
              <a:t>Key talking points:</a:t>
            </a:r>
          </a:p>
          <a:p>
            <a:endParaRPr/>
          </a:p>
          <a:p>
            <a:r>
              <a:t>- Q/K/V is just a learned lookup mechanism — don't get lost in the math</a:t>
            </a:r>
          </a:p>
          <a:p>
            <a:r>
              <a:t>- Multiple heads: one head might learn syntax relationships, another semantic, another positional</a:t>
            </a:r>
          </a:p>
          <a:p>
            <a:r>
              <a:t>- This is why LLMs understand that a closing brace `}` should match an opening one several lines earlier</a:t>
            </a:r>
          </a:p>
          <a:p>
            <a:r>
              <a:t>- Attention is also why very long prompts can "distract" the model — it has finite attention capacity</a:t>
            </a:r>
          </a:p>
          <a:p>
            <a:endParaRPr/>
          </a:p>
          <a:p>
            <a:r>
              <a:t>Practical tip: When using Copilot, relevant context near your cursor gets higher attention weight. Keep related code nearby when you want better completions.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Pre-training is where the model learns language, code, and world knowledge.</a:t>
            </a:r>
          </a:p>
          <a:p>
            <a:endParaRPr/>
          </a:p>
          <a:p>
            <a:r>
              <a:t>Key talking points:</a:t>
            </a:r>
          </a:p>
          <a:p>
            <a:endParaRPr/>
          </a:p>
          <a:p>
            <a:r>
              <a:t>- The objective is deceptively simple: predict the next token. But at scale it forces the model to learn everything</a:t>
            </a:r>
          </a:p>
          <a:p>
            <a:r>
              <a:t>- Training data quality matters enormously — garbage in, garbage out</a:t>
            </a:r>
          </a:p>
          <a:p>
            <a:r>
              <a:t>- GitHub Copilot's base model was trained on public GitHub repos (billions of lines of code)</a:t>
            </a:r>
          </a:p>
          <a:p>
            <a:r>
              <a:t>- A "base model" after pre-training will complete text but may write offensive content, refuse nothing, and ramble — it needs the next phase</a:t>
            </a:r>
          </a:p>
          <a:p>
            <a:endParaRPr/>
          </a:p>
          <a:p>
            <a:r>
              <a:t>Scale reference: GPT-3 used 45TB of text data. Training ran on ~10,000 A100 GPUs.</a:t>
            </a:r>
          </a:p>
          <a:p>
            <a:endParaRPr/>
          </a:p>
          <a:p>
            <a:r>
              <a:t>Why developers care: The pre-training corpus determines what languages, frameworks, and patterns the model knows well. Copilot knows React better than a niche internal framework.</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This phase is what separates "a model that generates text" from "an assistant you can actually use."</a:t>
            </a:r>
          </a:p>
          <a:p>
            <a:endParaRPr/>
          </a:p>
          <a:p>
            <a:r>
              <a:t>Key talking points:</a:t>
            </a:r>
          </a:p>
          <a:p>
            <a:endParaRPr/>
          </a:p>
          <a:p>
            <a:r>
              <a:t>- SFT teaches format and helpfulness; RLHF teaches judgment</a:t>
            </a:r>
          </a:p>
          <a:p>
            <a:r>
              <a:t>- "Hallucinations" happen when the model optimizes for sounding helpful over being accurate</a:t>
            </a:r>
          </a:p>
          <a:p>
            <a:r>
              <a:t>- Safety guardrails (content filters) are also applied at this stage</a:t>
            </a:r>
          </a:p>
          <a:p>
            <a:r>
              <a:t>- GitHub Copilot has additional fine-tuning on high-quality code and developer feedback</a:t>
            </a:r>
          </a:p>
          <a:p>
            <a:endParaRPr/>
          </a:p>
          <a:p>
            <a:r>
              <a:t>Why alignment matters for developers: It's why Copilot suggests reasonable code instead of technically-valid-but-insane solutions. It's also why it refuses to help with malicious code.</a:t>
            </a:r>
          </a:p>
          <a:p>
            <a:endParaRPr/>
          </a:p>
          <a:p>
            <a:r>
              <a:t>Common question: "Can I fine-tune Copilot on my codebase?" — GitHub Enterprise Copilot offers custom fine-tuning on private repos.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Context window is one of the most practically important LLM concepts for developers using Copilot.</a:t>
            </a:r>
          </a:p>
          <a:p>
            <a:endParaRPr/>
          </a:p>
          <a:p>
            <a:r>
              <a:t>Key talking points:</a:t>
            </a:r>
          </a:p>
          <a:p>
            <a:endParaRPr/>
          </a:p>
          <a:p>
            <a:r>
              <a:t>- The context window is not persistent memory — every new conversation starts fresh</a:t>
            </a:r>
          </a:p>
          <a:p>
            <a:r>
              <a:t>- Copilot automatically fills the context window with relevant code from open tabs and recent edits</a:t>
            </a:r>
          </a:p>
          <a:p>
            <a:r>
              <a:t>- This is why opening related files improves Copilot suggestions — they get included in context</a:t>
            </a:r>
          </a:p>
          <a:p>
            <a:r>
              <a:t>- Instruction files (`.github/instructions/`) consume some of the context window — keep them concise</a:t>
            </a:r>
          </a:p>
          <a:p>
            <a:endParaRPr/>
          </a:p>
          <a:p>
            <a:r>
              <a:t>Practical tip: If Copilot seems to "forget" something you told it, it likely scrolled out of the context window. Repeat the key constraints.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Temperature demystifies why LLMs give different answers to the same question.</a:t>
            </a:r>
          </a:p>
          <a:p>
            <a:endParaRPr/>
          </a:p>
          <a:p>
            <a:r>
              <a:t>Key talking points:</a:t>
            </a:r>
          </a:p>
          <a:p>
            <a:endParaRPr/>
          </a:p>
          <a:p>
            <a:r>
              <a:t>- Temperature = how "flat" or "peaked" the probability distribution is before sampling</a:t>
            </a:r>
          </a:p>
          <a:p>
            <a:r>
              <a:t>- Copilot uses a low temperature (~0.2-0.4) for code — you want predictable, correct completions</a:t>
            </a:r>
          </a:p>
          <a:p>
            <a:r>
              <a:t>- ChatGPT uses higher temperature for conversational responses — feels more natural</a:t>
            </a:r>
          </a:p>
          <a:p>
            <a:r>
              <a:t>- When Copilot gives you alternates (Alt+] to cycle), it's sampling different tokens</a:t>
            </a:r>
          </a:p>
          <a:p>
            <a:endParaRPr/>
          </a:p>
          <a:p>
            <a:r>
              <a:t>Developer implication: If you're using the Copilot API or OpenAI API directly, lower temperature for code generation tasks, higher for creative tasks like writing test descriptions.</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Wrap up by connecting the technical concepts back to practical developer behavior.</a:t>
            </a:r>
          </a:p>
          <a:p>
            <a:endParaRPr/>
          </a:p>
          <a:p>
            <a:r>
              <a:t>Key points to reinforce:</a:t>
            </a:r>
          </a:p>
          <a:p>
            <a:endParaRPr/>
          </a:p>
          <a:p>
            <a:r>
              <a:t>- You don't need to understand the math to use LLMs effectively</a:t>
            </a:r>
          </a:p>
          <a:p>
            <a:r>
              <a:t>- Understanding tokens helps you write better prompts and manage costs</a:t>
            </a:r>
          </a:p>
          <a:p>
            <a:r>
              <a:t>- Understanding context helps you structure your workspace for better Copilot suggestions</a:t>
            </a:r>
          </a:p>
          <a:p>
            <a:r>
              <a:t>- Understanding temperature explains why results vary</a:t>
            </a:r>
          </a:p>
          <a:p>
            <a:endParaRPr/>
          </a:p>
          <a:p>
            <a:r>
              <a:t>For Q&amp;A, be prepared for:</a:t>
            </a:r>
          </a:p>
          <a:p>
            <a:endParaRPr/>
          </a:p>
          <a:p>
            <a:r>
              <a:t>- "How does Copilot know about my private code?" — It doesn't unless you're using Enterprise Knowledge Bases</a:t>
            </a:r>
          </a:p>
          <a:p>
            <a:r>
              <a:t>- "Why does it make things up?" — Hallucination: the model is optimized to produce plausible-sounding text, not verified facts</a:t>
            </a:r>
          </a:p>
          <a:p>
            <a:r>
              <a:t>- "What's the difference between Copilot and ChatGPT?" — Same underlying technology; different fine-tuning, context, and integration</a:t>
            </a:r>
          </a:p>
          <a:p>
            <a:endParaRPr/>
          </a:p>
          <a:p>
            <a:r>
              <a:t>Use the remaining session time for Q&amp;A.</a:t>
            </a:r>
          </a:p>
          <a:p>
            <a:endParaRPr/>
          </a:p>
          <a:p>
            <a:r>
              <a:t>---</a:t>
            </a:r>
          </a:p>
          <a:p>
            <a:endParaRPr/>
          </a:p>
          <a:p>
            <a:r>
              <a:t>Source: slides\marp\large-language-models.deck.md</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Outline governance, admin controls, and adoption factors (training, policy, developer onboarding).</a:t>
            </a:r>
          </a:p>
          <a:p>
            <a:endParaRPr dirty="0"/>
          </a:p>
          <a:p>
            <a:r>
              <a:rPr dirty="0"/>
              <a:t>---</a:t>
            </a:r>
          </a:p>
          <a:p>
            <a:endParaRPr dirty="0"/>
          </a:p>
          <a:p>
            <a:r>
              <a:rPr dirty="0"/>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Cover IP leakage, code quality risks, and developer overreliance; suggest mitigations for each.</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Discuss regulatory impacts, auditability, and how to enforce coding policies with automated checks.</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data flows, model retraining policy for enterprise plans, and recommended org controls to protect IP.</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risks of suggested code resembling public repos and recommend legal review and filter settings.</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Summarize plan differences and pick considerations (control, audit, scale) for each offering.</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Point attendees to official docs and FAQs; recommend follow-up reading links on the slide.</a:t>
            </a:r>
          </a:p>
          <a:p>
            <a:endParaRPr/>
          </a:p>
          <a:p>
            <a:r>
              <a:t>---</a:t>
            </a:r>
          </a:p>
          <a:p>
            <a:endParaRPr/>
          </a:p>
          <a:p>
            <a:r>
              <a:t>Source: slides\marp\github-copilot-for-teams.deck.md</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Open this module by framing safety as the price of speed in AI-assisted development. The point is not to slow teams down, but to make sure faster code generation does not also mean faster mistakes reaching production. Transition by introducing the mindset shift: AI is helpful, but it is never self-approving.</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~00:03</a:t>
            </a:r>
          </a:p>
          <a:p>
            <a:endParaRPr dirty="0"/>
          </a:p>
          <a:p>
            <a:r>
              <a:rPr dirty="0"/>
              <a:t>Use the "eager knowledgeable junior developer" analogy because it is memorable and accurate. AI often produces plausible work at high speed, but plausibility is not the same thing as correctness, so every change still needs human review for domain fit, architectural consistency, and unintended side effects. Transition by explaining that tests are one of the main ways we convert suspicion into confidence.</a:t>
            </a:r>
          </a:p>
          <a:p>
            <a:endParaRPr dirty="0"/>
          </a:p>
          <a:p>
            <a:r>
              <a:rPr dirty="0"/>
              <a:t>---</a:t>
            </a:r>
          </a:p>
          <a:p>
            <a:endParaRPr dirty="0"/>
          </a:p>
          <a:p>
            <a:r>
              <a:rPr dirty="0"/>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Make it clear that code coverage is useful, but incomplete. A suite can report high coverage while still missing the exact regression that users will experience, especially if tests only exercise happy paths or assert implementation details instead of behavior. Transition by showing that one concrete place where high-signal validation matters is feature-flag retirement.</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Position small change sets as a safety mechanism, not just a style preference. When AI can generate large amounts of code quickly, the danger is not only bad code but unreviewable code, because reviewers cannot build enough understanding to catch mistakes hidden inside a massive diff. Transition by showing how automation can support review without replacing human judgment.</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~00:04</a:t>
            </a:r>
          </a:p>
          <a:p>
            <a:endParaRPr/>
          </a:p>
          <a:p>
            <a:r>
              <a:t>Explain that automation is most valuable when it reduces reviewer fatigue and helps humans spend attention where judgment matters most. Mention Azure DevOps MCP here as an example of tooling that can support pull-request workflows by pulling context, surfacing work-item links, and assisting review automation around the PR, while still leaving final approval to accountable humans. Transition to a closing checklist that teams can apply immediately.</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~00:03</a:t>
            </a:r>
          </a:p>
          <a:p>
            <a:endParaRPr/>
          </a:p>
          <a:p>
            <a:r>
              <a:t>Close with an operational checklist the audience can adopt the same day. Reiterate that the most important habits are review discipline, meaningful tests, small diffs, and intentional use of automation to make humans more effective rather than less necessary. End by connecting this section back to the larger course theme: safe acceleration beats reckless acceleration every time.</a:t>
            </a:r>
          </a:p>
          <a:p>
            <a:endParaRPr/>
          </a:p>
          <a:p>
            <a:r>
              <a:t>---</a:t>
            </a:r>
          </a:p>
          <a:p>
            <a:endParaRPr/>
          </a:p>
          <a:p>
            <a:r>
              <a:t>Source: slides\marp\safety-measures-best-practices.deck.md</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Contamination-Free Benchmarks</a:t>
            </a:r>
          </a:p>
          <a:p>
            <a:r>
              <a:t>Why They Matter — and How They Work</a:t>
            </a:r>
          </a:p>
          <a:p>
            <a:r>
              <a:t>Contamination-free benchmarks exist because modern LLMs are trained on massive, scraped corpora that often include the very benchmarks used to evaluate them. If a model has already seen the test set during training, its score is inflated — sometimes dramatically — and no longer reflects real reasoning or coding ability</a:t>
            </a:r>
          </a:p>
          <a:p>
            <a:r>
              <a:t>A contamination-free benchmark is designed to eliminate that inflation and give you a score you can actually trust.</a:t>
            </a:r>
          </a:p>
          <a:p>
            <a:endParaRPr/>
          </a:p>
          <a:p>
            <a:r>
              <a:t>---</a:t>
            </a:r>
          </a:p>
          <a:p>
            <a:endParaRPr/>
          </a:p>
          <a:p>
            <a:r>
              <a:t>Source: slides\marp\model-selection-and-comparison.deck.md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frames the idea that AI quality is directly tied to context quality.</a:t>
            </a:r>
          </a:p>
          <a:p>
            <a:endParaRPr/>
          </a:p>
          <a:p>
            <a:r>
              <a:t>Models don't “understand” your repo – they interpret whatever you give them.</a:t>
            </a:r>
          </a:p>
          <a:p>
            <a:endParaRPr/>
          </a:p>
          <a:p>
            <a:r>
              <a:t>Advanced context techniques let you control what the model sees and how reliably it stays aligned with your architecture.</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 syntax is one of the most powerful ways to anchor Copilot.</a:t>
            </a:r>
          </a:p>
          <a:p>
            <a:endParaRPr/>
          </a:p>
          <a:p>
            <a:r>
              <a:t>It forces the model to load specific files or directories into its working memory.</a:t>
            </a:r>
          </a:p>
          <a:p>
            <a:endParaRPr/>
          </a:p>
          <a:p>
            <a:r>
              <a:t>This is essential when you want the model to follow existing patterns or avoid hallucinating APIs.</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Spaces and knowledge bases give you a stable context layer that doesn't depend on prompt length.</a:t>
            </a:r>
          </a:p>
          <a:p>
            <a:endParaRPr/>
          </a:p>
          <a:p>
            <a:r>
              <a:t>Instead of repeating instructions every session, you store them once and let Copilot reference them automatically.</a:t>
            </a:r>
          </a:p>
          <a:p>
            <a:endParaRPr/>
          </a:p>
          <a:p>
            <a:r>
              <a:t>This is especially valuable for brownfield systems with scattered tribal knowledge.</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Premium models are incredible, but they're not free.</a:t>
            </a:r>
          </a:p>
          <a:p>
            <a:endParaRPr/>
          </a:p>
          <a:p>
            <a:r>
              <a:t>Monitoring usage helps teams understand where they're over-relying on heavyweight models.</a:t>
            </a:r>
          </a:p>
          <a:p>
            <a:endParaRPr/>
          </a:p>
          <a:p>
            <a:r>
              <a:t>A tiered strategy ensures the right model is used for the right task, keeping costs predictable and output quality high.</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explaining that token limits are one of the most important but least visible constraints in AI-assisted development.</a:t>
            </a:r>
          </a:p>
          <a:p>
            <a:endParaRPr/>
          </a:p>
          <a:p>
            <a:r>
              <a:t>When a model exceeds its context window, it silently drops earlier content.</a:t>
            </a:r>
          </a:p>
          <a:p>
            <a:endParaRPr/>
          </a:p>
          <a:p>
            <a:r>
              <a:t>This leads to missing requirements, contradictions, or forgotten rules.</a:t>
            </a:r>
          </a:p>
          <a:p>
            <a:endParaRPr/>
          </a:p>
          <a:p>
            <a:r>
              <a:t>The goal of this section is to help developers recognize overflow symptoms and apply techniques to prevent them.</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Token limits are a hard boundary.</a:t>
            </a:r>
          </a:p>
          <a:p>
            <a:endParaRPr/>
          </a:p>
          <a:p>
            <a:r>
              <a:t>Everything the model reads – your prompt, code snippets, examples, and even its own reasoning – counts toward the limit.</a:t>
            </a:r>
          </a:p>
          <a:p>
            <a:endParaRPr/>
          </a:p>
          <a:p>
            <a:r>
              <a:t>When the limit is exceeded, the model truncates the earliest content, which often contains critical instructions or architectural rules.</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Summaries are your first line of defense.</a:t>
            </a:r>
          </a:p>
          <a:p>
            <a:endParaRPr/>
          </a:p>
          <a:p>
            <a:r>
              <a:t>Instead of pasting entire files, summarize their purpose, interfaces, and constraints.</a:t>
            </a:r>
          </a:p>
          <a:p>
            <a:endParaRPr/>
          </a:p>
          <a:p>
            <a:r>
              <a:t>Summaries dramatically reduce token usage while keeping the model aligned with the system's intent.</a:t>
            </a:r>
          </a:p>
          <a:p>
            <a:endParaRPr/>
          </a:p>
          <a:p>
            <a:r>
              <a:t>They also become reusable context anchors for future prompts.</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Chunking keeps prompts small and manageable.</a:t>
            </a:r>
          </a:p>
          <a:p>
            <a:endParaRPr/>
          </a:p>
          <a:p>
            <a:r>
              <a:t>Instead of asking the model to refactor a huge file, break the task into sections.</a:t>
            </a:r>
          </a:p>
          <a:p>
            <a:endParaRPr/>
          </a:p>
          <a:p>
            <a:r>
              <a:t>This keeps each prompt within safe token limits and makes the output easier to review, test, and roll back if needed.</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Scoped prompts are about intentionality.</a:t>
            </a:r>
          </a:p>
          <a:p>
            <a:endParaRPr/>
          </a:p>
          <a:p>
            <a:r>
              <a:t>Tell the model exactly what part of the system to focus on.</a:t>
            </a:r>
          </a:p>
          <a:p>
            <a:endParaRPr/>
          </a:p>
          <a:p>
            <a:r>
              <a:t>This reduces token usage and improves reliability because the model isn't trying to reason about the entire codebase at once.</a:t>
            </a:r>
          </a:p>
          <a:p>
            <a:endParaRPr/>
          </a:p>
          <a:p>
            <a:r>
              <a:t>It also reduces hallucinations by narrowing the reasoning space.</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Instruction files are a powerful way to reduce token load.</a:t>
            </a:r>
          </a:p>
          <a:p>
            <a:endParaRPr/>
          </a:p>
          <a:p>
            <a:r>
              <a:t>Instead of repeating architectural rules or coding standards in every prompt, store them in a persistent instruction file.</a:t>
            </a:r>
          </a:p>
          <a:p>
            <a:endParaRPr/>
          </a:p>
          <a:p>
            <a:r>
              <a:t>This frees up space for task-specific context and keeps the model aligned with your evergreen architecture.</a:t>
            </a:r>
          </a:p>
          <a:p>
            <a:endParaRPr/>
          </a:p>
          <a:p>
            <a:r>
              <a:t>---</a:t>
            </a:r>
          </a:p>
          <a:p>
            <a:endParaRPr/>
          </a:p>
          <a:p>
            <a:r>
              <a:t>Source: slides\marp\advanced-context-techniques.deck.md</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Introduce prompt files as a key guardrail mechanism for AI-assisted development. This slide sets the stage for understanding how prompt files differ from instruction files and chat modes.</a:t>
            </a:r>
          </a:p>
          <a:p>
            <a:endParaRPr/>
          </a:p>
          <a:p>
            <a:r>
              <a:t>Key points:</a:t>
            </a:r>
          </a:p>
          <a:p>
            <a:endParaRPr/>
          </a:p>
          <a:p>
            <a:r>
              <a:t>- Prompt files are task-specific templates</a:t>
            </a:r>
          </a:p>
          <a:p>
            <a:r>
              <a:t>- They're executable and reusable</a:t>
            </a:r>
          </a:p>
          <a:p>
            <a:r>
              <a:t>- Different from instruction files (which provide continuous guidance)</a:t>
            </a:r>
          </a:p>
          <a:p>
            <a:r>
              <a:t>- Part of the "prompt-first" development approach</a:t>
            </a:r>
          </a:p>
          <a:p>
            <a:endParaRPr/>
          </a:p>
          <a:p>
            <a:r>
              <a:t>Define prompt files as "executable task templates." This framing helps participants understand their purpose and usage.</a:t>
            </a:r>
          </a:p>
          <a:p>
            <a:endParaRPr/>
          </a:p>
          <a:p>
            <a:r>
              <a:t>Key concept: Prompt files are like functions—they take inputs (context, requirements) and produce outputs (code, docs, artifacts).</a:t>
            </a:r>
          </a:p>
          <a:p>
            <a:endParaRPr/>
          </a:p>
          <a:p>
            <a:r>
              <a:t>Draw parallels to:</a:t>
            </a:r>
          </a:p>
          <a:p>
            <a:endParaRPr/>
          </a:p>
          <a:p>
            <a:r>
              <a:t>- Shell scripts (automation)</a:t>
            </a:r>
          </a:p>
          <a:p>
            <a:r>
              <a:t>- GitHub Actions workflows (CI/CD)</a:t>
            </a:r>
          </a:p>
          <a:p>
            <a:r>
              <a:t>- Makefiles (build automation)</a:t>
            </a:r>
          </a:p>
          <a:p>
            <a:endParaRPr/>
          </a:p>
          <a:p>
            <a:r>
              <a:t>Prompt files bring the same benefits: repeatability, standardization, knowledge capture.</a:t>
            </a:r>
          </a:p>
          <a:p>
            <a:endParaRPr/>
          </a:p>
          <a:p>
            <a:r>
              <a:t>Transition: "So what exactly makes a prompt file?"</a:t>
            </a:r>
          </a:p>
          <a:p>
            <a:endParaRPr/>
          </a:p>
          <a:p>
            <a:r>
              <a:t>---</a:t>
            </a:r>
          </a:p>
          <a:p>
            <a:endParaRPr/>
          </a:p>
          <a:p>
            <a:r>
              <a:t>Source: slides\marp\prompt-files.deck.md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~00:03</a:t>
            </a:r>
          </a:p>
          <a:p>
            <a:endParaRPr dirty="0"/>
          </a:p>
          <a:p>
            <a:r>
              <a:rPr dirty="0"/>
              <a:t>Provide a formal definition and key characteristics of prompt files.</a:t>
            </a:r>
          </a:p>
          <a:p>
            <a:endParaRPr dirty="0"/>
          </a:p>
          <a:p>
            <a:r>
              <a:rPr dirty="0"/>
              <a:t>Definition breakdown:</a:t>
            </a:r>
          </a:p>
          <a:p>
            <a:endParaRPr dirty="0"/>
          </a:p>
          <a:p>
            <a:r>
              <a:rPr dirty="0"/>
              <a:t>- Structured templates: Follow a consistent format with metadata</a:t>
            </a:r>
          </a:p>
          <a:p>
            <a:r>
              <a:rPr dirty="0"/>
              <a:t>- Specific, repeatable tasks: Not general guidance—concrete objectives</a:t>
            </a:r>
          </a:p>
          <a:p>
            <a:r>
              <a:rPr dirty="0"/>
              <a:t>- Designed for execution: Meant to be run, not just read</a:t>
            </a:r>
          </a:p>
          <a:p>
            <a:endParaRPr dirty="0"/>
          </a:p>
          <a:p>
            <a:r>
              <a:rPr dirty="0"/>
              <a:t>Key characteristics:</a:t>
            </a:r>
          </a:p>
          <a:p>
            <a:endParaRPr dirty="0"/>
          </a:p>
          <a:p>
            <a:r>
              <a:rPr dirty="0"/>
              <a:t>1. Scope: Single task focus (generate tests, create docs, refactor module)</a:t>
            </a:r>
          </a:p>
          <a:p>
            <a:r>
              <a:rPr dirty="0"/>
              <a:t>2. Execution: On-demand—you invoke them when needed</a:t>
            </a:r>
          </a:p>
          <a:p>
            <a:r>
              <a:rPr dirty="0"/>
              <a:t>3. Purpose: Define deliverables clearly</a:t>
            </a:r>
          </a:p>
          <a:p>
            <a:endParaRPr dirty="0"/>
          </a:p>
          <a:p>
            <a:r>
              <a:rPr dirty="0"/>
              <a:t>Contrast with instruction files:</a:t>
            </a:r>
          </a:p>
          <a:p>
            <a:endParaRPr dirty="0"/>
          </a:p>
          <a:p>
            <a:r>
              <a:rPr dirty="0"/>
              <a:t>- Instruction files: Continuous guidance (always active)</a:t>
            </a:r>
          </a:p>
          <a:p>
            <a:r>
              <a:rPr dirty="0"/>
              <a:t>- Prompt files: One-time execution (run and done)</a:t>
            </a:r>
          </a:p>
          <a:p>
            <a:endParaRPr dirty="0"/>
          </a:p>
          <a:p>
            <a:r>
              <a:rPr dirty="0"/>
              <a:t>Transition: "Let's look at the structure..."</a:t>
            </a:r>
          </a:p>
          <a:p>
            <a:endParaRPr dirty="0"/>
          </a:p>
          <a:p>
            <a:r>
              <a:rPr dirty="0"/>
              <a:t>---</a:t>
            </a:r>
          </a:p>
          <a:p>
            <a:endParaRPr dirty="0"/>
          </a:p>
          <a:p>
            <a:r>
              <a:rPr dirty="0"/>
              <a:t>Source: slides\marp\prompt-files.deck.md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slides\marp\exercise\exercise-creating-prompt-files.deck.md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~00:22</a:t>
            </a:r>
          </a:p>
          <a:p>
            <a:endParaRPr dirty="0"/>
          </a:p>
          <a:p>
            <a:r>
              <a:rPr dirty="0"/>
              <a:t>**Prerequisites:** Git access to repository, GitHub Copilot enabled, ability to open multiple chat windows</a:t>
            </a:r>
          </a:p>
          <a:p>
            <a:endParaRPr dirty="0"/>
          </a:p>
          <a:p>
            <a:r>
              <a:rPr dirty="0"/>
              <a:t>**Goal**: Experience the difference instruction files make in AI output quality through a three-phase controlled experiment measuring consistency, completeness, and reproducibility.</a:t>
            </a:r>
          </a:p>
          <a:p>
            <a:endParaRPr dirty="0"/>
          </a:p>
          <a:p>
            <a:r>
              <a:rPr dirty="0"/>
              <a:t>### Objectives</a:t>
            </a:r>
          </a:p>
          <a:p>
            <a:endParaRPr dirty="0"/>
          </a:p>
          <a:p>
            <a:r>
              <a:rPr dirty="0"/>
              <a:t>1. **Understand prompt structure**: Learn to recognize components of effective prompts, identify required vs. optional elements, and apply best practices for clarity and specificity when generating instruction files.</a:t>
            </a:r>
          </a:p>
          <a:p>
            <a:endParaRPr dirty="0"/>
          </a:p>
          <a:p>
            <a:r>
              <a:rPr dirty="0"/>
              <a:t>2. **Practice prompt engineering**: Write a prompt that generates a complete instruction file for Evergreen software development, iterate on quality based on output, and refine prompts to achieve desired results.</a:t>
            </a:r>
          </a:p>
          <a:p>
            <a:endParaRPr dirty="0"/>
          </a:p>
          <a:p>
            <a:r>
              <a:rPr dirty="0"/>
              <a:t>3. **Observe instruction file impact**: Compare outputs generated with and without instruction files, quantify measurable quality improvements in structure and metadata, and understand how instruction files enable reproducibility across team members and time.</a:t>
            </a:r>
          </a:p>
          <a:p>
            <a:endParaRPr dirty="0"/>
          </a:p>
          <a:p>
            <a:r>
              <a:rPr dirty="0"/>
              <a:t>---</a:t>
            </a:r>
          </a:p>
          <a:p>
            <a:endParaRPr dirty="0"/>
          </a:p>
          <a:p>
            <a:r>
              <a:rPr dirty="0"/>
              <a:t>Source: slides\marp\exercise\exercise-creating-prompt-files.deck.md</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Frame this as the payoff to the earlier prompt-authoring exercise. The class is no longer discussing prompts in the abstract; they are now executing them and examining the generated instruction files as real artifacts. Emphasize that the goal is not just to get output, but to understand why the output is surprisingly rich and how to improve it without losing reproducibility.</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~00:01</a:t>
            </a:r>
          </a:p>
          <a:p>
            <a:endParaRPr dirty="0"/>
          </a:p>
          <a:p>
            <a:r>
              <a:rPr dirty="0"/>
              <a:t>Walk through the workflow from left to right and make the source-versus-artifact distinction explicit. The prompt file captures intent, structure, and constraints in a reusable form, while the generated instruction file is the output that gets inspected and possibly refined. Highlight that review still matters because inference is powerful but not infallible. Use about one minute here and transition by asking what exactly the model is contributing beyond the literal text of the prompt.</a:t>
            </a:r>
          </a:p>
          <a:p>
            <a:endParaRPr dirty="0"/>
          </a:p>
          <a:p>
            <a:r>
              <a:rPr dirty="0"/>
              <a:t>---</a:t>
            </a:r>
          </a:p>
          <a:p>
            <a:endParaRPr dirty="0"/>
          </a:p>
          <a:p>
            <a:r>
              <a:rPr dirty="0"/>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This slide is about using the model's built-in knowledge deliberately instead of fighting it. Explain that a strong prompt does not need to spell out every sentence if the model already knows common structures like metadata blocks, validation sections, architecture guidance, and examples. The opportunity is speed: the model drafts broadly, and the human constrains the result to the team's true requirements.</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This slide balances the prior enthusiasm with healthy skepticism. Inference is powerful but not infallible. The model may confidently suggest structures, patterns, or details that sound plausible but do not match your actual requirements or constraints. Emphasize that comprehensive AI-generated content is a starting point, not a finished product. Teams must review, validate, and test to ensure the inferred details align with their standards and domain knowledge.</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Explain why this approach feels faster in practice. Many teams stall at the beginning because writing a complete instruction file from zero requires structure, terminology, examples, and compliance details all at once. The prompt-first approach shifts the hard part from creation to refinement, which is usually easier and faster.</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Make the tradeoff concrete. Direct edits are sometimes fine for quick cleanup, but they create drift between the reusable source and the artifact. Updating the prompt file keeps the real logic of the artifact in version control, which matters for auditability, reuse, and future regeneration. Use about one minute here and emphasize that this is the operational discipline behind reproducible AI-assisted work.</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~00:02</a:t>
            </a:r>
          </a:p>
          <a:p>
            <a:endParaRPr/>
          </a:p>
          <a:p>
            <a:r>
              <a:t>Contrast a one-line directive with a prompt file that captures the real contract for the work. A simple request may work once, but it does not explain what sections are required, what metadata must exist, or which constraints the model must honor. A detailed prompt becomes documentation of intent as well as an execution mechanism.</a:t>
            </a:r>
          </a:p>
          <a:p>
            <a:endParaRPr/>
          </a:p>
          <a:p>
            <a:r>
              <a:t>---</a:t>
            </a:r>
          </a:p>
          <a:p>
            <a:endParaRPr/>
          </a:p>
          <a:p>
            <a:r>
              <a:t>Source: slides\marp\creating-instruction-files-from-prompts.deck.md</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Auto-generated course navigation slide showing all modules with current section highlighted</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this module as a practical demonstration of how AI can accelerate documentation, analysis, and modernization in brownfield systems. Emphasize that documentation is not a side activity — it is a core guardrail for safe AI-assisted development.</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AI can maintain documentation continuously, reducing drift between code and docs.</a:t>
            </a:r>
          </a:p>
          <a:p>
            <a:endParaRPr/>
          </a:p>
          <a:p>
            <a:r>
              <a:t>This is especially valuable in brownfield systems where documentation is often outdated or missing.</a:t>
            </a:r>
          </a:p>
          <a:p>
            <a:endParaRPr/>
          </a:p>
          <a:p>
            <a:r>
              <a:t>Prompts:</a:t>
            </a:r>
          </a:p>
          <a:p>
            <a:endParaRPr/>
          </a:p>
          <a:p>
            <a:r>
              <a:t>Update the README file with the current state of the project</a:t>
            </a:r>
          </a:p>
          <a:p>
            <a:endParaRPr/>
          </a:p>
          <a:p>
            <a:r>
              <a:t>Update the documentation for CalculatorService.cs</a:t>
            </a:r>
          </a:p>
          <a:p>
            <a:endParaRPr/>
          </a:p>
          <a:p>
            <a:r>
              <a:t>Create a README for the Services component web-calculator\Services</a:t>
            </a:r>
          </a:p>
          <a:p>
            <a:endParaRPr/>
          </a:p>
          <a:p>
            <a:r>
              <a:t>Create a prompt file that creates an instruction file for documenting the project</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Encourage participants to treat diagrams as drafts – AI can generate the structure, but humans refine accuracy.</a:t>
            </a:r>
          </a:p>
          <a:p>
            <a:endParaRPr dirty="0"/>
          </a:p>
          <a:p>
            <a:r>
              <a:rPr dirty="0"/>
              <a:t>---</a:t>
            </a:r>
          </a:p>
          <a:p>
            <a:endParaRPr dirty="0"/>
          </a:p>
          <a:p>
            <a:r>
              <a:rPr dirty="0"/>
              <a:t>Source: </a:t>
            </a:r>
            <a:r>
              <a:rPr lang="en-US" dirty="0"/>
              <a:t> </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infer architecture from code structure, configuration files, and naming conventions.</a:t>
            </a:r>
          </a:p>
          <a:p>
            <a:endParaRPr/>
          </a:p>
          <a:p>
            <a:r>
              <a:t>These diagrams help teams understand legacy systems quickly and safely.</a:t>
            </a:r>
          </a:p>
          <a:p>
            <a:endParaRPr/>
          </a:p>
          <a:p>
            <a:r>
              <a:t>Prompts:</a:t>
            </a:r>
          </a:p>
          <a:p>
            <a:endParaRPr/>
          </a:p>
          <a:p>
            <a:r>
              <a:t>Create mermaid C4 diagrams for the project</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of the most powerful uses of AI in brownfield modernization.</a:t>
            </a:r>
          </a:p>
          <a:p>
            <a:endParaRPr/>
          </a:p>
          <a:p>
            <a:r>
              <a:t>It reduces onboarding time and helps engineers understand risky areas before making changes.</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can scan large codebases and surface hotspots that deserve attention.</a:t>
            </a:r>
          </a:p>
          <a:p>
            <a:endParaRPr/>
          </a:p>
          <a:p>
            <a:r>
              <a:t>This helps teams prioritize modernization work and avoid guesswork.</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guides reduce onboarding time and ensure consistent workflows across teams.</a:t>
            </a:r>
          </a:p>
          <a:p>
            <a:endParaRPr/>
          </a:p>
          <a:p>
            <a:r>
              <a:t>They also help prevent tribal knowledge loss.</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AI helps keep documentation evergreen by updating it alongside code changes.</a:t>
            </a:r>
          </a:p>
          <a:p>
            <a:endParaRPr/>
          </a:p>
          <a:p>
            <a:r>
              <a:t>This reduces drift and improves maintainability.</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Different models have different strengths.</a:t>
            </a:r>
          </a:p>
          <a:p>
            <a:endParaRPr/>
          </a:p>
          <a:p>
            <a:r>
              <a:t>Cross-validation is a powerful guardrail for correctness, especially in brownfield systems.</a:t>
            </a:r>
          </a:p>
          <a:p>
            <a:endParaRPr/>
          </a:p>
          <a:p>
            <a:r>
              <a:t>---</a:t>
            </a:r>
          </a:p>
          <a:p>
            <a:endParaRPr/>
          </a:p>
          <a:p>
            <a:r>
              <a:t>Source: slides\marp\documentation-generation-code-analysis.deck.md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~00:15</a:t>
            </a:r>
          </a:p>
          <a:p>
            <a:endParaRPr dirty="0"/>
          </a:p>
          <a:p>
            <a:r>
              <a:rPr dirty="0"/>
              <a:t>This exercise helps participants build confidence in using AI to document unfamiliar code safely and quickly.</a:t>
            </a:r>
          </a:p>
          <a:p>
            <a:endParaRPr dirty="0"/>
          </a:p>
          <a:p>
            <a:r>
              <a:rPr dirty="0"/>
              <a:t>---</a:t>
            </a:r>
          </a:p>
          <a:p>
            <a:endParaRPr dirty="0"/>
          </a:p>
          <a:p>
            <a:r>
              <a:rPr dirty="0"/>
              <a:t>Source: slides\marp\exercise\exercise-brownfield-code-documentation.deck.md</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~00:10</a:t>
            </a:r>
          </a:p>
          <a:p>
            <a:endParaRPr/>
          </a:p>
          <a:p>
            <a:r>
              <a:t>This exercise builds foundational prompt-writing skills. Encourage participants to choose a real task to make the exercise concrete.</a:t>
            </a:r>
          </a:p>
          <a:p>
            <a:endParaRPr/>
          </a:p>
          <a:p>
            <a:r>
              <a:t>Prompt: Create a prompt file that creates an instruction file for evergreen software development</a:t>
            </a:r>
          </a:p>
          <a:p>
            <a:endParaRPr/>
          </a:p>
          <a:p>
            <a:r>
              <a:t>---</a:t>
            </a:r>
          </a:p>
          <a:p>
            <a:endParaRPr/>
          </a:p>
          <a:p>
            <a:r>
              <a:t>Source: slides\marp\exercise\exercise-create-a-prompt-file.deck.md</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Duration ~00:01</a:t>
            </a:r>
          </a:p>
          <a:p>
            <a:endParaRPr/>
          </a:p>
          <a:p>
            <a:r>
              <a:t>Welcome to Section 10: Code Explanation and Analysis. This section covers approximately 9 minutes of content from the AI-Assisted Software Development course.</a:t>
            </a:r>
          </a:p>
          <a:p>
            <a:endParaRPr/>
          </a:p>
          <a:p>
            <a:r>
              <a:t>**Key Points**:</a:t>
            </a:r>
          </a:p>
          <a:p>
            <a:endParaRPr/>
          </a:p>
          <a:p>
            <a:r>
              <a:t>- This section focuses on two practical workflows: explaining unfamiliar code and analyzing test coverage gaps</a:t>
            </a:r>
          </a:p>
          <a:p>
            <a:r>
              <a:t>- GitHub Copilot acts as an on-demand code reviewer and documentation expert</a:t>
            </a:r>
          </a:p>
          <a:p>
            <a:r>
              <a:t>- These techniques are especially valuable when onboarding to an existing codebase</a:t>
            </a:r>
          </a:p>
          <a:p>
            <a:endParaRPr/>
          </a:p>
          <a:p>
            <a:r>
              <a:t>**Delivery**: Open with a relatable scenario — "Have you ever inherited a codebase with no documentation and had to figure out what it does?" This frames the value of AI-assisted code explanation.</a:t>
            </a:r>
          </a:p>
          <a:p>
            <a:endParaRPr/>
          </a:p>
          <a:p>
            <a:r>
              <a:t>**Transition**: "Let's look at what we'll cover in this section."</a:t>
            </a:r>
          </a:p>
          <a:p>
            <a:endParaRPr/>
          </a:p>
          <a:p>
            <a:r>
              <a:t>---</a:t>
            </a:r>
          </a:p>
          <a:p>
            <a:endParaRPr/>
          </a:p>
          <a:p>
            <a:r>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Duration ~00:04</a:t>
            </a:r>
          </a:p>
          <a:p>
            <a:endParaRPr dirty="0"/>
          </a:p>
          <a:p>
            <a:r>
              <a:rPr dirty="0"/>
              <a:t>**Demo Instructions**:</a:t>
            </a:r>
          </a:p>
          <a:p>
            <a:endParaRPr dirty="0"/>
          </a:p>
          <a:p>
            <a:r>
              <a:rPr dirty="0"/>
              <a:t>- Open a moderately complex function (e.g., one with multiple conditionals or loops)</a:t>
            </a:r>
          </a:p>
          <a:p>
            <a:r>
              <a:rPr dirty="0"/>
              <a:t>- Demonstrate both methods — keyboard shortcut first, then right-click</a:t>
            </a:r>
          </a:p>
          <a:p>
            <a:r>
              <a:rPr dirty="0"/>
              <a:t>- Show how the explanation appears in different panels for each method</a:t>
            </a:r>
          </a:p>
          <a:p>
            <a:endParaRPr dirty="0"/>
          </a:p>
          <a:p>
            <a:r>
              <a:rPr dirty="0"/>
              <a:t>**Key Teaching Points**:</a:t>
            </a:r>
          </a:p>
          <a:p>
            <a:endParaRPr dirty="0"/>
          </a:p>
          <a:p>
            <a:r>
              <a:rPr dirty="0"/>
              <a:t>1. **Inline Chat (</a:t>
            </a:r>
            <a:r>
              <a:rPr dirty="0" err="1"/>
              <a:t>Ctrl+I</a:t>
            </a:r>
            <a:r>
              <a:rPr dirty="0"/>
              <a:t>)**: Results appear inline, great for quick questions. Can ask follow-up questions immediately.</a:t>
            </a:r>
          </a:p>
          <a:p>
            <a:r>
              <a:rPr dirty="0"/>
              <a:t>2. **Right-Click Explain**: Opens the Chat panel with a full explanation. Better for complex code that needs a longer response.</a:t>
            </a:r>
          </a:p>
          <a:p>
            <a:endParaRPr dirty="0"/>
          </a:p>
          <a:p>
            <a:r>
              <a:rPr dirty="0"/>
              <a:t>**When to Use Each**:</a:t>
            </a:r>
          </a:p>
          <a:p>
            <a:endParaRPr dirty="0"/>
          </a:p>
          <a:p>
            <a:r>
              <a:rPr dirty="0"/>
              <a:t>- Use </a:t>
            </a:r>
            <a:r>
              <a:rPr dirty="0" err="1"/>
              <a:t>Ctrl+I</a:t>
            </a:r>
            <a:r>
              <a:rPr dirty="0"/>
              <a:t> for quick, targeted questions ("What does this regex do?")</a:t>
            </a:r>
          </a:p>
          <a:p>
            <a:r>
              <a:rPr dirty="0"/>
              <a:t>- Use Right-click Explain for comprehensive understanding ("What is this entire function doing?")</a:t>
            </a:r>
          </a:p>
          <a:p>
            <a:endParaRPr dirty="0"/>
          </a:p>
          <a:p>
            <a:r>
              <a:rPr dirty="0"/>
              <a:t>**Common Student Question**: "Does it explain external library calls?"</a:t>
            </a:r>
          </a:p>
          <a:p>
            <a:r>
              <a:rPr dirty="0"/>
              <a:t>**Answer**: Yes! Copilot knows common libraries and can explain what third-party methods do.</a:t>
            </a:r>
          </a:p>
          <a:p>
            <a:endParaRPr dirty="0"/>
          </a:p>
          <a:p>
            <a:r>
              <a:rPr dirty="0"/>
              <a:t>**Transition**: "Now let's look at a specific use case where code explanation is extremely valuable — understanding test code."</a:t>
            </a:r>
          </a:p>
          <a:p>
            <a:endParaRPr dirty="0"/>
          </a:p>
          <a:p>
            <a:r>
              <a:rPr dirty="0"/>
              <a:t>---</a:t>
            </a:r>
          </a:p>
          <a:p>
            <a:endParaRPr dirty="0"/>
          </a:p>
          <a:p>
            <a:r>
              <a:rPr dirty="0"/>
              <a:t>Source: slides\marp\code-explanation-and-analysis.deck.md</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524000" y="2759384"/>
            <a:ext cx="9144000" cy="1891556"/>
          </a:xfrm>
        </p:spPr>
        <p:txBody>
          <a:bodyPr anchor="b"/>
          <a:lstStyle>
            <a:lvl1pPr algn="ctr">
              <a:defRPr sz="6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524000" y="4952326"/>
            <a:ext cx="9144000" cy="1325070"/>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userDrawn="1"/>
        </p:nvPicPr>
        <p:blipFill>
          <a:blip r:embed="rId3" cstate="print">
            <a:extLst>
              <a:ext uri="{28A0092B-C50C-407E-A947-70E740481C1C}">
                <a14:useLocalDpi xmlns:a14="http://schemas.microsoft.com/office/drawing/2010/main" val="0"/>
              </a:ext>
            </a:extLst>
          </a:blip>
          <a:srcRect/>
          <a:stretch/>
        </p:blipFill>
        <p:spPr>
          <a:xfrm>
            <a:off x="4294437" y="1238105"/>
            <a:ext cx="3578217" cy="1288157"/>
          </a:xfrm>
          <a:prstGeom prst="rect">
            <a:avLst/>
          </a:prstGeom>
          <a:ln>
            <a:noFill/>
          </a:ln>
          <a:effectLst/>
        </p:spPr>
      </p:pic>
    </p:spTree>
    <p:extLst>
      <p:ext uri="{BB962C8B-B14F-4D97-AF65-F5344CB8AC3E}">
        <p14:creationId xmlns:p14="http://schemas.microsoft.com/office/powerpoint/2010/main" val="3742734728"/>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20587407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22829596"/>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3185060"/>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838200"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6172202" y="1463752"/>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49783303"/>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644564"/>
            <a:ext cx="8928887" cy="1568871"/>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520210162"/>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595456361"/>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900113" y="2433638"/>
            <a:ext cx="10391774" cy="3790950"/>
          </a:xfrm>
        </p:spPr>
        <p:txBody>
          <a:bodyPr/>
          <a:lstStyle/>
          <a:p>
            <a:endParaRPr lang="en-US"/>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900113" y="1444625"/>
            <a:ext cx="10391774" cy="649288"/>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1827457619"/>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671134239"/>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userDrawn="1"/>
        </p:nvPicPr>
        <p:blipFill>
          <a:blip r:embed="rId2">
            <a:alphaModFix amt="20000"/>
          </a:blip>
          <a:srcRect l="301" t="5222" r="713" b="10945"/>
          <a:stretch/>
        </p:blipFill>
        <p:spPr>
          <a:xfrm>
            <a:off x="0" y="-1"/>
            <a:ext cx="12192000" cy="6858001"/>
          </a:xfrm>
          <a:prstGeom prst="rect">
            <a:avLst/>
          </a:prstGeom>
        </p:spPr>
      </p:pic>
    </p:spTree>
    <p:extLst>
      <p:ext uri="{BB962C8B-B14F-4D97-AF65-F5344CB8AC3E}">
        <p14:creationId xmlns:p14="http://schemas.microsoft.com/office/powerpoint/2010/main" val="435387362"/>
      </p:ext>
    </p:extLst>
  </p:cSld>
  <p:clrMapOvr>
    <a:masterClrMapping/>
  </p:clrMapOvr>
  <p:transition>
    <p:fade/>
  </p:transition>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833480" y="1051965"/>
            <a:ext cx="9831823" cy="313932"/>
          </a:xfrm>
        </p:spPr>
        <p:txBody>
          <a:bodyPr>
            <a:spAutoFit/>
          </a:bodyPr>
          <a:lstStyle>
            <a:lvl1pPr marL="0" indent="0">
              <a:buFontTx/>
              <a:buNone/>
              <a:defRPr sz="1600">
                <a:latin typeface="Victor Mono" pitchFamily="49" charset="0"/>
              </a:defRPr>
            </a:lvl1pPr>
            <a:lvl2pPr marL="457200" indent="0">
              <a:buFontTx/>
              <a:buNone/>
              <a:defRPr>
                <a:latin typeface="Victor Mono" pitchFamily="49" charset="0"/>
              </a:defRPr>
            </a:lvl2pPr>
            <a:lvl3pPr marL="914400" indent="0">
              <a:buFontTx/>
              <a:buNone/>
              <a:defRPr>
                <a:latin typeface="Victor Mono" pitchFamily="49" charset="0"/>
              </a:defRPr>
            </a:lvl3pPr>
            <a:lvl4pPr marL="1371600" indent="0">
              <a:buFontTx/>
              <a:buNone/>
              <a:defRPr>
                <a:latin typeface="Victor Mono" pitchFamily="49" charset="0"/>
              </a:defRPr>
            </a:lvl4pPr>
            <a:lvl5pPr marL="18288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876091243"/>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entered Two Title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631556" y="2429000"/>
            <a:ext cx="8928887" cy="1200000"/>
          </a:xfrm>
        </p:spPr>
        <p:txBody>
          <a:bodyPr/>
          <a:lstStyle>
            <a:lvl1pPr algn="ctr">
              <a:defRPr/>
            </a:lvl1pPr>
          </a:lstStyle>
          <a:p>
            <a:r>
              <a:rPr lang="en-US"/>
              <a:t>Click to edit Master title style</a:t>
            </a:r>
            <a:endParaRPr lang="en-US" dirty="0"/>
          </a:p>
        </p:txBody>
      </p:sp>
      <p:sp>
        <p:nvSpPr>
          <p:cNvPr id="3" name="Subtitle 2"/>
          <p:cNvSpPr>
            <a:spLocks noGrp="1"/>
          </p:cNvSpPr>
          <p:nvPr>
            <p:ph type="subTitle" idx="1"/>
          </p:nvPr>
        </p:nvSpPr>
        <p:spPr>
          <a:xfrm>
            <a:off x="1631556" y="3829000"/>
            <a:ext cx="8928887" cy="600000"/>
          </a:xfrm>
        </p:spPr>
        <p:txBody>
          <a:bodyPr/>
          <a:lstStyle>
            <a:lvl1pPr algn="ctr">
              <a:defRPr/>
            </a:lvl1pPr>
          </a:lstStyle>
          <a:p>
            <a:r>
              <a:rPr lang="en-US"/>
              <a:t>Click to edit Master subtitle style</a:t>
            </a:r>
          </a:p>
        </p:txBody>
      </p:sp>
    </p:spTree>
    <p:extLst>
      <p:ext uri="{BB962C8B-B14F-4D97-AF65-F5344CB8AC3E}">
        <p14:creationId xmlns:p14="http://schemas.microsoft.com/office/powerpoint/2010/main" val="520210162"/>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userDrawn="1"/>
        </p:nvPicPr>
        <p:blipFill>
          <a:blip r:embed="rId14">
            <a:alphaModFix amt="20000"/>
          </a:blip>
          <a:srcRect l="301" t="5222" r="713" b="10945"/>
          <a:stretch/>
        </p:blipFill>
        <p:spPr>
          <a:xfrm>
            <a:off x="0" y="-1"/>
            <a:ext cx="12192000" cy="68580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838200" y="365126"/>
            <a:ext cx="8928887" cy="703024"/>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838200" y="1461483"/>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pic>
        <p:nvPicPr>
          <p:cNvPr id="4" name="Picture 3">
            <a:extLst>
              <a:ext uri="{FF2B5EF4-FFF2-40B4-BE49-F238E27FC236}">
                <a16:creationId xmlns:a16="http://schemas.microsoft.com/office/drawing/2014/main" id="{CD6163BC-C951-C17F-421A-4AD743EDDB29}"/>
              </a:ext>
            </a:extLst>
          </p:cNvPr>
          <p:cNvPicPr>
            <a:picLocks noChangeAspect="1"/>
          </p:cNvPicPr>
          <p:nvPr userDrawn="1"/>
        </p:nvPicPr>
        <p:blipFill>
          <a:blip r:embed="rId15"/>
          <a:srcRect/>
          <a:stretch/>
        </p:blipFill>
        <p:spPr>
          <a:xfrm>
            <a:off x="10016117" y="424540"/>
            <a:ext cx="1783676" cy="643610"/>
          </a:xfrm>
          <a:prstGeom prst="rect">
            <a:avLst/>
          </a:prstGeom>
          <a:ln>
            <a:noFill/>
          </a:ln>
          <a:effectLst/>
        </p:spPr>
      </p:pic>
    </p:spTree>
    <p:extLst>
      <p:ext uri="{BB962C8B-B14F-4D97-AF65-F5344CB8AC3E}">
        <p14:creationId xmlns:p14="http://schemas.microsoft.com/office/powerpoint/2010/main" val="2005844286"/>
      </p:ext>
    </p:extLst>
  </p:cSld>
  <p:clrMap bg1="lt1" tx1="dk1" bg2="lt2" tx2="dk2" accent1="accent1" accent2="accent2" accent3="accent3" accent4="accent4" accent5="accent5" accent6="accent6" hlink="hlink" folHlink="folHlink"/>
  <p:sldLayoutIdLst>
    <p:sldLayoutId id="2147483744" r:id="rId1"/>
    <p:sldLayoutId id="2147483745" r:id="rId2"/>
    <p:sldLayoutId id="2147483797" r:id="rId3"/>
    <p:sldLayoutId id="2147483746" r:id="rId4"/>
    <p:sldLayoutId id="2147483784" r:id="rId5"/>
    <p:sldLayoutId id="2147483747" r:id="rId6"/>
    <p:sldLayoutId id="2147483748" r:id="rId7"/>
    <p:sldLayoutId id="2147483792" r:id="rId8"/>
    <p:sldLayoutId id="2147483749" r:id="rId9"/>
    <p:sldLayoutId id="2147483750" r:id="rId10"/>
    <p:sldLayoutId id="2147483751" r:id="rId11"/>
    <p:sldLayoutId id="2147483798" r:id="rId12"/>
  </p:sldLayoutIdLst>
  <p:transition>
    <p:fade/>
  </p:transition>
  <p:txStyles>
    <p:titleStyle>
      <a:lvl1pPr algn="l" defTabSz="914400" rtl="0" eaLnBrk="1" latinLnBrk="0" hangingPunct="1">
        <a:lnSpc>
          <a:spcPct val="90000"/>
        </a:lnSpc>
        <a:spcBef>
          <a:spcPct val="0"/>
        </a:spcBef>
        <a:buNone/>
        <a:defRPr sz="44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228600" indent="-228600" algn="l" defTabSz="914400" rtl="0" eaLnBrk="1" latinLnBrk="0" hangingPunct="1">
        <a:lnSpc>
          <a:spcPct val="100000"/>
        </a:lnSpc>
        <a:spcBef>
          <a:spcPts val="1000"/>
        </a:spcBef>
        <a:buFont typeface="Arial" panose="020B0604020202020204" pitchFamily="34" charset="0"/>
        <a:buChar char="•"/>
        <a:defRPr sz="2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685800" indent="-228600" algn="l" defTabSz="914400" rtl="0" eaLnBrk="1" latinLnBrk="0" hangingPunct="1">
        <a:lnSpc>
          <a:spcPct val="100000"/>
        </a:lnSpc>
        <a:spcBef>
          <a:spcPts val="500"/>
        </a:spcBef>
        <a:buFont typeface="Arial" panose="020B0604020202020204" pitchFamily="34" charset="0"/>
        <a:buChar char="•"/>
        <a:defRPr sz="24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1143000" indent="-228600" algn="l" defTabSz="914400" rtl="0" eaLnBrk="1" latinLnBrk="0" hangingPunct="1">
        <a:lnSpc>
          <a:spcPct val="100000"/>
        </a:lnSpc>
        <a:spcBef>
          <a:spcPts val="500"/>
        </a:spcBef>
        <a:buFont typeface="Arial" panose="020B0604020202020204" pitchFamily="34" charset="0"/>
        <a:buChar char="•"/>
        <a:defRPr sz="20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6002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2057400" indent="-228600" algn="l" defTabSz="914400" rtl="0" eaLnBrk="1" latinLnBrk="0" hangingPunct="1">
        <a:lnSpc>
          <a:spcPct val="100000"/>
        </a:lnSpc>
        <a:spcBef>
          <a:spcPts val="500"/>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4.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4.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4.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4.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wrap="square">
            <a:normAutofit/>
          </a:bodyPr>
          <a:lstStyle/>
          <a:p>
            <a:pPr>
              <a:buNone/>
            </a:pPr>
            <a:r>
              <a:rPr lang="en-US" b="0" i="0" u="none" dirty="0"/>
              <a:t>AIASD</a:t>
            </a:r>
            <a:endParaRPr b="0" i="0" u="none" dirty="0"/>
          </a:p>
        </p:txBody>
      </p:sp>
      <p:sp>
        <p:nvSpPr>
          <p:cNvPr id="5" name="Subtitle 4">
            <a:extLst>
              <a:ext uri="{FF2B5EF4-FFF2-40B4-BE49-F238E27FC236}">
                <a16:creationId xmlns:a16="http://schemas.microsoft.com/office/drawing/2014/main" id="{9802B9BC-7DDD-0D26-FED2-007043A409ED}"/>
              </a:ext>
            </a:extLst>
          </p:cNvPr>
          <p:cNvSpPr>
            <a:spLocks noGrp="1"/>
          </p:cNvSpPr>
          <p:nvPr>
            <p:ph type="subTitle" idx="1"/>
          </p:nvPr>
        </p:nvSpPr>
        <p:spPr/>
        <p:txBody>
          <a:bodyPr/>
          <a:lstStyle/>
          <a:p>
            <a:r>
              <a:rPr lang="en-US" dirty="0"/>
              <a:t>The Return of the Prompter</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800" b="0" i="0" u="none"/>
              <a:t>Welcome Back to AI-Assisted Software Development</a:t>
            </a:r>
          </a:p>
        </p:txBody>
      </p:sp>
      <p:sp>
        <p:nvSpPr>
          <p:cNvPr id="3" name="Content Placeholder 2"/>
          <p:cNvSpPr>
            <a:spLocks noGrp="1"/>
          </p:cNvSpPr>
          <p:nvPr>
            <p:ph idx="1"/>
          </p:nvPr>
        </p:nvSpPr>
        <p:spPr/>
        <p:txBody>
          <a:bodyPr wrap="square">
            <a:normAutofit/>
          </a:bodyPr>
          <a:lstStyle/>
          <a:p>
            <a:r>
              <a:rPr sz="2800" b="0" i="0" u="none"/>
              <a:t>Ready to continue where we left off</a:t>
            </a:r>
            <a:endParaRPr sz="2800" b="0" i="0">
              <a:latin typeface="Arial"/>
            </a:endParaRPr>
          </a:p>
          <a:p>
            <a:r>
              <a:rPr sz="2800" b="0" i="0" u="none"/>
              <a:t>Today's session builds on what we've covered</a:t>
            </a:r>
            <a:endParaRPr sz="2800" b="0" i="0">
              <a:latin typeface="Arial"/>
            </a:endParaRPr>
          </a:p>
          <a:p>
            <a:r>
              <a:rPr sz="2800" b="0" i="0" u="none"/>
              <a:t>We're all in this together — participation welcome</a:t>
            </a:r>
            <a:endParaRPr sz="2800" b="0" i="0">
              <a:latin typeface="Arial"/>
            </a:endParaRPr>
          </a:p>
          <a:p>
            <a:r>
              <a:rPr sz="2800" b="1" i="0" u="none"/>
              <a:t>Questions are always welcome — ask anytime!</a:t>
            </a:r>
            <a:endParaRPr sz="2800" b="0" i="0">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How Much Does an AI Pair Programmer Cost?</a:t>
            </a:r>
          </a:p>
        </p:txBody>
      </p:sp>
      <p:sp>
        <p:nvSpPr>
          <p:cNvPr id="3" name="Subtitle 2"/>
          <p:cNvSpPr>
            <a:spLocks noGrp="1"/>
          </p:cNvSpPr>
          <p:nvPr>
            <p:ph type="subTitle" idx="1"/>
          </p:nvPr>
        </p:nvSpPr>
        <p:spPr/>
        <p:txBody>
          <a:bodyPr wrap="square">
            <a:normAutofit/>
          </a:bodyPr>
          <a:lstStyle/>
          <a:p>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Copilot Plan Overview</a:t>
            </a:r>
          </a:p>
        </p:txBody>
      </p:sp>
      <p:graphicFrame>
        <p:nvGraphicFramePr>
          <p:cNvPr id="3" name="Table 2"/>
          <p:cNvGraphicFramePr>
            <a:graphicFrameLocks noGrp="1"/>
          </p:cNvGraphicFramePr>
          <p:nvPr/>
        </p:nvGraphicFramePr>
        <p:xfrm>
          <a:off x="1219200" y="1828800"/>
          <a:ext cx="9753600" cy="37795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2438400">
                  <a:extLst>
                    <a:ext uri="{9D8B030D-6E8A-4147-A177-3AD203B41FA5}">
                      <a16:colId xmlns:a16="http://schemas.microsoft.com/office/drawing/2014/main" val="20001"/>
                    </a:ext>
                  </a:extLst>
                </a:gridCol>
                <a:gridCol w="2438400">
                  <a:extLst>
                    <a:ext uri="{9D8B030D-6E8A-4147-A177-3AD203B41FA5}">
                      <a16:colId xmlns:a16="http://schemas.microsoft.com/office/drawing/2014/main" val="20002"/>
                    </a:ext>
                  </a:extLst>
                </a:gridCol>
                <a:gridCol w="2438400">
                  <a:extLst>
                    <a:ext uri="{9D8B030D-6E8A-4147-A177-3AD203B41FA5}">
                      <a16:colId xmlns:a16="http://schemas.microsoft.com/office/drawing/2014/main" val="20003"/>
                    </a:ext>
                  </a:extLst>
                </a:gridCol>
              </a:tblGrid>
              <a:tr h="457200">
                <a:tc>
                  <a:txBody>
                    <a:bodyPr/>
                    <a:lstStyle/>
                    <a:p>
                      <a:pPr>
                        <a:buNone/>
                        <a:defRPr sz="1600" b="1">
                          <a:solidFill>
                            <a:schemeClr val="bg1"/>
                          </a:solidFill>
                        </a:defRPr>
                      </a:pPr>
                      <a:r>
                        <a:rPr sz="1600" b="0" i="0" u="none"/>
                        <a:t>Feature</a:t>
                      </a:r>
                    </a:p>
                  </a:txBody>
                  <a:tcPr>
                    <a:solidFill>
                      <a:schemeClr val="accent4"/>
                    </a:solidFill>
                  </a:tcPr>
                </a:tc>
                <a:tc>
                  <a:txBody>
                    <a:bodyPr/>
                    <a:lstStyle/>
                    <a:p>
                      <a:pPr>
                        <a:buNone/>
                        <a:defRPr sz="1600" b="1">
                          <a:solidFill>
                            <a:schemeClr val="bg1"/>
                          </a:solidFill>
                        </a:defRPr>
                      </a:pPr>
                      <a:r>
                        <a:rPr sz="1600" b="0" i="0" u="none"/>
                        <a:t>Individual</a:t>
                      </a:r>
                    </a:p>
                  </a:txBody>
                  <a:tcPr>
                    <a:solidFill>
                      <a:schemeClr val="accent4"/>
                    </a:solidFill>
                  </a:tcPr>
                </a:tc>
                <a:tc>
                  <a:txBody>
                    <a:bodyPr/>
                    <a:lstStyle/>
                    <a:p>
                      <a:pPr>
                        <a:buNone/>
                        <a:defRPr sz="1600" b="1">
                          <a:solidFill>
                            <a:schemeClr val="bg1"/>
                          </a:solidFill>
                        </a:defRPr>
                      </a:pPr>
                      <a:r>
                        <a:rPr sz="1600" b="0" i="0" u="none"/>
                        <a:t>Business</a:t>
                      </a:r>
                    </a:p>
                  </a:txBody>
                  <a:tcPr>
                    <a:solidFill>
                      <a:schemeClr val="accent4"/>
                    </a:solidFill>
                  </a:tcPr>
                </a:tc>
                <a:tc>
                  <a:txBody>
                    <a:bodyPr/>
                    <a:lstStyle/>
                    <a:p>
                      <a:pPr>
                        <a:buNone/>
                        <a:defRPr sz="1600" b="1">
                          <a:solidFill>
                            <a:schemeClr val="bg1"/>
                          </a:solidFill>
                        </a:defRPr>
                      </a:pPr>
                      <a:r>
                        <a:rPr sz="1600" b="0" i="0" u="none"/>
                        <a:t>Enterprise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1" i="0" u="none"/>
                        <a:t>Price</a:t>
                      </a:r>
                    </a:p>
                  </a:txBody>
                  <a:tcPr>
                    <a:solidFill>
                      <a:schemeClr val="accent4">
                        <a:lumMod val="20000"/>
                        <a:lumOff val="80000"/>
                      </a:schemeClr>
                    </a:solidFill>
                  </a:tcPr>
                </a:tc>
                <a:tc>
                  <a:txBody>
                    <a:bodyPr/>
                    <a:lstStyle/>
                    <a:p>
                      <a:pPr>
                        <a:buNone/>
                        <a:defRPr sz="1600" b="0">
                          <a:solidFill>
                            <a:schemeClr val="tx1"/>
                          </a:solidFill>
                        </a:defRPr>
                      </a:pPr>
                      <a:r>
                        <a:rPr sz="1600" b="0" i="0" u="none">
                          <a:latin typeface="Consolas"/>
                        </a:rPr>
                        <a:t>$10/mo</a:t>
                      </a:r>
                    </a:p>
                  </a:txBody>
                  <a:tcPr>
                    <a:solidFill>
                      <a:schemeClr val="accent4">
                        <a:lumMod val="20000"/>
                        <a:lumOff val="80000"/>
                      </a:schemeClr>
                    </a:solidFill>
                  </a:tcPr>
                </a:tc>
                <a:tc>
                  <a:txBody>
                    <a:bodyPr/>
                    <a:lstStyle/>
                    <a:p>
                      <a:pPr>
                        <a:buNone/>
                        <a:defRPr sz="1600" b="0">
                          <a:solidFill>
                            <a:schemeClr val="tx1"/>
                          </a:solidFill>
                        </a:defRPr>
                      </a:pPr>
                      <a:r>
                        <a:rPr sz="1600" b="1" i="0" u="none">
                          <a:latin typeface="Consolas"/>
                        </a:rPr>
                        <a:t>$19/user/mo</a:t>
                      </a:r>
                    </a:p>
                  </a:txBody>
                  <a:tcPr>
                    <a:solidFill>
                      <a:schemeClr val="accent4">
                        <a:lumMod val="20000"/>
                        <a:lumOff val="80000"/>
                      </a:schemeClr>
                    </a:solidFill>
                  </a:tcPr>
                </a:tc>
                <a:tc>
                  <a:txBody>
                    <a:bodyPr/>
                    <a:lstStyle/>
                    <a:p>
                      <a:pPr>
                        <a:buNone/>
                        <a:defRPr sz="1600" b="0">
                          <a:solidFill>
                            <a:schemeClr val="tx1"/>
                          </a:solidFill>
                        </a:defRPr>
                      </a:pPr>
                      <a:r>
                        <a:rPr sz="1600" b="0" i="0" u="none">
                          <a:latin typeface="Consolas"/>
                        </a:rPr>
                        <a:t>$39/user/mo</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Code completions</a:t>
                      </a:r>
                    </a:p>
                  </a:txBody>
                  <a:tcPr>
                    <a:solidFill>
                      <a:schemeClr val="accent4">
                        <a:lumMod val="8000"/>
                        <a:lumOff val="92000"/>
                      </a:schemeClr>
                    </a:solidFill>
                  </a:tcPr>
                </a:tc>
                <a:tc>
                  <a:txBody>
                    <a:bodyPr/>
                    <a:lstStyle/>
                    <a:p>
                      <a:pPr>
                        <a:buNone/>
                        <a:defRPr sz="1600" b="0">
                          <a:solidFill>
                            <a:schemeClr val="tx1"/>
                          </a:solidFill>
                        </a:defRPr>
                      </a:pPr>
                      <a:r>
                        <a:rPr sz="1600" b="0" i="0" u="none"/>
                        <a:t>✅</a:t>
                      </a:r>
                    </a:p>
                  </a:txBody>
                  <a:tcPr>
                    <a:solidFill>
                      <a:schemeClr val="accent4">
                        <a:lumMod val="8000"/>
                        <a:lumOff val="92000"/>
                      </a:schemeClr>
                    </a:solidFill>
                  </a:tcPr>
                </a:tc>
                <a:tc>
                  <a:txBody>
                    <a:bodyPr/>
                    <a:lstStyle/>
                    <a:p>
                      <a:pPr>
                        <a:buNone/>
                        <a:defRPr sz="1600" b="0">
                          <a:solidFill>
                            <a:schemeClr val="tx1"/>
                          </a:solidFill>
                        </a:defRPr>
                      </a:pPr>
                      <a:r>
                        <a:rPr sz="1600" b="0" i="0" u="none"/>
                        <a:t>✅</a:t>
                      </a:r>
                    </a:p>
                  </a:txBody>
                  <a:tcPr>
                    <a:solidFill>
                      <a:schemeClr val="accent4">
                        <a:lumMod val="8000"/>
                        <a:lumOff val="92000"/>
                      </a:schemeClr>
                    </a:solidFill>
                  </a:tcPr>
                </a:tc>
                <a:tc>
                  <a:txBody>
                    <a:bodyPr/>
                    <a:lstStyle/>
                    <a:p>
                      <a:pPr>
                        <a:buNone/>
                        <a:defRPr sz="1600" b="0">
                          <a:solidFill>
                            <a:schemeClr val="tx1"/>
                          </a:solidFill>
                        </a:defRPr>
                      </a:pPr>
                      <a:r>
                        <a:rPr sz="1600" b="0" i="0" u="none"/>
                        <a:t>✅</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Copilot Chat</a:t>
                      </a:r>
                    </a:p>
                  </a:txBody>
                  <a:tcPr>
                    <a:solidFill>
                      <a:schemeClr val="accent4">
                        <a:lumMod val="20000"/>
                        <a:lumOff val="80000"/>
                      </a:schemeClr>
                    </a:solidFill>
                  </a:tcPr>
                </a:tc>
                <a:tc>
                  <a:txBody>
                    <a:bodyPr/>
                    <a:lstStyle/>
                    <a:p>
                      <a:pPr>
                        <a:buNone/>
                        <a:defRPr sz="1600" b="0">
                          <a:solidFill>
                            <a:schemeClr val="tx1"/>
                          </a:solidFill>
                        </a:defRPr>
                      </a:pPr>
                      <a:r>
                        <a:rPr sz="1600" b="0" i="0" u="none"/>
                        <a:t>✅</a:t>
                      </a:r>
                    </a:p>
                  </a:txBody>
                  <a:tcPr>
                    <a:solidFill>
                      <a:schemeClr val="accent4">
                        <a:lumMod val="20000"/>
                        <a:lumOff val="80000"/>
                      </a:schemeClr>
                    </a:solidFill>
                  </a:tcPr>
                </a:tc>
                <a:tc>
                  <a:txBody>
                    <a:bodyPr/>
                    <a:lstStyle/>
                    <a:p>
                      <a:pPr>
                        <a:buNone/>
                        <a:defRPr sz="1600" b="0">
                          <a:solidFill>
                            <a:schemeClr val="tx1"/>
                          </a:solidFill>
                        </a:defRPr>
                      </a:pPr>
                      <a:r>
                        <a:rPr sz="1600" b="0" i="0" u="none"/>
                        <a:t>✅</a:t>
                      </a:r>
                    </a:p>
                  </a:txBody>
                  <a:tcPr>
                    <a:solidFill>
                      <a:schemeClr val="accent4">
                        <a:lumMod val="20000"/>
                        <a:lumOff val="80000"/>
                      </a:schemeClr>
                    </a:solidFill>
                  </a:tcPr>
                </a:tc>
                <a:tc>
                  <a:txBody>
                    <a:bodyPr/>
                    <a:lstStyle/>
                    <a:p>
                      <a:pPr>
                        <a:buNone/>
                        <a:defRPr sz="1600" b="0">
                          <a:solidFill>
                            <a:schemeClr val="tx1"/>
                          </a:solidFill>
                        </a:defRPr>
                      </a:pPr>
                      <a:r>
                        <a:rPr sz="1600" b="0" i="0" u="none"/>
                        <a:t>✅</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0" u="none"/>
                        <a:t>Policy management</a:t>
                      </a:r>
                    </a:p>
                  </a:txBody>
                  <a:tcPr>
                    <a:solidFill>
                      <a:schemeClr val="accent4">
                        <a:lumMod val="8000"/>
                        <a:lumOff val="92000"/>
                      </a:schemeClr>
                    </a:solidFill>
                  </a:tcPr>
                </a:tc>
                <a:tc>
                  <a:txBody>
                    <a:bodyPr/>
                    <a:lstStyle/>
                    <a:p>
                      <a:pPr>
                        <a:buNone/>
                        <a:defRPr sz="1600" b="0">
                          <a:solidFill>
                            <a:schemeClr val="tx1"/>
                          </a:solidFill>
                        </a:defRPr>
                      </a:pPr>
                      <a:r>
                        <a:rPr sz="1600" b="0" i="0" u="none"/>
                        <a:t>❌</a:t>
                      </a:r>
                    </a:p>
                  </a:txBody>
                  <a:tcPr>
                    <a:solidFill>
                      <a:schemeClr val="accent4">
                        <a:lumMod val="8000"/>
                        <a:lumOff val="92000"/>
                      </a:schemeClr>
                    </a:solidFill>
                  </a:tcPr>
                </a:tc>
                <a:tc>
                  <a:txBody>
                    <a:bodyPr/>
                    <a:lstStyle/>
                    <a:p>
                      <a:pPr>
                        <a:buNone/>
                        <a:defRPr sz="1600" b="0">
                          <a:solidFill>
                            <a:schemeClr val="tx1"/>
                          </a:solidFill>
                        </a:defRPr>
                      </a:pPr>
                      <a:r>
                        <a:rPr sz="1600" b="0" i="0" u="none"/>
                        <a:t>✅</a:t>
                      </a:r>
                    </a:p>
                  </a:txBody>
                  <a:tcPr>
                    <a:solidFill>
                      <a:schemeClr val="accent4">
                        <a:lumMod val="8000"/>
                        <a:lumOff val="92000"/>
                      </a:schemeClr>
                    </a:solidFill>
                  </a:tcPr>
                </a:tc>
                <a:tc>
                  <a:txBody>
                    <a:bodyPr/>
                    <a:lstStyle/>
                    <a:p>
                      <a:pPr>
                        <a:buNone/>
                        <a:defRPr sz="1600" b="0">
                          <a:solidFill>
                            <a:schemeClr val="tx1"/>
                          </a:solidFill>
                        </a:defRPr>
                      </a:pPr>
                      <a:r>
                        <a:rPr sz="1600" b="0" i="0" u="none"/>
                        <a:t>✅</a:t>
                      </a:r>
                    </a:p>
                  </a:txBody>
                  <a:tcPr>
                    <a:solidFill>
                      <a:schemeClr val="accent4">
                        <a:lumMod val="8000"/>
                        <a:lumOff val="92000"/>
                      </a:schemeClr>
                    </a:solidFill>
                  </a:tcPr>
                </a:tc>
                <a:extLst>
                  <a:ext uri="{0D108BD9-81ED-4DB2-BD59-A6C34878D82A}">
                    <a16:rowId xmlns:a16="http://schemas.microsoft.com/office/drawing/2014/main" val="10004"/>
                  </a:ext>
                </a:extLst>
              </a:tr>
              <a:tr h="457200">
                <a:tc>
                  <a:txBody>
                    <a:bodyPr/>
                    <a:lstStyle/>
                    <a:p>
                      <a:pPr>
                        <a:buNone/>
                        <a:defRPr sz="1600" b="0">
                          <a:solidFill>
                            <a:schemeClr val="tx1"/>
                          </a:solidFill>
                        </a:defRPr>
                      </a:pPr>
                      <a:r>
                        <a:rPr sz="1600" b="0" i="0" u="none"/>
                        <a:t>Org instruction files</a:t>
                      </a:r>
                    </a:p>
                  </a:txBody>
                  <a:tcPr>
                    <a:solidFill>
                      <a:schemeClr val="accent4">
                        <a:lumMod val="20000"/>
                        <a:lumOff val="80000"/>
                      </a:schemeClr>
                    </a:solidFill>
                  </a:tcPr>
                </a:tc>
                <a:tc>
                  <a:txBody>
                    <a:bodyPr/>
                    <a:lstStyle/>
                    <a:p>
                      <a:pPr>
                        <a:buNone/>
                        <a:defRPr sz="1600" b="0">
                          <a:solidFill>
                            <a:schemeClr val="tx1"/>
                          </a:solidFill>
                        </a:defRPr>
                      </a:pPr>
                      <a:r>
                        <a:rPr sz="1600" b="0" i="0" u="none"/>
                        <a:t>❌</a:t>
                      </a:r>
                    </a:p>
                  </a:txBody>
                  <a:tcPr>
                    <a:solidFill>
                      <a:schemeClr val="accent4">
                        <a:lumMod val="20000"/>
                        <a:lumOff val="80000"/>
                      </a:schemeClr>
                    </a:solidFill>
                  </a:tcPr>
                </a:tc>
                <a:tc>
                  <a:txBody>
                    <a:bodyPr/>
                    <a:lstStyle/>
                    <a:p>
                      <a:pPr>
                        <a:buNone/>
                        <a:defRPr sz="1600" b="0">
                          <a:solidFill>
                            <a:schemeClr val="tx1"/>
                          </a:solidFill>
                        </a:defRPr>
                      </a:pPr>
                      <a:r>
                        <a:rPr sz="1600" b="0" i="0" u="none"/>
                        <a:t>✅</a:t>
                      </a:r>
                    </a:p>
                  </a:txBody>
                  <a:tcPr>
                    <a:solidFill>
                      <a:schemeClr val="accent4">
                        <a:lumMod val="20000"/>
                        <a:lumOff val="80000"/>
                      </a:schemeClr>
                    </a:solidFill>
                  </a:tcPr>
                </a:tc>
                <a:tc>
                  <a:txBody>
                    <a:bodyPr/>
                    <a:lstStyle/>
                    <a:p>
                      <a:pPr>
                        <a:buNone/>
                        <a:defRPr sz="1600" b="0">
                          <a:solidFill>
                            <a:schemeClr val="tx1"/>
                          </a:solidFill>
                        </a:defRPr>
                      </a:pPr>
                      <a:r>
                        <a:rPr sz="1600" b="0" i="0" u="none"/>
                        <a:t>✅</a:t>
                      </a:r>
                    </a:p>
                  </a:txBody>
                  <a:tcPr>
                    <a:solidFill>
                      <a:schemeClr val="accent4">
                        <a:lumMod val="20000"/>
                        <a:lumOff val="80000"/>
                      </a:schemeClr>
                    </a:solidFill>
                  </a:tcPr>
                </a:tc>
                <a:extLst>
                  <a:ext uri="{0D108BD9-81ED-4DB2-BD59-A6C34878D82A}">
                    <a16:rowId xmlns:a16="http://schemas.microsoft.com/office/drawing/2014/main" val="10005"/>
                  </a:ext>
                </a:extLst>
              </a:tr>
              <a:tr h="457200">
                <a:tc>
                  <a:txBody>
                    <a:bodyPr/>
                    <a:lstStyle/>
                    <a:p>
                      <a:pPr>
                        <a:buNone/>
                        <a:defRPr sz="1600" b="0">
                          <a:solidFill>
                            <a:schemeClr val="tx1"/>
                          </a:solidFill>
                        </a:defRPr>
                      </a:pPr>
                      <a:r>
                        <a:rPr sz="1600" b="0" i="0" u="none"/>
                        <a:t>Includes Business capabilities</a:t>
                      </a:r>
                    </a:p>
                  </a:txBody>
                  <a:tcPr>
                    <a:solidFill>
                      <a:schemeClr val="accent4">
                        <a:lumMod val="8000"/>
                        <a:lumOff val="92000"/>
                      </a:schemeClr>
                    </a:solidFill>
                  </a:tcPr>
                </a:tc>
                <a:tc>
                  <a:txBody>
                    <a:bodyPr/>
                    <a:lstStyle/>
                    <a:p>
                      <a:pPr>
                        <a:buNone/>
                        <a:defRPr sz="1600" b="0">
                          <a:solidFill>
                            <a:schemeClr val="tx1"/>
                          </a:solidFill>
                        </a:defRPr>
                      </a:pPr>
                      <a:r>
                        <a:rPr sz="1600" b="0" i="0" u="none"/>
                        <a:t>—</a:t>
                      </a:r>
                    </a:p>
                  </a:txBody>
                  <a:tcPr>
                    <a:solidFill>
                      <a:schemeClr val="accent4">
                        <a:lumMod val="8000"/>
                        <a:lumOff val="92000"/>
                      </a:schemeClr>
                    </a:solidFill>
                  </a:tcPr>
                </a:tc>
                <a:tc>
                  <a:txBody>
                    <a:bodyPr/>
                    <a:lstStyle/>
                    <a:p>
                      <a:pPr>
                        <a:buNone/>
                        <a:defRPr sz="1600" b="0">
                          <a:solidFill>
                            <a:schemeClr val="tx1"/>
                          </a:solidFill>
                        </a:defRPr>
                      </a:pPr>
                      <a:r>
                        <a:rPr sz="1600" b="0" i="0" u="none"/>
                        <a:t>—</a:t>
                      </a:r>
                    </a:p>
                  </a:txBody>
                  <a:tcPr>
                    <a:solidFill>
                      <a:schemeClr val="accent4">
                        <a:lumMod val="8000"/>
                        <a:lumOff val="92000"/>
                      </a:schemeClr>
                    </a:solidFill>
                  </a:tcPr>
                </a:tc>
                <a:tc>
                  <a:txBody>
                    <a:bodyPr/>
                    <a:lstStyle/>
                    <a:p>
                      <a:pPr>
                        <a:buNone/>
                        <a:defRPr sz="1600" b="0">
                          <a:solidFill>
                            <a:schemeClr val="tx1"/>
                          </a:solidFill>
                        </a:defRPr>
                      </a:pPr>
                      <a:r>
                        <a:rPr sz="1600" b="0" i="0" u="none"/>
                        <a:t>✅</a:t>
                      </a:r>
                    </a:p>
                  </a:txBody>
                  <a:tcPr>
                    <a:solidFill>
                      <a:schemeClr val="accent4">
                        <a:lumMod val="8000"/>
                        <a:lumOff val="92000"/>
                      </a:schemeClr>
                    </a:solidFill>
                  </a:tcPr>
                </a:tc>
                <a:extLst>
                  <a:ext uri="{0D108BD9-81ED-4DB2-BD59-A6C34878D82A}">
                    <a16:rowId xmlns:a16="http://schemas.microsoft.com/office/drawing/2014/main" val="10006"/>
                  </a:ext>
                </a:extLst>
              </a:tr>
              <a:tr h="457200">
                <a:tc>
                  <a:txBody>
                    <a:bodyPr/>
                    <a:lstStyle/>
                    <a:p>
                      <a:pPr>
                        <a:buNone/>
                        <a:defRPr sz="1600" b="0">
                          <a:solidFill>
                            <a:schemeClr val="tx1"/>
                          </a:solidFill>
                        </a:defRPr>
                      </a:pPr>
                      <a:r>
                        <a:rPr sz="1600" b="0" i="0" u="none"/>
                        <a:t>Enterprise-only features</a:t>
                      </a:r>
                    </a:p>
                  </a:txBody>
                  <a:tcPr>
                    <a:solidFill>
                      <a:schemeClr val="accent4">
                        <a:lumMod val="20000"/>
                        <a:lumOff val="80000"/>
                      </a:schemeClr>
                    </a:solidFill>
                  </a:tcPr>
                </a:tc>
                <a:tc>
                  <a:txBody>
                    <a:bodyPr/>
                    <a:lstStyle/>
                    <a:p>
                      <a:pPr>
                        <a:buNone/>
                        <a:defRPr sz="1600" b="0">
                          <a:solidFill>
                            <a:schemeClr val="tx1"/>
                          </a:solidFill>
                        </a:defRPr>
                      </a:pPr>
                      <a:r>
                        <a:rPr sz="1600" b="0" i="0" u="none"/>
                        <a:t>—</a:t>
                      </a:r>
                    </a:p>
                  </a:txBody>
                  <a:tcPr>
                    <a:solidFill>
                      <a:schemeClr val="accent4">
                        <a:lumMod val="20000"/>
                        <a:lumOff val="80000"/>
                      </a:schemeClr>
                    </a:solidFill>
                  </a:tcPr>
                </a:tc>
                <a:tc>
                  <a:txBody>
                    <a:bodyPr/>
                    <a:lstStyle/>
                    <a:p>
                      <a:pPr>
                        <a:buNone/>
                        <a:defRPr sz="1600" b="0">
                          <a:solidFill>
                            <a:schemeClr val="tx1"/>
                          </a:solidFill>
                        </a:defRPr>
                      </a:pPr>
                      <a:r>
                        <a:rPr sz="1600" b="0" i="0" u="none"/>
                        <a:t>—</a:t>
                      </a:r>
                    </a:p>
                  </a:txBody>
                  <a:tcPr>
                    <a:solidFill>
                      <a:schemeClr val="accent4">
                        <a:lumMod val="20000"/>
                        <a:lumOff val="80000"/>
                      </a:schemeClr>
                    </a:solidFill>
                  </a:tcPr>
                </a:tc>
                <a:tc>
                  <a:txBody>
                    <a:bodyPr/>
                    <a:lstStyle/>
                    <a:p>
                      <a:pPr>
                        <a:buNone/>
                        <a:defRPr sz="1600" b="0">
                          <a:solidFill>
                            <a:schemeClr val="tx1"/>
                          </a:solidFill>
                        </a:defRPr>
                      </a:pPr>
                      <a:r>
                        <a:rPr sz="1600" b="0" i="0" u="none"/>
                        <a:t>✅</a:t>
                      </a:r>
                    </a:p>
                  </a:txBody>
                  <a:tcPr>
                    <a:solidFill>
                      <a:schemeClr val="accent4">
                        <a:lumMod val="20000"/>
                        <a:lumOff val="80000"/>
                      </a:schemeClr>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Business vs. Enterprise</a:t>
            </a:r>
          </a:p>
        </p:txBody>
      </p:sp>
      <p:sp>
        <p:nvSpPr>
          <p:cNvPr id="3" name="Content Placeholder 2"/>
          <p:cNvSpPr>
            <a:spLocks noGrp="1"/>
          </p:cNvSpPr>
          <p:nvPr>
            <p:ph sz="half" idx="1"/>
          </p:nvPr>
        </p:nvSpPr>
        <p:spPr/>
        <p:txBody>
          <a:bodyPr wrap="square">
            <a:normAutofit/>
          </a:bodyPr>
          <a:lstStyle/>
          <a:p>
            <a:pPr>
              <a:buNone/>
            </a:pPr>
            <a:r>
              <a:rPr sz="1400" b="0" i="0" u="none"/>
              <a:t>Business ($19/user/mo)</a:t>
            </a:r>
            <a:endParaRPr sz="1800" b="0" i="0">
              <a:latin typeface="Consolas"/>
            </a:endParaRPr>
          </a:p>
          <a:p>
            <a:r>
              <a:rPr sz="1400" b="0" i="0" u="none"/>
              <a:t>Organization-wide policy management</a:t>
            </a:r>
            <a:endParaRPr sz="1800" b="0" i="0">
              <a:latin typeface="Consolas"/>
            </a:endParaRPr>
          </a:p>
          <a:p>
            <a:r>
              <a:rPr sz="1400" b="0" i="0" u="none"/>
              <a:t>Org-level instruction files (</a:t>
            </a:r>
            <a:r>
              <a:rPr sz="1400" b="0" i="0" u="none">
                <a:latin typeface="Consolas"/>
              </a:rPr>
              <a:t>.github/instructions/</a:t>
            </a:r>
            <a:r>
              <a:rPr sz="1400" b="0" i="0" u="none"/>
              <a:t>)</a:t>
            </a:r>
            <a:endParaRPr sz="1800" b="0" i="0">
              <a:latin typeface="Consolas"/>
            </a:endParaRPr>
          </a:p>
          <a:p>
            <a:r>
              <a:rPr sz="1400" b="0" i="0" u="none"/>
              <a:t>Content exclusions &amp; audit logs</a:t>
            </a:r>
            <a:endParaRPr sz="1800" b="0" i="0">
              <a:latin typeface="Consolas"/>
            </a:endParaRPr>
          </a:p>
          <a:p>
            <a:r>
              <a:rPr sz="1400" b="0" i="0" u="none"/>
              <a:t>Standard model access</a:t>
            </a:r>
            <a:endParaRPr sz="1800" b="0" i="0">
              <a:latin typeface="Consolas"/>
            </a:endParaRPr>
          </a:p>
        </p:txBody>
      </p:sp>
      <p:sp>
        <p:nvSpPr>
          <p:cNvPr id="4" name="Content Placeholder 3"/>
          <p:cNvSpPr>
            <a:spLocks noGrp="1"/>
          </p:cNvSpPr>
          <p:nvPr>
            <p:ph sz="half" idx="2"/>
          </p:nvPr>
        </p:nvSpPr>
        <p:spPr/>
        <p:txBody>
          <a:bodyPr wrap="square">
            <a:normAutofit/>
          </a:bodyPr>
          <a:lstStyle/>
          <a:p>
            <a:pPr>
              <a:buNone/>
            </a:pPr>
            <a:r>
              <a:rPr sz="1400" b="0" i="0" u="none"/>
              <a:t>Enterprise ($39/user/mo) — adds:</a:t>
            </a:r>
            <a:endParaRPr sz="2800" b="0" i="0">
              <a:latin typeface="Arial"/>
            </a:endParaRPr>
          </a:p>
          <a:p>
            <a:pPr>
              <a:buNone/>
            </a:pPr>
            <a:endParaRPr sz="2800" b="0" i="0">
              <a:latin typeface="Arial"/>
            </a:endParaRPr>
          </a:p>
          <a:p>
            <a:r>
              <a:rPr sz="1400" b="1" i="0" u="none"/>
              <a:t>Copilot Knowledge Bases</a:t>
            </a:r>
            <a:r>
              <a:rPr sz="1400" b="0" i="0" u="none"/>
              <a:t> — index your internal docs &amp; repos</a:t>
            </a:r>
            <a:endParaRPr sz="2800" b="0" i="0">
              <a:latin typeface="Arial"/>
            </a:endParaRPr>
          </a:p>
          <a:p>
            <a:r>
              <a:rPr sz="1400" b="1" i="0" u="none"/>
              <a:t>Fine-tuned models</a:t>
            </a:r>
            <a:r>
              <a:rPr sz="1400" b="0" i="0" u="none"/>
              <a:t> on your private codebase</a:t>
            </a:r>
            <a:endParaRPr sz="2800" b="0" i="0">
              <a:latin typeface="Arial"/>
            </a:endParaRPr>
          </a:p>
          <a:p>
            <a:r>
              <a:rPr sz="1400" b="1" i="0" u="none"/>
              <a:t>Advanced audit &amp; usage analytics</a:t>
            </a:r>
            <a:endParaRPr sz="2800" b="0" i="0">
              <a:latin typeface="Arial"/>
            </a:endParaRPr>
          </a:p>
          <a:p>
            <a:r>
              <a:rPr sz="1400" b="1" i="0" u="none"/>
              <a:t>Copilot in GitHub.com</a:t>
            </a:r>
            <a:r>
              <a:rPr sz="1400" b="0" i="0" u="none"/>
              <a:t> (PR summaries, issue chat)</a:t>
            </a:r>
            <a:endParaRPr sz="2800" b="0" i="0">
              <a:latin typeface="Arial"/>
            </a:endParaRPr>
          </a:p>
          <a:p>
            <a:r>
              <a:rPr sz="1400" b="0" i="0" u="none"/>
              <a:t>Enhanced compliance &amp; data residency options</a:t>
            </a:r>
            <a:endParaRPr sz="2800" b="0" i="0">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00" b="0" i="0" u="none"/>
              <a:t>Organization-Level Instruction Files</a:t>
            </a:r>
          </a:p>
        </p:txBody>
      </p:sp>
      <p:sp>
        <p:nvSpPr>
          <p:cNvPr id="3" name="Content Placeholder 2"/>
          <p:cNvSpPr>
            <a:spLocks noGrp="1"/>
          </p:cNvSpPr>
          <p:nvPr>
            <p:ph idx="1"/>
          </p:nvPr>
        </p:nvSpPr>
        <p:spPr/>
        <p:txBody>
          <a:bodyPr wrap="square">
            <a:normAutofit/>
          </a:bodyPr>
          <a:lstStyle/>
          <a:p>
            <a:pPr>
              <a:buNone/>
            </a:pPr>
            <a:r>
              <a:rPr sz="1300" b="0" i="0" u="none"/>
              <a:t>Business &amp; Enterprise unlock </a:t>
            </a:r>
            <a:r>
              <a:rPr sz="1300" b="0" i="0" u="none">
                <a:latin typeface="Consolas"/>
              </a:rPr>
              <a:t>.github/instructions/</a:t>
            </a:r>
            <a:endParaRPr sz="1300" b="0" i="0">
              <a:latin typeface="Consolas"/>
            </a:endParaRPr>
          </a:p>
          <a:p>
            <a:pPr>
              <a:buNone/>
            </a:pPr>
            <a:endParaRPr sz="1300" b="0" i="0">
              <a:latin typeface="Consolas"/>
            </a:endParaRPr>
          </a:p>
          <a:p>
            <a:pPr>
              <a:buNone/>
            </a:pPr>
            <a:r>
              <a:rPr sz="1300">
                <a:latin typeface="Consolas"/>
              </a:rPr>
              <a:t>your-org/</a:t>
            </a:r>
            <a:endParaRPr sz="1300" b="0" i="0">
              <a:latin typeface="Consolas"/>
            </a:endParaRPr>
          </a:p>
          <a:p>
            <a:pPr>
              <a:buNone/>
            </a:pPr>
            <a:r>
              <a:rPr sz="1300">
                <a:latin typeface="Consolas"/>
              </a:rPr>
              <a:t>└── .github/</a:t>
            </a:r>
            <a:endParaRPr sz="1300" b="0" i="0">
              <a:latin typeface="Consolas"/>
            </a:endParaRPr>
          </a:p>
          <a:p>
            <a:pPr>
              <a:buNone/>
            </a:pPr>
            <a:r>
              <a:rPr sz="1300">
                <a:latin typeface="Consolas"/>
              </a:rPr>
              <a:t>  └── instructions/</a:t>
            </a:r>
            <a:endParaRPr sz="1300" b="0" i="0">
              <a:latin typeface="Consolas"/>
            </a:endParaRPr>
          </a:p>
          <a:p>
            <a:pPr>
              <a:buNone/>
            </a:pPr>
            <a:r>
              <a:rPr sz="1300">
                <a:latin typeface="Consolas"/>
              </a:rPr>
              <a:t>    ├── coding-standards.instructions.md</a:t>
            </a:r>
            <a:endParaRPr sz="1300" b="0" i="0">
              <a:latin typeface="Consolas"/>
            </a:endParaRPr>
          </a:p>
          <a:p>
            <a:pPr>
              <a:buNone/>
            </a:pPr>
            <a:r>
              <a:rPr sz="1300">
                <a:latin typeface="Consolas"/>
              </a:rPr>
              <a:t>    ├── security-policy.instructions.md</a:t>
            </a:r>
            <a:endParaRPr sz="1300" b="0" i="0">
              <a:latin typeface="Consolas"/>
            </a:endParaRPr>
          </a:p>
          <a:p>
            <a:pPr>
              <a:buNone/>
            </a:pPr>
            <a:r>
              <a:rPr sz="1300">
                <a:latin typeface="Consolas"/>
              </a:rPr>
              <a:t>    └── api-guidelines.instructions.md</a:t>
            </a:r>
            <a:endParaRPr sz="1300" b="0" i="0">
              <a:latin typeface="Consolas"/>
            </a:endParaRPr>
          </a:p>
          <a:p>
            <a:pPr>
              <a:buNone/>
            </a:pPr>
            <a:endParaRPr sz="1300" b="0" i="0">
              <a:latin typeface="Consolas"/>
            </a:endParaRPr>
          </a:p>
          <a:p>
            <a:pPr>
              <a:buNone/>
            </a:pPr>
            <a:r>
              <a:rPr sz="1300" b="1" i="0" u="none"/>
              <a:t>What this gives you</a:t>
            </a:r>
            <a:endParaRPr sz="1300" b="0" i="0">
              <a:latin typeface="Consolas"/>
            </a:endParaRPr>
          </a:p>
          <a:p>
            <a:pPr lvl="1"/>
            <a:r>
              <a:rPr sz="1300" b="0" i="0" u="none"/>
              <a:t>Instructions apply automatically across org repositories</a:t>
            </a:r>
            <a:endParaRPr sz="1300" b="0" i="0">
              <a:latin typeface="Consolas"/>
            </a:endParaRPr>
          </a:p>
          <a:p>
            <a:pPr lvl="1"/>
            <a:r>
              <a:rPr sz="1300" b="0" i="0" u="none"/>
              <a:t>Copilot follows them in chat and code suggestions</a:t>
            </a:r>
            <a:endParaRPr sz="1300" b="0" i="0">
              <a:latin typeface="Consolas"/>
            </a:endParaRPr>
          </a:p>
          <a:p>
            <a:pPr lvl="1"/>
            <a:r>
              <a:rPr sz="1300" b="0" i="0" u="none"/>
              <a:t>Repo-level instructions can extend the org defaults</a:t>
            </a:r>
            <a:endParaRPr sz="1300" b="0" i="0">
              <a:latin typeface="Consolas"/>
            </a:endParaRPr>
          </a:p>
          <a:p>
            <a:pPr lvl="1"/>
            <a:r>
              <a:rPr sz="1300" b="0" i="0" u="none"/>
              <a:t>Updates propagate without developer action</a:t>
            </a:r>
            <a:endParaRPr sz="1300" b="0" i="0">
              <a:latin typeface="Consola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1" i="0" u="none"/>
              <a:t>▶ LLM</a:t>
            </a:r>
          </a:p>
          <a:p>
            <a:r>
              <a:rPr b="0" i="0" u="none"/>
              <a:t>Copilot for Teams</a:t>
            </a:r>
          </a:p>
          <a:p>
            <a:r>
              <a:rPr b="0" i="0" u="none"/>
              <a:t>Safety Measures and Best Practices</a:t>
            </a:r>
          </a:p>
          <a:p>
            <a:r>
              <a:rPr b="0" i="0" u="none"/>
              <a:t>Models and Context</a:t>
            </a:r>
          </a:p>
          <a:p>
            <a:r>
              <a:rPr b="0" i="0" u="none"/>
              <a:t>Guardrails and Prompt Files</a:t>
            </a:r>
          </a:p>
          <a:p>
            <a:r>
              <a:rPr b="0" i="0" u="none"/>
              <a:t>AI Assisted Documentation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Large Language Models</a:t>
            </a:r>
          </a:p>
        </p:txBody>
      </p:sp>
      <p:sp>
        <p:nvSpPr>
          <p:cNvPr id="3" name="Subtitle 2"/>
          <p:cNvSpPr>
            <a:spLocks noGrp="1"/>
          </p:cNvSpPr>
          <p:nvPr>
            <p:ph type="subTitle" idx="1"/>
          </p:nvPr>
        </p:nvSpPr>
        <p:spPr/>
        <p:txBody>
          <a:bodyPr wrap="square">
            <a:normAutofit/>
          </a:bodyPr>
          <a:lstStyle/>
          <a:p>
            <a:pPr>
              <a:buNone/>
            </a:pPr>
            <a:r>
              <a:rPr b="0" i="0" u="none"/>
              <a:t>It's Not Magic. It's Calculus.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00" b="0" i="0" u="none"/>
              <a:t>What Is a Large Language Model?</a:t>
            </a:r>
          </a:p>
        </p:txBody>
      </p:sp>
      <p:sp>
        <p:nvSpPr>
          <p:cNvPr id="3" name="Content Placeholder 2"/>
          <p:cNvSpPr>
            <a:spLocks noGrp="1"/>
          </p:cNvSpPr>
          <p:nvPr>
            <p:ph idx="1"/>
          </p:nvPr>
        </p:nvSpPr>
        <p:spPr/>
        <p:txBody>
          <a:bodyPr wrap="square">
            <a:normAutofit/>
          </a:bodyPr>
          <a:lstStyle/>
          <a:p>
            <a:pPr>
              <a:buNone/>
            </a:pPr>
            <a:r>
              <a:rPr sz="2250" b="0" i="1" u="none"/>
              <a:t>A statistical model trained to </a:t>
            </a:r>
            <a:r>
              <a:rPr sz="2250" b="1" i="1" u="none"/>
              <a:t>predict the next token</a:t>
            </a:r>
            <a:r>
              <a:rPr sz="2250" b="0" i="1" u="none"/>
              <a:t> given all preceding tokens.</a:t>
            </a:r>
            <a:endParaRPr sz="2250" b="0" i="0">
              <a:latin typeface="Arial"/>
            </a:endParaRPr>
          </a:p>
          <a:p>
            <a:pPr>
              <a:buNone/>
            </a:pPr>
            <a:endParaRPr sz="2250" b="0" i="0">
              <a:latin typeface="Arial"/>
            </a:endParaRPr>
          </a:p>
          <a:p>
            <a:r>
              <a:rPr sz="2250" b="0" i="0" u="none"/>
              <a:t>Trained on </a:t>
            </a:r>
            <a:r>
              <a:rPr sz="2250" b="1" i="0" u="none"/>
              <a:t>trillions of tokens</a:t>
            </a:r>
            <a:r>
              <a:rPr sz="2250" b="0" i="0" u="none"/>
              <a:t> of text (code, books, web pages)</a:t>
            </a:r>
            <a:endParaRPr sz="2250" b="0" i="0">
              <a:latin typeface="Arial"/>
            </a:endParaRPr>
          </a:p>
          <a:p>
            <a:r>
              <a:rPr sz="2250" b="0" i="0" u="none"/>
              <a:t>Learns </a:t>
            </a:r>
            <a:r>
              <a:rPr sz="2250" b="1" i="0" u="none"/>
              <a:t>patterns, relationships, and structure</a:t>
            </a:r>
            <a:r>
              <a:rPr sz="2250" b="0" i="0" u="none"/>
              <a:t> in language</a:t>
            </a:r>
            <a:endParaRPr sz="2250" b="0" i="0">
              <a:latin typeface="Arial"/>
            </a:endParaRPr>
          </a:p>
          <a:p>
            <a:r>
              <a:rPr sz="2250" b="0" i="0" u="none"/>
              <a:t>Not a database — it doesn't store facts, it learns </a:t>
            </a:r>
            <a:r>
              <a:rPr sz="2250" b="1" i="0" u="none"/>
              <a:t>weights</a:t>
            </a:r>
            <a:endParaRPr sz="2250" b="0" i="0">
              <a:latin typeface="Arial"/>
            </a:endParaRPr>
          </a:p>
          <a:p>
            <a:r>
              <a:rPr sz="2250" b="0" i="0" u="none"/>
              <a:t>Generates output one token at a time, probabilistically</a:t>
            </a:r>
            <a:endParaRPr sz="2250" b="0" i="0">
              <a:latin typeface="Arial"/>
            </a:endParaRPr>
          </a:p>
          <a:p>
            <a:pPr>
              <a:buNone/>
            </a:pPr>
            <a:endParaRPr sz="2250" b="0" i="0">
              <a:latin typeface="Arial"/>
            </a:endParaRPr>
          </a:p>
          <a:p>
            <a:pPr>
              <a:buNone/>
            </a:pPr>
            <a:r>
              <a:rPr sz="2250" b="1" i="0" u="none"/>
              <a:t>Key insight</a:t>
            </a:r>
            <a:endParaRPr sz="2250" b="0" i="0">
              <a:latin typeface="Arial"/>
            </a:endParaRPr>
          </a:p>
          <a:p>
            <a:pPr>
              <a:buNone/>
            </a:pPr>
            <a:r>
              <a:rPr sz="2250" b="0" i="1" u="none"/>
              <a:t>LLMs don't "know" things — they learn what text tends to follow other text.</a:t>
            </a:r>
            <a:endParaRPr sz="2250" b="0" i="0">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50" b="0" i="0" u="none"/>
              <a:t>Tokenization — Breaking Text Apart</a:t>
            </a:r>
          </a:p>
        </p:txBody>
      </p:sp>
      <p:sp>
        <p:nvSpPr>
          <p:cNvPr id="3" name="Content Placeholder 2"/>
          <p:cNvSpPr>
            <a:spLocks noGrp="1"/>
          </p:cNvSpPr>
          <p:nvPr>
            <p:ph idx="1"/>
          </p:nvPr>
        </p:nvSpPr>
        <p:spPr/>
        <p:txBody>
          <a:bodyPr wrap="square">
            <a:normAutofit/>
          </a:bodyPr>
          <a:lstStyle/>
          <a:p>
            <a:pPr>
              <a:buNone/>
            </a:pPr>
            <a:r>
              <a:rPr sz="1350" b="0" i="0" u="none"/>
              <a:t>Text → Numbers (before the model sees anything)</a:t>
            </a:r>
            <a:endParaRPr sz="1350" b="0" i="0">
              <a:latin typeface="Consolas"/>
            </a:endParaRPr>
          </a:p>
          <a:p>
            <a:pPr>
              <a:buNone/>
            </a:pPr>
            <a:endParaRPr sz="1350" b="0" i="0">
              <a:latin typeface="Consolas"/>
            </a:endParaRPr>
          </a:p>
          <a:p>
            <a:pPr>
              <a:buNone/>
            </a:pPr>
            <a:r>
              <a:rPr sz="1350">
                <a:latin typeface="Consolas"/>
              </a:rPr>
              <a:t>Input:  "Hello, world!"</a:t>
            </a:r>
            <a:endParaRPr sz="1350" b="0" i="0">
              <a:latin typeface="Consolas"/>
            </a:endParaRPr>
          </a:p>
          <a:p>
            <a:pPr>
              <a:buNone/>
            </a:pPr>
            <a:r>
              <a:rPr sz="1350">
                <a:latin typeface="Consolas"/>
              </a:rPr>
              <a:t>Tokens: ["Hello", ",", " world", "!"]</a:t>
            </a:r>
            <a:endParaRPr sz="1350" b="0" i="0">
              <a:latin typeface="Consolas"/>
            </a:endParaRPr>
          </a:p>
          <a:p>
            <a:pPr>
              <a:buNone/>
            </a:pPr>
            <a:r>
              <a:rPr sz="1350">
                <a:latin typeface="Consolas"/>
              </a:rPr>
              <a:t>IDs:    [15496, 11, 995, 0]</a:t>
            </a:r>
            <a:endParaRPr sz="1350" b="0" i="0">
              <a:latin typeface="Consolas"/>
            </a:endParaRPr>
          </a:p>
          <a:p>
            <a:pPr>
              <a:buNone/>
            </a:pPr>
            <a:endParaRPr sz="1350" b="0" i="0">
              <a:latin typeface="Consolas"/>
            </a:endParaRPr>
          </a:p>
          <a:p>
            <a:pPr>
              <a:buNone/>
            </a:pPr>
            <a:r>
              <a:rPr sz="1350">
                <a:latin typeface="Consolas"/>
              </a:rPr>
              <a:t>Input:  "def calculate_tax(income):"</a:t>
            </a:r>
            <a:endParaRPr sz="1350" b="0" i="0">
              <a:latin typeface="Consolas"/>
            </a:endParaRPr>
          </a:p>
          <a:p>
            <a:pPr>
              <a:buNone/>
            </a:pPr>
            <a:r>
              <a:rPr sz="1350">
                <a:latin typeface="Consolas"/>
              </a:rPr>
              <a:t>Tokens: ["def", " calculate", "_tax", "(", "income", "):"]</a:t>
            </a:r>
            <a:endParaRPr sz="1350" b="0" i="0">
              <a:latin typeface="Consolas"/>
            </a:endParaRPr>
          </a:p>
          <a:p>
            <a:pPr>
              <a:buNone/>
            </a:pPr>
            <a:endParaRPr sz="1350" b="0" i="0">
              <a:latin typeface="Consolas"/>
            </a:endParaRPr>
          </a:p>
          <a:p>
            <a:r>
              <a:rPr sz="1350" b="0" i="0" u="none"/>
              <a:t>A </a:t>
            </a:r>
            <a:r>
              <a:rPr sz="1350" b="1" i="0" u="none"/>
              <a:t>token</a:t>
            </a:r>
            <a:r>
              <a:rPr sz="1350" b="0" i="0" u="none"/>
              <a:t> ≈ ~4 characters or ¾ of a word on average</a:t>
            </a:r>
            <a:endParaRPr sz="1350" b="0" i="0">
              <a:latin typeface="Consolas"/>
            </a:endParaRPr>
          </a:p>
          <a:p>
            <a:r>
              <a:rPr sz="1350" b="0" i="0" u="none"/>
              <a:t>The model only ever sees </a:t>
            </a:r>
            <a:r>
              <a:rPr sz="1350" b="1" i="0" u="none"/>
              <a:t>token IDs</a:t>
            </a:r>
            <a:r>
              <a:rPr sz="1350" b="0" i="0" u="none"/>
              <a:t>, never raw text</a:t>
            </a:r>
            <a:endParaRPr sz="1350" b="0" i="0">
              <a:latin typeface="Consolas"/>
            </a:endParaRPr>
          </a:p>
          <a:p>
            <a:r>
              <a:rPr sz="1350" b="0" i="0" u="none"/>
              <a:t>Tokenization affects </a:t>
            </a:r>
            <a:r>
              <a:rPr sz="1350" b="1" i="0" u="none"/>
              <a:t>cost</a:t>
            </a:r>
            <a:r>
              <a:rPr sz="1350" b="0" i="0" u="none"/>
              <a:t>, </a:t>
            </a:r>
            <a:r>
              <a:rPr sz="1350" b="1" i="0" u="none"/>
              <a:t>context limits</a:t>
            </a:r>
            <a:r>
              <a:rPr sz="1350" b="0" i="0" u="none"/>
              <a:t>, and </a:t>
            </a:r>
            <a:r>
              <a:rPr sz="1350" b="1" i="0" u="none"/>
              <a:t>model behavior</a:t>
            </a:r>
            <a:endParaRPr sz="1350" b="0" i="0">
              <a:latin typeface="Consolas"/>
            </a:endParaRPr>
          </a:p>
          <a:p>
            <a:r>
              <a:rPr sz="1350" b="0" i="0" u="none"/>
              <a:t>Rare words split into multiple tokens → less efficient</a:t>
            </a:r>
            <a:endParaRPr sz="1350" b="0" i="0">
              <a:latin typeface="Consola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The Transformer Architecture</a:t>
            </a:r>
          </a:p>
        </p:txBody>
      </p:sp>
      <p:sp>
        <p:nvSpPr>
          <p:cNvPr id="3" name="Content Placeholder 2"/>
          <p:cNvSpPr>
            <a:spLocks noGrp="1"/>
          </p:cNvSpPr>
          <p:nvPr>
            <p:ph sz="half" idx="1"/>
          </p:nvPr>
        </p:nvSpPr>
        <p:spPr/>
        <p:txBody>
          <a:bodyPr wrap="square">
            <a:normAutofit fontScale="92500" lnSpcReduction="10000"/>
          </a:bodyPr>
          <a:lstStyle/>
          <a:p>
            <a:pPr>
              <a:buNone/>
            </a:pPr>
            <a:r>
              <a:rPr sz="2750" b="1" i="0" u="none" dirty="0"/>
              <a:t>The breakthrough that made modern LLMs possible (2017)</a:t>
            </a:r>
            <a:endParaRPr sz="2750" b="0" i="0" dirty="0">
              <a:latin typeface="Arial"/>
            </a:endParaRPr>
          </a:p>
          <a:p>
            <a:endParaRPr lang="en-US" sz="2750" b="1" i="0" u="none" dirty="0"/>
          </a:p>
          <a:p>
            <a:r>
              <a:rPr sz="2750" b="1" i="0" u="none" dirty="0"/>
              <a:t>Self-attention</a:t>
            </a:r>
            <a:r>
              <a:rPr sz="2750" b="0" i="0" u="none" dirty="0"/>
              <a:t> lets every token "look at" every other token</a:t>
            </a:r>
            <a:endParaRPr sz="2750" b="0" i="0" dirty="0">
              <a:latin typeface="Arial"/>
            </a:endParaRPr>
          </a:p>
          <a:p>
            <a:r>
              <a:rPr sz="2750" b="0" i="0" u="none" dirty="0"/>
              <a:t>Processes the </a:t>
            </a:r>
            <a:r>
              <a:rPr sz="2750" b="1" i="0" u="none" dirty="0"/>
              <a:t>entire context window at once</a:t>
            </a:r>
            <a:r>
              <a:rPr sz="2750" b="0" i="0" u="none" dirty="0"/>
              <a:t> (not word-by-word)</a:t>
            </a:r>
            <a:endParaRPr sz="2750" b="0" i="0" dirty="0">
              <a:latin typeface="Arial"/>
            </a:endParaRPr>
          </a:p>
          <a:p>
            <a:r>
              <a:rPr sz="2750" b="0" i="0" u="none" dirty="0"/>
              <a:t>Stacked in </a:t>
            </a:r>
            <a:r>
              <a:rPr sz="2750" b="1" i="0" u="none" dirty="0"/>
              <a:t>layers</a:t>
            </a:r>
            <a:r>
              <a:rPr sz="2750" b="0" i="0" u="none" dirty="0"/>
              <a:t> — deeper = richer understanding</a:t>
            </a:r>
            <a:endParaRPr sz="2750" b="0" i="0" dirty="0">
              <a:latin typeface="Arial"/>
            </a:endParaRPr>
          </a:p>
        </p:txBody>
      </p:sp>
      <p:pic>
        <p:nvPicPr>
          <p:cNvPr id="6" name="Content Placeholder 5" descr="667fde2c35ed4a2ae1af897758587bb4ea521cf7.png"/>
          <p:cNvPicPr>
            <a:picLocks noGrp="1" noChangeAspect="1"/>
          </p:cNvPicPr>
          <p:nvPr>
            <p:ph sz="half" idx="2"/>
          </p:nvPr>
        </p:nvPicPr>
        <p:blipFill>
          <a:blip r:embed="rId3"/>
          <a:stretch>
            <a:fillRect/>
          </a:stretch>
        </p:blipFill>
        <p:spPr>
          <a:xfrm>
            <a:off x="7992882" y="1463675"/>
            <a:ext cx="1540235" cy="43513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Self-Attention — The Core Idea</a:t>
            </a:r>
          </a:p>
        </p:txBody>
      </p:sp>
      <p:sp>
        <p:nvSpPr>
          <p:cNvPr id="3" name="Content Placeholder 2"/>
          <p:cNvSpPr>
            <a:spLocks noGrp="1"/>
          </p:cNvSpPr>
          <p:nvPr>
            <p:ph idx="1"/>
          </p:nvPr>
        </p:nvSpPr>
        <p:spPr/>
        <p:txBody>
          <a:bodyPr wrap="square">
            <a:normAutofit/>
          </a:bodyPr>
          <a:lstStyle/>
          <a:p>
            <a:pPr>
              <a:buNone/>
            </a:pPr>
            <a:r>
              <a:rPr sz="1200" b="1" i="0" u="none"/>
              <a:t>How the model decides what to focus on</a:t>
            </a:r>
            <a:endParaRPr sz="1200" b="0" i="0">
              <a:latin typeface="Consolas"/>
            </a:endParaRPr>
          </a:p>
          <a:p>
            <a:pPr>
              <a:buNone/>
            </a:pPr>
            <a:endParaRPr sz="1200" b="0" i="0">
              <a:latin typeface="Consolas"/>
            </a:endParaRPr>
          </a:p>
          <a:p>
            <a:pPr>
              <a:buNone/>
            </a:pPr>
            <a:r>
              <a:rPr sz="1200" b="1" i="1" u="none"/>
              <a:t>"The trophy didn't fit in the suitcase because it was too big."</a:t>
            </a:r>
            <a:endParaRPr sz="1200" b="0" i="0">
              <a:latin typeface="Consolas"/>
            </a:endParaRPr>
          </a:p>
          <a:p>
            <a:pPr>
              <a:buNone/>
            </a:pPr>
            <a:r>
              <a:rPr sz="1200" b="0" i="1" u="none"/>
              <a:t>What does "it" refer to?</a:t>
            </a:r>
            <a:endParaRPr sz="1200" b="0" i="0">
              <a:latin typeface="Consolas"/>
            </a:endParaRPr>
          </a:p>
          <a:p>
            <a:pPr>
              <a:buNone/>
            </a:pPr>
            <a:endParaRPr sz="1200" b="0" i="0">
              <a:latin typeface="Consolas"/>
            </a:endParaRPr>
          </a:p>
          <a:p>
            <a:r>
              <a:rPr sz="1200" b="0" i="0" u="none"/>
              <a:t>Each token computes </a:t>
            </a:r>
            <a:r>
              <a:rPr sz="1200" b="1" i="0" u="none"/>
              <a:t>Query</a:t>
            </a:r>
            <a:r>
              <a:rPr sz="1200" b="0" i="0" u="none"/>
              <a:t>, </a:t>
            </a:r>
            <a:r>
              <a:rPr sz="1200" b="1" i="0" u="none"/>
              <a:t>Key</a:t>
            </a:r>
            <a:r>
              <a:rPr sz="1200" b="0" i="0" u="none"/>
              <a:t>, and </a:t>
            </a:r>
            <a:r>
              <a:rPr sz="1200" b="1" i="0" u="none"/>
              <a:t>Value</a:t>
            </a:r>
            <a:r>
              <a:rPr sz="1200" b="0" i="0" u="none"/>
              <a:t> vectors</a:t>
            </a:r>
            <a:endParaRPr sz="1200" b="0" i="0">
              <a:latin typeface="Consolas"/>
            </a:endParaRPr>
          </a:p>
          <a:p>
            <a:r>
              <a:rPr sz="1200" b="0" i="0" u="none"/>
              <a:t>Attention score = how much each token should influence the current one</a:t>
            </a:r>
            <a:endParaRPr sz="1200" b="0" i="0">
              <a:latin typeface="Consolas"/>
            </a:endParaRPr>
          </a:p>
          <a:p>
            <a:r>
              <a:rPr sz="1200" b="0" i="0" u="none"/>
              <a:t>Model learns which relationships matter during training</a:t>
            </a:r>
            <a:endParaRPr sz="1200" b="0" i="0">
              <a:latin typeface="Consolas"/>
            </a:endParaRPr>
          </a:p>
          <a:p>
            <a:r>
              <a:rPr sz="1200" b="0" i="0" u="none"/>
              <a:t>Multiple </a:t>
            </a:r>
            <a:r>
              <a:rPr sz="1200" b="1" i="0" u="none"/>
              <a:t>attention heads</a:t>
            </a:r>
            <a:r>
              <a:rPr sz="1200" b="0" i="0" u="none"/>
              <a:t> capture different relationship types simultaneously</a:t>
            </a:r>
            <a:endParaRPr sz="1200" b="0" i="0">
              <a:latin typeface="Consolas"/>
            </a:endParaRPr>
          </a:p>
          <a:p>
            <a:pPr>
              <a:buNone/>
            </a:pPr>
            <a:endParaRPr sz="1200" b="0" i="0">
              <a:latin typeface="Consolas"/>
            </a:endParaRPr>
          </a:p>
          <a:p>
            <a:pPr>
              <a:buNone/>
            </a:pPr>
            <a:r>
              <a:rPr sz="1200" b="1" i="0" u="none"/>
              <a:t>In code:</a:t>
            </a:r>
            <a:endParaRPr sz="1200" b="0" i="0">
              <a:latin typeface="Consolas"/>
            </a:endParaRPr>
          </a:p>
          <a:p>
            <a:pPr>
              <a:buNone/>
            </a:pPr>
            <a:endParaRPr sz="1200" b="0" i="0">
              <a:latin typeface="Consolas"/>
            </a:endParaRPr>
          </a:p>
          <a:p>
            <a:pPr>
              <a:buNone/>
            </a:pPr>
            <a:r>
              <a:rPr sz="1200">
                <a:latin typeface="Consolas"/>
              </a:rPr>
              <a:t>"def process(data):"  →  model attends to "def" when predicting</a:t>
            </a:r>
            <a:endParaRPr sz="1200" b="0" i="0">
              <a:latin typeface="Consolas"/>
            </a:endParaRPr>
          </a:p>
          <a:p>
            <a:pPr>
              <a:buNone/>
            </a:pPr>
            <a:r>
              <a:rPr sz="1200">
                <a:latin typeface="Consolas"/>
              </a:rPr>
              <a:t>                          what comes after "(data):"</a:t>
            </a:r>
            <a:endParaRPr sz="1200" b="0" i="0">
              <a:latin typeface="Consola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dirty="0"/>
              <a:t>Training </a:t>
            </a:r>
            <a:r>
              <a:rPr lang="en-US" b="0" i="0" u="none" dirty="0"/>
              <a:t>- Phase 1: Pre-training</a:t>
            </a:r>
            <a:endParaRPr b="0" i="0" u="none" dirty="0"/>
          </a:p>
        </p:txBody>
      </p:sp>
      <p:sp>
        <p:nvSpPr>
          <p:cNvPr id="3" name="Content Placeholder 2"/>
          <p:cNvSpPr>
            <a:spLocks noGrp="1"/>
          </p:cNvSpPr>
          <p:nvPr>
            <p:ph sz="half" idx="1"/>
          </p:nvPr>
        </p:nvSpPr>
        <p:spPr/>
        <p:txBody>
          <a:bodyPr wrap="square">
            <a:normAutofit/>
          </a:bodyPr>
          <a:lstStyle/>
          <a:p>
            <a:r>
              <a:rPr sz="2800" b="0" i="0" u="none" dirty="0"/>
              <a:t>Months of training, millions of dollars in compute</a:t>
            </a:r>
            <a:endParaRPr sz="2800" b="0" i="0" dirty="0">
              <a:latin typeface="Arial"/>
            </a:endParaRPr>
          </a:p>
          <a:p>
            <a:r>
              <a:rPr sz="2800" b="0" i="0" u="none" dirty="0"/>
              <a:t>Produces a </a:t>
            </a:r>
            <a:r>
              <a:rPr sz="2800" b="1" i="0" u="none" dirty="0"/>
              <a:t>base model</a:t>
            </a:r>
            <a:r>
              <a:rPr sz="2800" b="0" i="0" u="none" dirty="0"/>
              <a:t> that completes text — but isn't yet "helpful"</a:t>
            </a:r>
            <a:endParaRPr sz="2800" b="0" i="0" dirty="0">
              <a:latin typeface="Arial"/>
            </a:endParaRPr>
          </a:p>
        </p:txBody>
      </p:sp>
      <p:pic>
        <p:nvPicPr>
          <p:cNvPr id="6" name="Content Placeholder 5" descr="99ce6fa559f947eb2b07bf992a2ba59cb98c4871.png"/>
          <p:cNvPicPr>
            <a:picLocks noGrp="1" noChangeAspect="1"/>
          </p:cNvPicPr>
          <p:nvPr>
            <p:ph sz="half" idx="2"/>
          </p:nvPr>
        </p:nvPicPr>
        <p:blipFill>
          <a:blip r:embed="rId3"/>
          <a:stretch>
            <a:fillRect/>
          </a:stretch>
        </p:blipFill>
        <p:spPr>
          <a:xfrm>
            <a:off x="7995117" y="1463675"/>
            <a:ext cx="1535766" cy="43513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Autofit/>
          </a:bodyPr>
          <a:lstStyle/>
          <a:p>
            <a:r>
              <a:rPr lang="en-US" sz="3200" b="0" i="0" u="none" dirty="0"/>
              <a:t>T</a:t>
            </a:r>
            <a:r>
              <a:rPr sz="3200" b="0" i="0" u="none" dirty="0"/>
              <a:t>raining</a:t>
            </a:r>
            <a:r>
              <a:rPr lang="en-US" sz="3200" b="0" i="0" u="none" dirty="0"/>
              <a:t> - </a:t>
            </a:r>
            <a:r>
              <a:rPr lang="en-US" sz="3200" b="0" dirty="0"/>
              <a:t>Phase 2: Fine-tuning &amp; Alignment</a:t>
            </a:r>
            <a:endParaRPr sz="3200" b="0" i="0" u="none" dirty="0"/>
          </a:p>
        </p:txBody>
      </p:sp>
      <p:sp>
        <p:nvSpPr>
          <p:cNvPr id="3" name="Content Placeholder 2"/>
          <p:cNvSpPr>
            <a:spLocks noGrp="1"/>
          </p:cNvSpPr>
          <p:nvPr>
            <p:ph idx="1"/>
          </p:nvPr>
        </p:nvSpPr>
        <p:spPr/>
        <p:txBody>
          <a:bodyPr wrap="square">
            <a:normAutofit lnSpcReduction="10000"/>
          </a:bodyPr>
          <a:lstStyle/>
          <a:p>
            <a:pPr>
              <a:buNone/>
            </a:pPr>
            <a:r>
              <a:rPr sz="1400" b="1" i="0" u="none" dirty="0"/>
              <a:t>Supervised Fine-Tuning (SFT)</a:t>
            </a:r>
            <a:endParaRPr sz="1400" b="0" i="0" dirty="0">
              <a:latin typeface="Consolas"/>
            </a:endParaRPr>
          </a:p>
          <a:p>
            <a:r>
              <a:rPr sz="1400" b="0" i="0" u="none" dirty="0"/>
              <a:t>Train on curated prompt → ideal response pairs</a:t>
            </a:r>
            <a:endParaRPr sz="1400" b="0" i="0" dirty="0">
              <a:latin typeface="Consolas"/>
            </a:endParaRPr>
          </a:p>
          <a:p>
            <a:r>
              <a:rPr sz="1400" b="0" i="0" u="none" dirty="0"/>
              <a:t>Teaches the model to be helpful and follow instructions</a:t>
            </a:r>
            <a:endParaRPr sz="1400" b="0" i="0" dirty="0">
              <a:latin typeface="Consolas"/>
            </a:endParaRPr>
          </a:p>
          <a:p>
            <a:pPr>
              <a:buNone/>
            </a:pPr>
            <a:endParaRPr sz="1400" b="0" i="0" dirty="0">
              <a:latin typeface="Consolas"/>
            </a:endParaRPr>
          </a:p>
          <a:p>
            <a:pPr>
              <a:buNone/>
            </a:pPr>
            <a:r>
              <a:rPr sz="1400" b="1" i="0" u="none" dirty="0"/>
              <a:t>Reinforcement Learning from Human Feedback (RLHF)</a:t>
            </a:r>
            <a:endParaRPr sz="1400" b="0" i="0" dirty="0">
              <a:latin typeface="Consolas"/>
            </a:endParaRPr>
          </a:p>
          <a:p>
            <a:r>
              <a:rPr sz="1400" b="0" i="0" u="none" dirty="0"/>
              <a:t>Human raters rank model outputs</a:t>
            </a:r>
            <a:endParaRPr sz="1400" b="0" i="0" dirty="0">
              <a:latin typeface="Consolas"/>
            </a:endParaRPr>
          </a:p>
          <a:p>
            <a:r>
              <a:rPr sz="1400" b="0" i="0" u="none" dirty="0"/>
              <a:t>A reward model learns human preferences</a:t>
            </a:r>
            <a:endParaRPr sz="1400" b="0" i="0" dirty="0">
              <a:latin typeface="Consolas"/>
            </a:endParaRPr>
          </a:p>
          <a:p>
            <a:r>
              <a:rPr sz="1400" b="0" i="0" u="none" dirty="0"/>
              <a:t>The LLM is optimized to maximize reward score</a:t>
            </a:r>
            <a:endParaRPr sz="1400" b="0" i="0" dirty="0">
              <a:latin typeface="Consolas"/>
            </a:endParaRPr>
          </a:p>
          <a:p>
            <a:pPr>
              <a:buNone/>
            </a:pPr>
            <a:endParaRPr sz="1400" b="0" i="0" dirty="0">
              <a:latin typeface="Consolas"/>
            </a:endParaRPr>
          </a:p>
          <a:p>
            <a:pPr>
              <a:buNone/>
            </a:pPr>
            <a:r>
              <a:rPr sz="1400" b="1" i="0" u="none" dirty="0"/>
              <a:t>Result</a:t>
            </a:r>
            <a:r>
              <a:rPr sz="1400" b="0" i="0" u="none" dirty="0"/>
              <a:t>: A model that is helpful, harmless, and honest</a:t>
            </a:r>
            <a:endParaRPr sz="1400" b="0" i="0" dirty="0">
              <a:latin typeface="Consolas"/>
            </a:endParaRPr>
          </a:p>
          <a:p>
            <a:pPr>
              <a:buNone/>
            </a:pPr>
            <a:endParaRPr sz="1400" b="0" i="0" dirty="0">
              <a:latin typeface="Consolas"/>
            </a:endParaRPr>
          </a:p>
          <a:p>
            <a:pPr>
              <a:buNone/>
            </a:pPr>
            <a:r>
              <a:rPr sz="1400" dirty="0">
                <a:latin typeface="Consolas"/>
              </a:rPr>
              <a:t>Base model: "The capital of France is Paris. The capital of Spain is..."</a:t>
            </a:r>
            <a:endParaRPr sz="1400" b="0" i="0" dirty="0">
              <a:latin typeface="Consolas"/>
            </a:endParaRPr>
          </a:p>
          <a:p>
            <a:pPr>
              <a:buNone/>
            </a:pPr>
            <a:r>
              <a:rPr sz="1400" dirty="0">
                <a:latin typeface="Consolas"/>
              </a:rPr>
              <a:t>Aligned model: "The capital of France is Paris."  ← stops when done</a:t>
            </a:r>
            <a:endParaRPr sz="1400" b="0" i="0" dirty="0">
              <a:latin typeface="Consola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00" b="0" i="0" u="none"/>
              <a:t>Context Window — The Model's Working Memory</a:t>
            </a:r>
          </a:p>
        </p:txBody>
      </p:sp>
      <p:sp>
        <p:nvSpPr>
          <p:cNvPr id="3" name="Content Placeholder 2"/>
          <p:cNvSpPr>
            <a:spLocks noGrp="1"/>
          </p:cNvSpPr>
          <p:nvPr>
            <p:ph idx="1"/>
          </p:nvPr>
        </p:nvSpPr>
        <p:spPr/>
        <p:txBody>
          <a:bodyPr wrap="square">
            <a:normAutofit/>
          </a:bodyPr>
          <a:lstStyle/>
          <a:p>
            <a:r>
              <a:rPr sz="2800" b="0" i="0" u="none"/>
              <a:t>Everything the model "knows" during a conversation fits here</a:t>
            </a:r>
            <a:endParaRPr sz="2800" b="0" i="0">
              <a:latin typeface="Arial"/>
            </a:endParaRPr>
          </a:p>
          <a:p>
            <a:r>
              <a:rPr sz="2800" b="0" i="0" u="none"/>
              <a:t>Once exceeded, </a:t>
            </a:r>
            <a:r>
              <a:rPr sz="2800" b="1" i="0" u="none"/>
              <a:t>earlier content is forgotten</a:t>
            </a:r>
            <a:endParaRPr sz="2800" b="0" i="0">
              <a:latin typeface="Arial"/>
            </a:endParaRPr>
          </a:p>
          <a:p>
            <a:r>
              <a:rPr sz="2800" b="0" i="0" u="none"/>
              <a:t>GitHub Copilot uses the context window for: open files, cursor position, recent edits, instruction files</a:t>
            </a:r>
            <a:endParaRPr sz="2800" b="0" i="0">
              <a:latin typeface="Arial"/>
            </a:endParaRPr>
          </a:p>
          <a:p>
            <a:r>
              <a:rPr sz="2800" b="0" i="0" u="none"/>
              <a:t>Larger context = can see more code, but also slower &amp; more expensive</a:t>
            </a:r>
            <a:endParaRPr sz="2800" b="0" i="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Temperature &amp; Sampling</a:t>
            </a:r>
          </a:p>
        </p:txBody>
      </p:sp>
      <p:graphicFrame>
        <p:nvGraphicFramePr>
          <p:cNvPr id="3" name="Table 2"/>
          <p:cNvGraphicFramePr>
            <a:graphicFrameLocks noGrp="1"/>
          </p:cNvGraphicFramePr>
          <p:nvPr/>
        </p:nvGraphicFramePr>
        <p:xfrm>
          <a:off x="1219200" y="1828800"/>
          <a:ext cx="9753600" cy="22860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Temperature</a:t>
                      </a:r>
                    </a:p>
                  </a:txBody>
                  <a:tcPr>
                    <a:solidFill>
                      <a:schemeClr val="accent4"/>
                    </a:solidFill>
                  </a:tcPr>
                </a:tc>
                <a:tc>
                  <a:txBody>
                    <a:bodyPr/>
                    <a:lstStyle/>
                    <a:p>
                      <a:pPr>
                        <a:buNone/>
                        <a:defRPr sz="1600" b="1">
                          <a:solidFill>
                            <a:schemeClr val="bg1"/>
                          </a:solidFill>
                        </a:defRPr>
                      </a:pPr>
                      <a:r>
                        <a:rPr sz="1600" b="0" i="0" u="none"/>
                        <a:t>Behavior</a:t>
                      </a:r>
                    </a:p>
                  </a:txBody>
                  <a:tcPr>
                    <a:solidFill>
                      <a:schemeClr val="accent4"/>
                    </a:solidFill>
                  </a:tcPr>
                </a:tc>
                <a:tc>
                  <a:txBody>
                    <a:bodyPr/>
                    <a:lstStyle/>
                    <a:p>
                      <a:pPr>
                        <a:buNone/>
                        <a:defRPr sz="1600" b="1">
                          <a:solidFill>
                            <a:schemeClr val="bg1"/>
                          </a:solidFill>
                        </a:defRPr>
                      </a:pPr>
                      <a:r>
                        <a:rPr sz="1600" b="0" i="0" u="none"/>
                        <a:t>Use case</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0.0</a:t>
                      </a:r>
                    </a:p>
                  </a:txBody>
                  <a:tcPr>
                    <a:solidFill>
                      <a:schemeClr val="accent4">
                        <a:lumMod val="20000"/>
                        <a:lumOff val="80000"/>
                      </a:schemeClr>
                    </a:solidFill>
                  </a:tcPr>
                </a:tc>
                <a:tc>
                  <a:txBody>
                    <a:bodyPr/>
                    <a:lstStyle/>
                    <a:p>
                      <a:pPr>
                        <a:buNone/>
                        <a:defRPr sz="1600" b="0">
                          <a:solidFill>
                            <a:schemeClr val="tx1"/>
                          </a:solidFill>
                        </a:defRPr>
                      </a:pPr>
                      <a:r>
                        <a:rPr sz="1600" b="0" i="0" u="none"/>
                        <a:t>Always picks highest probability</a:t>
                      </a:r>
                    </a:p>
                  </a:txBody>
                  <a:tcPr>
                    <a:solidFill>
                      <a:schemeClr val="accent4">
                        <a:lumMod val="20000"/>
                        <a:lumOff val="80000"/>
                      </a:schemeClr>
                    </a:solidFill>
                  </a:tcPr>
                </a:tc>
                <a:tc>
                  <a:txBody>
                    <a:bodyPr/>
                    <a:lstStyle/>
                    <a:p>
                      <a:pPr>
                        <a:buNone/>
                        <a:defRPr sz="1600" b="0">
                          <a:solidFill>
                            <a:schemeClr val="tx1"/>
                          </a:solidFill>
                        </a:defRPr>
                      </a:pPr>
                      <a:r>
                        <a:rPr sz="1600" b="0" i="0" u="none"/>
                        <a:t>Deterministic code</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0.3–0.5</a:t>
                      </a:r>
                    </a:p>
                  </a:txBody>
                  <a:tcPr>
                    <a:solidFill>
                      <a:schemeClr val="accent4">
                        <a:lumMod val="8000"/>
                        <a:lumOff val="92000"/>
                      </a:schemeClr>
                    </a:solidFill>
                  </a:tcPr>
                </a:tc>
                <a:tc>
                  <a:txBody>
                    <a:bodyPr/>
                    <a:lstStyle/>
                    <a:p>
                      <a:pPr>
                        <a:buNone/>
                        <a:defRPr sz="1600" b="0">
                          <a:solidFill>
                            <a:schemeClr val="tx1"/>
                          </a:solidFill>
                        </a:defRPr>
                      </a:pPr>
                      <a:r>
                        <a:rPr sz="1600" b="0" i="0" u="none"/>
                        <a:t>Mostly top tokens, some variety</a:t>
                      </a:r>
                    </a:p>
                  </a:txBody>
                  <a:tcPr>
                    <a:solidFill>
                      <a:schemeClr val="accent4">
                        <a:lumMod val="8000"/>
                        <a:lumOff val="92000"/>
                      </a:schemeClr>
                    </a:solidFill>
                  </a:tcPr>
                </a:tc>
                <a:tc>
                  <a:txBody>
                    <a:bodyPr/>
                    <a:lstStyle/>
                    <a:p>
                      <a:pPr>
                        <a:buNone/>
                        <a:defRPr sz="1600" b="0">
                          <a:solidFill>
                            <a:schemeClr val="tx1"/>
                          </a:solidFill>
                        </a:defRPr>
                      </a:pPr>
                      <a:r>
                        <a:rPr sz="1600" b="0" i="0" u="none"/>
                        <a:t>Code completion</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0.7–1.0</a:t>
                      </a:r>
                    </a:p>
                  </a:txBody>
                  <a:tcPr>
                    <a:solidFill>
                      <a:schemeClr val="accent4">
                        <a:lumMod val="20000"/>
                        <a:lumOff val="80000"/>
                      </a:schemeClr>
                    </a:solidFill>
                  </a:tcPr>
                </a:tc>
                <a:tc>
                  <a:txBody>
                    <a:bodyPr/>
                    <a:lstStyle/>
                    <a:p>
                      <a:pPr>
                        <a:buNone/>
                        <a:defRPr sz="1600" b="0">
                          <a:solidFill>
                            <a:schemeClr val="tx1"/>
                          </a:solidFill>
                        </a:defRPr>
                      </a:pPr>
                      <a:r>
                        <a:rPr sz="1600" b="0" i="0" u="none"/>
                        <a:t>More creative, less predictable</a:t>
                      </a:r>
                    </a:p>
                  </a:txBody>
                  <a:tcPr>
                    <a:solidFill>
                      <a:schemeClr val="accent4">
                        <a:lumMod val="20000"/>
                        <a:lumOff val="80000"/>
                      </a:schemeClr>
                    </a:solidFill>
                  </a:tcPr>
                </a:tc>
                <a:tc>
                  <a:txBody>
                    <a:bodyPr/>
                    <a:lstStyle/>
                    <a:p>
                      <a:pPr>
                        <a:buNone/>
                        <a:defRPr sz="1600" b="0">
                          <a:solidFill>
                            <a:schemeClr val="tx1"/>
                          </a:solidFill>
                        </a:defRPr>
                      </a:pPr>
                      <a:r>
                        <a:rPr sz="1600" b="0" i="0" u="none"/>
                        <a:t>Brainstorming</a:t>
                      </a:r>
                    </a:p>
                  </a:txBody>
                  <a:tcPr>
                    <a:solidFill>
                      <a:schemeClr val="accent4">
                        <a:lumMod val="20000"/>
                        <a:lumOff val="80000"/>
                      </a:schemeClr>
                    </a:solidFill>
                  </a:tcPr>
                </a:tc>
                <a:extLst>
                  <a:ext uri="{0D108BD9-81ED-4DB2-BD59-A6C34878D82A}">
                    <a16:rowId xmlns:a16="http://schemas.microsoft.com/office/drawing/2014/main" val="10003"/>
                  </a:ext>
                </a:extLst>
              </a:tr>
              <a:tr h="457200">
                <a:tc>
                  <a:txBody>
                    <a:bodyPr/>
                    <a:lstStyle/>
                    <a:p>
                      <a:pPr>
                        <a:buNone/>
                        <a:defRPr sz="1600" b="0">
                          <a:solidFill>
                            <a:schemeClr val="tx1"/>
                          </a:solidFill>
                        </a:defRPr>
                      </a:pPr>
                      <a:r>
                        <a:rPr sz="1600" b="0" i="1" u="none"/>
                        <a:t>1.0</a:t>
                      </a:r>
                    </a:p>
                  </a:txBody>
                  <a:tcPr>
                    <a:solidFill>
                      <a:schemeClr val="accent4">
                        <a:lumMod val="8000"/>
                        <a:lumOff val="92000"/>
                      </a:schemeClr>
                    </a:solidFill>
                  </a:tcPr>
                </a:tc>
                <a:tc>
                  <a:txBody>
                    <a:bodyPr/>
                    <a:lstStyle/>
                    <a:p>
                      <a:pPr>
                        <a:buNone/>
                        <a:defRPr sz="1600" b="0">
                          <a:solidFill>
                            <a:schemeClr val="tx1"/>
                          </a:solidFill>
                        </a:defRPr>
                      </a:pPr>
                      <a:r>
                        <a:rPr sz="1600" b="0" i="0" u="none"/>
                        <a:t>Random / incoherent</a:t>
                      </a:r>
                    </a:p>
                  </a:txBody>
                  <a:tcPr>
                    <a:solidFill>
                      <a:schemeClr val="accent4">
                        <a:lumMod val="8000"/>
                        <a:lumOff val="92000"/>
                      </a:schemeClr>
                    </a:solidFill>
                  </a:tcPr>
                </a:tc>
                <a:tc>
                  <a:txBody>
                    <a:bodyPr/>
                    <a:lstStyle/>
                    <a:p>
                      <a:pPr>
                        <a:buNone/>
                        <a:defRPr sz="1600" b="0">
                          <a:solidFill>
                            <a:schemeClr val="tx1"/>
                          </a:solidFill>
                        </a:defRPr>
                      </a:pPr>
                      <a:r>
                        <a:rPr sz="1600" b="0" i="0" u="none"/>
                        <a:t>Rarely useful</a:t>
                      </a:r>
                    </a:p>
                  </a:txBody>
                  <a:tcPr>
                    <a:solidFill>
                      <a:schemeClr val="accent4">
                        <a:lumMod val="8000"/>
                        <a:lumOff val="92000"/>
                      </a:schemeClr>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Key Takeaways</a:t>
            </a:r>
          </a:p>
        </p:txBody>
      </p:sp>
      <p:sp>
        <p:nvSpPr>
          <p:cNvPr id="3" name="Content Placeholder 2"/>
          <p:cNvSpPr>
            <a:spLocks noGrp="1"/>
          </p:cNvSpPr>
          <p:nvPr>
            <p:ph idx="1"/>
          </p:nvPr>
        </p:nvSpPr>
        <p:spPr/>
        <p:txBody>
          <a:bodyPr wrap="square">
            <a:normAutofit/>
          </a:bodyPr>
          <a:lstStyle/>
          <a:p>
            <a:r>
              <a:rPr sz="1850" b="0" i="0" u="none"/>
              <a:t>🔤 </a:t>
            </a:r>
            <a:r>
              <a:rPr sz="1850" b="1" i="0" u="none"/>
              <a:t>Tokenization</a:t>
            </a:r>
            <a:r>
              <a:rPr sz="1850" b="0" i="0" u="none"/>
              <a:t> — text is broken into tokens; everything is numbers</a:t>
            </a:r>
            <a:endParaRPr sz="1850" b="0" i="0">
              <a:latin typeface="Arial"/>
            </a:endParaRPr>
          </a:p>
          <a:p>
            <a:r>
              <a:rPr sz="1850" b="0" i="0" u="none"/>
              <a:t>🔍 </a:t>
            </a:r>
            <a:r>
              <a:rPr sz="1850" b="1" i="0" u="none"/>
              <a:t>Transformers</a:t>
            </a:r>
            <a:r>
              <a:rPr sz="1850" b="0" i="0" u="none"/>
              <a:t> — attention lets every token relate to every other</a:t>
            </a:r>
            <a:endParaRPr sz="1850" b="0" i="0">
              <a:latin typeface="Arial"/>
            </a:endParaRPr>
          </a:p>
          <a:p>
            <a:r>
              <a:rPr sz="1850" b="0" i="0" u="none"/>
              <a:t>🎓 </a:t>
            </a:r>
            <a:r>
              <a:rPr sz="1850" b="1" i="0" u="none"/>
              <a:t>Pre-training</a:t>
            </a:r>
            <a:r>
              <a:rPr sz="1850" b="0" i="0" u="none"/>
              <a:t> — learns from trillions of tokens of text &amp; code</a:t>
            </a:r>
            <a:endParaRPr sz="1850" b="0" i="0">
              <a:latin typeface="Arial"/>
            </a:endParaRPr>
          </a:p>
          <a:p>
            <a:r>
              <a:rPr sz="1850" b="0" i="0" u="none"/>
              <a:t>🎯 </a:t>
            </a:r>
            <a:r>
              <a:rPr sz="1850" b="1" i="0" u="none"/>
              <a:t>Fine-tuning</a:t>
            </a:r>
            <a:r>
              <a:rPr sz="1850" b="0" i="0" u="none"/>
              <a:t> — makes the model helpful, safe, and task-specific</a:t>
            </a:r>
            <a:endParaRPr sz="1850" b="0" i="0">
              <a:latin typeface="Arial"/>
            </a:endParaRPr>
          </a:p>
          <a:p>
            <a:r>
              <a:rPr sz="1850" b="0" i="0" u="none"/>
              <a:t>📏 </a:t>
            </a:r>
            <a:r>
              <a:rPr sz="1850" b="1" i="0" u="none"/>
              <a:t>Context window</a:t>
            </a:r>
            <a:r>
              <a:rPr sz="1850" b="0" i="0" u="none"/>
              <a:t> — the model's working memory; bigger = better</a:t>
            </a:r>
            <a:endParaRPr sz="1850" b="0" i="0">
              <a:latin typeface="Arial"/>
            </a:endParaRPr>
          </a:p>
          <a:p>
            <a:r>
              <a:rPr sz="1850" b="0" i="0" u="none"/>
              <a:t>🌡️ </a:t>
            </a:r>
            <a:r>
              <a:rPr sz="1850" b="1" i="0" u="none"/>
              <a:t>Temperature</a:t>
            </a:r>
            <a:r>
              <a:rPr sz="1850" b="0" i="0" u="none"/>
              <a:t> — controls creativity vs. determinism</a:t>
            </a:r>
            <a:endParaRPr sz="1850" b="0" i="0">
              <a:latin typeface="Arial"/>
            </a:endParaRPr>
          </a:p>
          <a:p>
            <a:pPr>
              <a:buNone/>
            </a:pPr>
            <a:endParaRPr sz="1850" b="0" i="0">
              <a:latin typeface="Arial"/>
            </a:endParaRPr>
          </a:p>
          <a:p>
            <a:pPr>
              <a:buNone/>
            </a:pPr>
            <a:r>
              <a:rPr sz="1850" b="1" i="0" u="none"/>
              <a:t>The bottom line for developers:</a:t>
            </a:r>
            <a:endParaRPr sz="1850" b="0" i="0">
              <a:latin typeface="Arial"/>
            </a:endParaRPr>
          </a:p>
          <a:p>
            <a:pPr>
              <a:buNone/>
            </a:pPr>
            <a:endParaRPr sz="1850" b="0" i="0">
              <a:latin typeface="Arial"/>
            </a:endParaRPr>
          </a:p>
          <a:p>
            <a:pPr>
              <a:buNone/>
            </a:pPr>
            <a:r>
              <a:rPr sz="1850" b="0" i="1" u="none"/>
              <a:t>LLMs are powerful pattern matchers. Give them </a:t>
            </a:r>
            <a:r>
              <a:rPr sz="1850" b="1" i="1" u="none"/>
              <a:t>clear context</a:t>
            </a:r>
            <a:r>
              <a:rPr sz="1850" b="0" i="1" u="none"/>
              <a:t>, </a:t>
            </a:r>
            <a:r>
              <a:rPr sz="1850" b="1" i="1" u="none"/>
              <a:t>good examples</a:t>
            </a:r>
            <a:r>
              <a:rPr sz="1850" b="0" i="1" u="none"/>
              <a:t>, and </a:t>
            </a:r>
            <a:r>
              <a:rPr sz="1850" b="1" i="1" u="none"/>
              <a:t>specific instructions</a:t>
            </a:r>
            <a:r>
              <a:rPr sz="1850" b="0" i="1" u="none"/>
              <a:t> — and they'll surprise you.</a:t>
            </a:r>
            <a:endParaRPr sz="1850" b="0" i="0">
              <a:latin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1" i="0" u="none"/>
              <a:t>▶ Copilot for Teams</a:t>
            </a:r>
          </a:p>
          <a:p>
            <a:r>
              <a:rPr b="0" i="0" u="none"/>
              <a:t>Safety Measures and Best Practices</a:t>
            </a:r>
          </a:p>
          <a:p>
            <a:r>
              <a:rPr b="0" i="0" u="none"/>
              <a:t>Models and Context</a:t>
            </a:r>
          </a:p>
          <a:p>
            <a:r>
              <a:rPr b="0" i="0" u="none"/>
              <a:t>Guardrails and Prompt Files</a:t>
            </a:r>
          </a:p>
          <a:p>
            <a:r>
              <a:rPr b="0" i="0" u="none"/>
              <a:t>AI Assisted Documentation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GitHub Copilot for Teams</a:t>
            </a:r>
          </a:p>
        </p:txBody>
      </p:sp>
      <p:sp>
        <p:nvSpPr>
          <p:cNvPr id="3" name="Subtitle 2"/>
          <p:cNvSpPr>
            <a:spLocks noGrp="1"/>
          </p:cNvSpPr>
          <p:nvPr>
            <p:ph type="subTitle" idx="1"/>
          </p:nvPr>
        </p:nvSpPr>
        <p:spPr/>
        <p:txBody>
          <a:bodyPr wrap="square">
            <a:normAutofit/>
          </a:bodyPr>
          <a:lstStyle/>
          <a:p>
            <a:pPr>
              <a:buNone/>
            </a:pPr>
            <a:r>
              <a:rPr b="0" i="0" u="none"/>
              <a:t>Deploying AI Without Deploying Chaos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GitHub Copilot for Teams</a:t>
            </a:r>
          </a:p>
        </p:txBody>
      </p:sp>
      <p:sp>
        <p:nvSpPr>
          <p:cNvPr id="3" name="Content Placeholder 2"/>
          <p:cNvSpPr>
            <a:spLocks noGrp="1"/>
          </p:cNvSpPr>
          <p:nvPr>
            <p:ph idx="1"/>
          </p:nvPr>
        </p:nvSpPr>
        <p:spPr/>
        <p:txBody>
          <a:bodyPr wrap="square">
            <a:normAutofit/>
          </a:bodyPr>
          <a:lstStyle/>
          <a:p>
            <a:pPr>
              <a:buNone/>
            </a:pPr>
            <a:r>
              <a:rPr sz="2800" b="0" i="0" u="none" dirty="0"/>
              <a:t>Key Considerations for Adoption</a:t>
            </a:r>
            <a:endParaRPr sz="2800" b="0" i="0" dirty="0">
              <a:latin typeface="Arial"/>
            </a:endParaRPr>
          </a:p>
          <a:p>
            <a:pPr>
              <a:buNone/>
            </a:pPr>
            <a:endParaRPr sz="2800" b="0" i="0" dirty="0">
              <a:latin typeface="Arial"/>
            </a:endParaRPr>
          </a:p>
          <a:p>
            <a:pPr>
              <a:buNone/>
            </a:pPr>
            <a:r>
              <a:rPr sz="2800" b="0" i="1" u="none" dirty="0"/>
              <a:t>Empowering developers with AI while protecting your codebase</a:t>
            </a:r>
            <a:endParaRPr sz="2800" b="0" i="1" dirty="0">
              <a:latin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Risks to Consider</a:t>
            </a:r>
          </a:p>
        </p:txBody>
      </p:sp>
      <p:sp>
        <p:nvSpPr>
          <p:cNvPr id="3" name="Content Placeholder 2"/>
          <p:cNvSpPr>
            <a:spLocks noGrp="1"/>
          </p:cNvSpPr>
          <p:nvPr>
            <p:ph idx="1"/>
          </p:nvPr>
        </p:nvSpPr>
        <p:spPr/>
        <p:txBody>
          <a:bodyPr wrap="square">
            <a:normAutofit/>
          </a:bodyPr>
          <a:lstStyle/>
          <a:p>
            <a:pPr>
              <a:buNone/>
            </a:pPr>
            <a:r>
              <a:rPr sz="2050" b="0" i="0" u="none"/>
              <a:t>IP Leakage Concerns</a:t>
            </a:r>
            <a:endParaRPr sz="2050" b="0" i="0">
              <a:latin typeface="Arial"/>
            </a:endParaRPr>
          </a:p>
          <a:p>
            <a:pPr lvl="1"/>
            <a:r>
              <a:rPr sz="2050" b="0" i="0" u="none"/>
              <a:t>Copilot may suggest code similar to public repositories</a:t>
            </a:r>
            <a:endParaRPr sz="2050" b="0" i="0">
              <a:latin typeface="Arial"/>
            </a:endParaRPr>
          </a:p>
          <a:p>
            <a:pPr lvl="1"/>
            <a:r>
              <a:rPr sz="2050" b="0" i="0" u="none"/>
              <a:t>Risk of inadvertently using copyrighted or licensed code</a:t>
            </a:r>
            <a:endParaRPr sz="2050" b="0" i="0">
              <a:latin typeface="Arial"/>
            </a:endParaRPr>
          </a:p>
          <a:p>
            <a:pPr lvl="1"/>
            <a:r>
              <a:rPr sz="2050" b="0" i="0" u="none"/>
              <a:t>Mitigation: Enable public code filters and review suggestions carefully</a:t>
            </a:r>
            <a:endParaRPr sz="2050" b="0" i="0">
              <a:latin typeface="Arial"/>
            </a:endParaRPr>
          </a:p>
          <a:p>
            <a:pPr>
              <a:buNone/>
            </a:pPr>
            <a:r>
              <a:rPr sz="2050" b="0" i="0" u="none"/>
              <a:t>Code Quality and Accuracy</a:t>
            </a:r>
            <a:endParaRPr sz="2050" b="0" i="0">
              <a:latin typeface="Arial"/>
            </a:endParaRPr>
          </a:p>
          <a:p>
            <a:pPr lvl="1"/>
            <a:r>
              <a:rPr sz="2050" b="0" i="0" u="none"/>
              <a:t>AI-generated code may contain bugs, inefficiencies, or security flaws</a:t>
            </a:r>
            <a:endParaRPr sz="2050" b="0" i="0">
              <a:latin typeface="Arial"/>
            </a:endParaRPr>
          </a:p>
          <a:p>
            <a:pPr lvl="1"/>
            <a:r>
              <a:rPr sz="2050" b="0" i="0" u="none"/>
              <a:t>Always validate and test before deployment</a:t>
            </a:r>
            <a:endParaRPr sz="2050" b="0" i="0">
              <a:latin typeface="Arial"/>
            </a:endParaRPr>
          </a:p>
          <a:p>
            <a:pPr lvl="1"/>
            <a:r>
              <a:rPr sz="2050" b="0" i="0" u="none"/>
              <a:t>Treat Copilot as a drafting tool, not a source of truth</a:t>
            </a:r>
            <a:endParaRPr sz="2050" b="0" i="0">
              <a:latin typeface="Arial"/>
            </a:endParaRPr>
          </a:p>
          <a:p>
            <a:pPr>
              <a:buNone/>
            </a:pPr>
            <a:r>
              <a:rPr sz="2050" b="0" i="0" u="none"/>
              <a:t>Developer Overreliance</a:t>
            </a:r>
            <a:endParaRPr sz="2050" b="0" i="0">
              <a:latin typeface="Arial"/>
            </a:endParaRPr>
          </a:p>
          <a:p>
            <a:pPr lvl="1"/>
            <a:r>
              <a:rPr sz="2050" b="0" i="0" u="none"/>
              <a:t>Risk of reduced understanding or critical thinking</a:t>
            </a:r>
            <a:endParaRPr sz="2050" b="0" i="0">
              <a:latin typeface="Arial"/>
            </a:endParaRPr>
          </a:p>
          <a:p>
            <a:pPr lvl="1"/>
            <a:r>
              <a:rPr sz="2050" b="0" i="0" u="none"/>
              <a:t>Encourage code reviews and pair programming to maintain rigor</a:t>
            </a:r>
            <a:endParaRPr sz="2050" b="0" i="0">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250" b="0" i="0" u="none"/>
              <a:t>Governance and Compliance Risks</a:t>
            </a:r>
          </a:p>
        </p:txBody>
      </p:sp>
      <p:sp>
        <p:nvSpPr>
          <p:cNvPr id="3" name="Content Placeholder 2"/>
          <p:cNvSpPr>
            <a:spLocks noGrp="1"/>
          </p:cNvSpPr>
          <p:nvPr>
            <p:ph idx="1"/>
          </p:nvPr>
        </p:nvSpPr>
        <p:spPr/>
        <p:txBody>
          <a:bodyPr wrap="square">
            <a:normAutofit/>
          </a:bodyPr>
          <a:lstStyle/>
          <a:p>
            <a:pPr>
              <a:buNone/>
            </a:pPr>
            <a:r>
              <a:rPr sz="2150" b="0" i="0" u="none"/>
              <a:t>Regulatory Compliance</a:t>
            </a:r>
            <a:endParaRPr sz="2150" b="0" i="0">
              <a:latin typeface="Arial"/>
            </a:endParaRPr>
          </a:p>
          <a:p>
            <a:pPr lvl="1"/>
            <a:r>
              <a:rPr sz="2150" b="0" i="0" u="none"/>
              <a:t>Generated code may not meet industry-specific standards (e.g., HIPAA, PCI-DSS)</a:t>
            </a:r>
            <a:endParaRPr sz="2150" b="0" i="0">
              <a:latin typeface="Arial"/>
            </a:endParaRPr>
          </a:p>
          <a:p>
            <a:pPr lvl="1"/>
            <a:r>
              <a:rPr sz="2150" b="0" i="0" u="none"/>
              <a:t>Organizations must enforce coding policies and audits</a:t>
            </a:r>
            <a:endParaRPr sz="2150" b="0" i="0">
              <a:latin typeface="Arial"/>
            </a:endParaRPr>
          </a:p>
          <a:p>
            <a:pPr>
              <a:buNone/>
            </a:pPr>
            <a:r>
              <a:rPr sz="2150" b="0" i="0" u="none"/>
              <a:t>Data Privacy and Security</a:t>
            </a:r>
            <a:endParaRPr sz="2150" b="0" i="0">
              <a:latin typeface="Arial"/>
            </a:endParaRPr>
          </a:p>
          <a:p>
            <a:pPr lvl="1"/>
            <a:r>
              <a:rPr sz="2150" b="0" i="0" u="none"/>
              <a:t>Sensitive data should never be typed into prompts</a:t>
            </a:r>
            <a:endParaRPr sz="2150" b="0" i="0">
              <a:latin typeface="Arial"/>
            </a:endParaRPr>
          </a:p>
          <a:p>
            <a:pPr lvl="1"/>
            <a:r>
              <a:rPr sz="2150" b="0" i="0" u="none"/>
              <a:t>Use Copilot in secure environments with clear usage guidelines</a:t>
            </a:r>
            <a:endParaRPr sz="2150" b="0" i="0">
              <a:latin typeface="Arial"/>
            </a:endParaRPr>
          </a:p>
          <a:p>
            <a:pPr>
              <a:buNone/>
            </a:pPr>
            <a:r>
              <a:rPr sz="2150" b="0" i="0" u="none"/>
              <a:t>Licensing Ambiguity</a:t>
            </a:r>
            <a:endParaRPr sz="2150" b="0" i="0">
              <a:latin typeface="Arial"/>
            </a:endParaRPr>
          </a:p>
          <a:p>
            <a:pPr lvl="1"/>
            <a:r>
              <a:rPr sz="2150" b="0" i="0" u="none"/>
              <a:t>Copilot suggestions may resemble code under restrictive licenses</a:t>
            </a:r>
            <a:endParaRPr sz="2150" b="0" i="0">
              <a:latin typeface="Arial"/>
            </a:endParaRPr>
          </a:p>
          <a:p>
            <a:pPr lvl="1"/>
            <a:r>
              <a:rPr sz="2150" b="0" i="0" u="none"/>
              <a:t>Legal teams should define acceptable use policies and monitor compliance</a:t>
            </a:r>
            <a:endParaRPr sz="2150" b="0" i="0">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IP and Data Protection</a:t>
            </a:r>
          </a:p>
        </p:txBody>
      </p:sp>
      <p:sp>
        <p:nvSpPr>
          <p:cNvPr id="3" name="Content Placeholder 2"/>
          <p:cNvSpPr>
            <a:spLocks noGrp="1"/>
          </p:cNvSpPr>
          <p:nvPr>
            <p:ph idx="1"/>
          </p:nvPr>
        </p:nvSpPr>
        <p:spPr/>
        <p:txBody>
          <a:bodyPr wrap="square">
            <a:normAutofit/>
          </a:bodyPr>
          <a:lstStyle/>
          <a:p>
            <a:r>
              <a:rPr sz="2700" b="0" i="0" u="none"/>
              <a:t>Your code is not used to retrain the model (with Copilot for Business/Enterprise)</a:t>
            </a:r>
            <a:endParaRPr sz="2700" b="0" i="0">
              <a:latin typeface="Arial"/>
            </a:endParaRPr>
          </a:p>
          <a:p>
            <a:r>
              <a:rPr sz="2700" b="0" i="0" u="none"/>
              <a:t>Suggestions are generated locally — no code is shared unless feedback is submitted</a:t>
            </a:r>
            <a:endParaRPr sz="2700" b="0" i="0">
              <a:latin typeface="Arial"/>
            </a:endParaRPr>
          </a:p>
          <a:p>
            <a:r>
              <a:rPr sz="2700" b="0" i="0" u="none"/>
              <a:t>No leakage between users: your private code is not exposed to others</a:t>
            </a:r>
            <a:endParaRPr sz="2700" b="0" i="0">
              <a:latin typeface="Arial"/>
            </a:endParaRPr>
          </a:p>
          <a:p>
            <a:r>
              <a:rPr sz="2700" b="0" i="0" u="none"/>
              <a:t>Admins can disable suggestions matching public code for added safety</a:t>
            </a:r>
            <a:endParaRPr sz="2700" b="0" i="0">
              <a:latin typeface="Arial"/>
            </a:endParaRPr>
          </a:p>
          <a:p>
            <a:r>
              <a:rPr sz="2700" b="0" i="0" u="none"/>
              <a:t>In April 2026, GitHub made this opt-out</a:t>
            </a:r>
            <a:endParaRPr sz="2700" b="0" i="0">
              <a:latin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Licensing and Legal Considerations</a:t>
            </a:r>
          </a:p>
        </p:txBody>
      </p:sp>
      <p:sp>
        <p:nvSpPr>
          <p:cNvPr id="3" name="Content Placeholder 2"/>
          <p:cNvSpPr>
            <a:spLocks noGrp="1"/>
          </p:cNvSpPr>
          <p:nvPr>
            <p:ph idx="1"/>
          </p:nvPr>
        </p:nvSpPr>
        <p:spPr/>
        <p:txBody>
          <a:bodyPr wrap="square">
            <a:normAutofit/>
          </a:bodyPr>
          <a:lstStyle/>
          <a:p>
            <a:r>
              <a:rPr sz="2800" b="0" i="0" u="none"/>
              <a:t>Copilot may suggest code similar to public repositories</a:t>
            </a:r>
            <a:endParaRPr sz="2800" b="0" i="0">
              <a:latin typeface="Arial"/>
            </a:endParaRPr>
          </a:p>
          <a:p>
            <a:r>
              <a:rPr sz="2800" b="0" i="0" u="none"/>
              <a:t>GitHub provides a filter to block matching public code</a:t>
            </a:r>
            <a:endParaRPr sz="2800" b="0" i="0">
              <a:latin typeface="Arial"/>
            </a:endParaRPr>
          </a:p>
          <a:p>
            <a:r>
              <a:rPr sz="2800" b="0" i="0" u="none"/>
              <a:t>Organizations should review Copilot's Terms of Service and Privacy Statement</a:t>
            </a:r>
            <a:endParaRPr sz="2800" b="0" i="0">
              <a:latin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Deployment Options</a:t>
            </a:r>
          </a:p>
        </p:txBody>
      </p:sp>
      <p:graphicFrame>
        <p:nvGraphicFramePr>
          <p:cNvPr id="3" name="Table 2"/>
          <p:cNvGraphicFramePr>
            <a:graphicFrameLocks noGrp="1"/>
          </p:cNvGraphicFramePr>
          <p:nvPr/>
        </p:nvGraphicFramePr>
        <p:xfrm>
          <a:off x="1219200" y="1828800"/>
          <a:ext cx="9753600" cy="1828800"/>
        </p:xfrm>
        <a:graphic>
          <a:graphicData uri="http://schemas.openxmlformats.org/drawingml/2006/table">
            <a:tbl>
              <a:tblPr firstRow="1" bandRow="1">
                <a:tableStyleId>{5C22544A-7EE6-4342-B048-85BDC9FD1C3A}</a:tableStyleId>
              </a:tblPr>
              <a:tblGrid>
                <a:gridCol w="3251200">
                  <a:extLst>
                    <a:ext uri="{9D8B030D-6E8A-4147-A177-3AD203B41FA5}">
                      <a16:colId xmlns:a16="http://schemas.microsoft.com/office/drawing/2014/main" val="20000"/>
                    </a:ext>
                  </a:extLst>
                </a:gridCol>
                <a:gridCol w="3251200">
                  <a:extLst>
                    <a:ext uri="{9D8B030D-6E8A-4147-A177-3AD203B41FA5}">
                      <a16:colId xmlns:a16="http://schemas.microsoft.com/office/drawing/2014/main" val="20001"/>
                    </a:ext>
                  </a:extLst>
                </a:gridCol>
                <a:gridCol w="3251200">
                  <a:extLst>
                    <a:ext uri="{9D8B030D-6E8A-4147-A177-3AD203B41FA5}">
                      <a16:colId xmlns:a16="http://schemas.microsoft.com/office/drawing/2014/main" val="20002"/>
                    </a:ext>
                  </a:extLst>
                </a:gridCol>
              </a:tblGrid>
              <a:tr h="457200">
                <a:tc>
                  <a:txBody>
                    <a:bodyPr/>
                    <a:lstStyle/>
                    <a:p>
                      <a:pPr>
                        <a:buNone/>
                        <a:defRPr sz="1600" b="1">
                          <a:solidFill>
                            <a:schemeClr val="bg1"/>
                          </a:solidFill>
                        </a:defRPr>
                      </a:pPr>
                      <a:r>
                        <a:rPr sz="1600" b="0" i="0" u="none"/>
                        <a:t>Plan</a:t>
                      </a:r>
                    </a:p>
                  </a:txBody>
                  <a:tcPr>
                    <a:solidFill>
                      <a:schemeClr val="accent4"/>
                    </a:solidFill>
                  </a:tcPr>
                </a:tc>
                <a:tc>
                  <a:txBody>
                    <a:bodyPr/>
                    <a:lstStyle/>
                    <a:p>
                      <a:pPr>
                        <a:buNone/>
                        <a:defRPr sz="1600" b="1">
                          <a:solidFill>
                            <a:schemeClr val="bg1"/>
                          </a:solidFill>
                        </a:defRPr>
                      </a:pPr>
                      <a:r>
                        <a:rPr sz="1600" b="0" i="0" u="none"/>
                        <a:t>Key Features</a:t>
                      </a:r>
                    </a:p>
                  </a:txBody>
                  <a:tcPr>
                    <a:solidFill>
                      <a:schemeClr val="accent4"/>
                    </a:solidFill>
                  </a:tcPr>
                </a:tc>
                <a:tc>
                  <a:txBody>
                    <a:bodyPr/>
                    <a:lstStyle/>
                    <a:p>
                      <a:pPr>
                        <a:buNone/>
                        <a:defRPr sz="1600" b="1">
                          <a:solidFill>
                            <a:schemeClr val="bg1"/>
                          </a:solidFill>
                        </a:defRPr>
                      </a:pPr>
                      <a:r>
                        <a:rPr sz="1600" b="0" i="0" u="none"/>
                        <a:t>IP Protection</a:t>
                      </a:r>
                    </a:p>
                  </a:txBody>
                  <a:tcPr>
                    <a:solidFill>
                      <a:schemeClr val="accent4"/>
                    </a:solidFill>
                  </a:tcPr>
                </a:tc>
                <a:extLst>
                  <a:ext uri="{0D108BD9-81ED-4DB2-BD59-A6C34878D82A}">
                    <a16:rowId xmlns:a16="http://schemas.microsoft.com/office/drawing/2014/main" val="10000"/>
                  </a:ext>
                </a:extLst>
              </a:tr>
              <a:tr h="457200">
                <a:tc>
                  <a:txBody>
                    <a:bodyPr/>
                    <a:lstStyle/>
                    <a:p>
                      <a:pPr>
                        <a:buNone/>
                        <a:defRPr sz="1600" b="0">
                          <a:solidFill>
                            <a:schemeClr val="tx1"/>
                          </a:solidFill>
                        </a:defRPr>
                      </a:pPr>
                      <a:r>
                        <a:rPr sz="1600" b="0" i="0" u="none"/>
                        <a:t>Copilot Individual (Pro, Pro+)</a:t>
                      </a:r>
                    </a:p>
                  </a:txBody>
                  <a:tcPr>
                    <a:solidFill>
                      <a:schemeClr val="accent4">
                        <a:lumMod val="20000"/>
                        <a:lumOff val="80000"/>
                      </a:schemeClr>
                    </a:solidFill>
                  </a:tcPr>
                </a:tc>
                <a:tc>
                  <a:txBody>
                    <a:bodyPr/>
                    <a:lstStyle/>
                    <a:p>
                      <a:pPr>
                        <a:buNone/>
                        <a:defRPr sz="1600" b="0">
                          <a:solidFill>
                            <a:schemeClr val="tx1"/>
                          </a:solidFill>
                        </a:defRPr>
                      </a:pPr>
                      <a:r>
                        <a:rPr sz="1600" b="0" i="0" u="none"/>
                        <a:t>Personal use, no admin controls</a:t>
                      </a:r>
                    </a:p>
                  </a:txBody>
                  <a:tcPr>
                    <a:solidFill>
                      <a:schemeClr val="accent4">
                        <a:lumMod val="20000"/>
                        <a:lumOff val="80000"/>
                      </a:schemeClr>
                    </a:solidFill>
                  </a:tcPr>
                </a:tc>
                <a:tc>
                  <a:txBody>
                    <a:bodyPr/>
                    <a:lstStyle/>
                    <a:p>
                      <a:pPr>
                        <a:buNone/>
                        <a:defRPr sz="1600" b="0">
                          <a:solidFill>
                            <a:schemeClr val="tx1"/>
                          </a:solidFill>
                        </a:defRPr>
                      </a:pPr>
                      <a:r>
                        <a:rPr sz="1600" b="0" i="0" u="none"/>
                        <a:t>Limited</a:t>
                      </a:r>
                    </a:p>
                  </a:txBody>
                  <a:tcPr>
                    <a:solidFill>
                      <a:schemeClr val="accent4">
                        <a:lumMod val="20000"/>
                        <a:lumOff val="80000"/>
                      </a:schemeClr>
                    </a:solidFill>
                  </a:tcPr>
                </a:tc>
                <a:extLst>
                  <a:ext uri="{0D108BD9-81ED-4DB2-BD59-A6C34878D82A}">
                    <a16:rowId xmlns:a16="http://schemas.microsoft.com/office/drawing/2014/main" val="10001"/>
                  </a:ext>
                </a:extLst>
              </a:tr>
              <a:tr h="457200">
                <a:tc>
                  <a:txBody>
                    <a:bodyPr/>
                    <a:lstStyle/>
                    <a:p>
                      <a:pPr>
                        <a:buNone/>
                        <a:defRPr sz="1600" b="0">
                          <a:solidFill>
                            <a:schemeClr val="tx1"/>
                          </a:solidFill>
                        </a:defRPr>
                      </a:pPr>
                      <a:r>
                        <a:rPr sz="1600" b="0" i="0" u="none"/>
                        <a:t>Copilot for Business</a:t>
                      </a:r>
                    </a:p>
                  </a:txBody>
                  <a:tcPr>
                    <a:solidFill>
                      <a:schemeClr val="accent4">
                        <a:lumMod val="8000"/>
                        <a:lumOff val="92000"/>
                      </a:schemeClr>
                    </a:solidFill>
                  </a:tcPr>
                </a:tc>
                <a:tc>
                  <a:txBody>
                    <a:bodyPr/>
                    <a:lstStyle/>
                    <a:p>
                      <a:pPr>
                        <a:buNone/>
                        <a:defRPr sz="1600" b="0">
                          <a:solidFill>
                            <a:schemeClr val="tx1"/>
                          </a:solidFill>
                        </a:defRPr>
                      </a:pPr>
                      <a:r>
                        <a:rPr sz="1600" b="0" i="0" u="none"/>
                        <a:t>Admin controls, policy enforcement</a:t>
                      </a:r>
                    </a:p>
                  </a:txBody>
                  <a:tcPr>
                    <a:solidFill>
                      <a:schemeClr val="accent4">
                        <a:lumMod val="8000"/>
                        <a:lumOff val="92000"/>
                      </a:schemeClr>
                    </a:solidFill>
                  </a:tcPr>
                </a:tc>
                <a:tc>
                  <a:txBody>
                    <a:bodyPr/>
                    <a:lstStyle/>
                    <a:p>
                      <a:pPr>
                        <a:buNone/>
                        <a:defRPr sz="1600" b="0">
                          <a:solidFill>
                            <a:schemeClr val="tx1"/>
                          </a:solidFill>
                        </a:defRPr>
                      </a:pPr>
                      <a:r>
                        <a:rPr sz="1600" b="0" i="0" u="none"/>
                        <a:t>Strong</a:t>
                      </a:r>
                    </a:p>
                  </a:txBody>
                  <a:tcPr>
                    <a:solidFill>
                      <a:schemeClr val="accent4">
                        <a:lumMod val="8000"/>
                        <a:lumOff val="92000"/>
                      </a:schemeClr>
                    </a:solidFill>
                  </a:tcPr>
                </a:tc>
                <a:extLst>
                  <a:ext uri="{0D108BD9-81ED-4DB2-BD59-A6C34878D82A}">
                    <a16:rowId xmlns:a16="http://schemas.microsoft.com/office/drawing/2014/main" val="10002"/>
                  </a:ext>
                </a:extLst>
              </a:tr>
              <a:tr h="457200">
                <a:tc>
                  <a:txBody>
                    <a:bodyPr/>
                    <a:lstStyle/>
                    <a:p>
                      <a:pPr>
                        <a:buNone/>
                        <a:defRPr sz="1600" b="0">
                          <a:solidFill>
                            <a:schemeClr val="tx1"/>
                          </a:solidFill>
                        </a:defRPr>
                      </a:pPr>
                      <a:r>
                        <a:rPr sz="1600" b="0" i="0" u="none"/>
                        <a:t>Copilot for Enterprise</a:t>
                      </a:r>
                    </a:p>
                  </a:txBody>
                  <a:tcPr>
                    <a:solidFill>
                      <a:schemeClr val="accent4">
                        <a:lumMod val="20000"/>
                        <a:lumOff val="80000"/>
                      </a:schemeClr>
                    </a:solidFill>
                  </a:tcPr>
                </a:tc>
                <a:tc>
                  <a:txBody>
                    <a:bodyPr/>
                    <a:lstStyle/>
                    <a:p>
                      <a:pPr>
                        <a:buNone/>
                        <a:defRPr sz="1600" b="0">
                          <a:solidFill>
                            <a:schemeClr val="tx1"/>
                          </a:solidFill>
                        </a:defRPr>
                      </a:pPr>
                      <a:r>
                        <a:rPr sz="1600" b="0" i="0" u="none"/>
                        <a:t>Org-wide policy, audit tools</a:t>
                      </a:r>
                    </a:p>
                  </a:txBody>
                  <a:tcPr>
                    <a:solidFill>
                      <a:schemeClr val="accent4">
                        <a:lumMod val="20000"/>
                        <a:lumOff val="80000"/>
                      </a:schemeClr>
                    </a:solidFill>
                  </a:tcPr>
                </a:tc>
                <a:tc>
                  <a:txBody>
                    <a:bodyPr/>
                    <a:lstStyle/>
                    <a:p>
                      <a:pPr>
                        <a:buNone/>
                        <a:defRPr sz="1600" b="0">
                          <a:solidFill>
                            <a:schemeClr val="tx1"/>
                          </a:solidFill>
                        </a:defRPr>
                      </a:pPr>
                      <a:r>
                        <a:rPr sz="1600" b="0" i="0" u="none"/>
                        <a:t>Strongest</a:t>
                      </a:r>
                    </a:p>
                  </a:txBody>
                  <a:tcPr>
                    <a:solidFill>
                      <a:schemeClr val="accent4">
                        <a:lumMod val="20000"/>
                        <a:lumOff val="80000"/>
                      </a:schemeClr>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Resources</a:t>
            </a:r>
          </a:p>
        </p:txBody>
      </p:sp>
      <p:sp>
        <p:nvSpPr>
          <p:cNvPr id="3" name="Content Placeholder 2"/>
          <p:cNvSpPr>
            <a:spLocks noGrp="1"/>
          </p:cNvSpPr>
          <p:nvPr>
            <p:ph idx="1"/>
          </p:nvPr>
        </p:nvSpPr>
        <p:spPr/>
        <p:txBody>
          <a:bodyPr wrap="square">
            <a:normAutofit/>
          </a:bodyPr>
          <a:lstStyle/>
          <a:p>
            <a:r>
              <a:rPr sz="2800" b="0" i="0" u="none"/>
              <a:t>Copilot Documentation:</a:t>
            </a:r>
            <a:endParaRPr sz="2800" b="0" i="0">
              <a:latin typeface="Arial"/>
            </a:endParaRPr>
          </a:p>
          <a:p>
            <a:pPr>
              <a:buNone/>
            </a:pPr>
            <a:r>
              <a:rPr sz="2800" b="0" i="0" u="none"/>
              <a:t>  https://docs.github.com/en/copilot</a:t>
            </a:r>
            <a:endParaRPr sz="2800" b="0" i="0">
              <a:latin typeface="Arial"/>
            </a:endParaRPr>
          </a:p>
          <a:p>
            <a:r>
              <a:rPr sz="2800" b="0" i="0" u="none"/>
              <a:t>Copilot for Business Overview</a:t>
            </a:r>
            <a:endParaRPr sz="2800" b="0" i="0">
              <a:latin typeface="Arial"/>
            </a:endParaRPr>
          </a:p>
          <a:p>
            <a:pPr>
              <a:buNone/>
            </a:pPr>
            <a:r>
              <a:rPr sz="2800" b="0" i="0" u="none"/>
              <a:t>  https://github.com/features/copilot-for-business</a:t>
            </a:r>
            <a:endParaRPr sz="2800" b="0" i="0">
              <a:latin typeface="Arial"/>
            </a:endParaRPr>
          </a:p>
          <a:p>
            <a:r>
              <a:rPr sz="2800" b="0" i="0" u="none"/>
              <a:t>Security and Privacy FAQ</a:t>
            </a:r>
            <a:endParaRPr sz="2800" b="0" i="0">
              <a:latin typeface="Arial"/>
            </a:endParaRPr>
          </a:p>
          <a:p>
            <a:pPr>
              <a:buNone/>
            </a:pPr>
            <a:r>
              <a:rPr sz="2800" b="0" i="0" u="none"/>
              <a:t>  https://docs.github.com/en/copilot/security</a:t>
            </a:r>
            <a:endParaRPr sz="2800" b="0" i="0">
              <a:latin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0" i="0" u="none"/>
              <a:t>Copilot for Teams</a:t>
            </a:r>
          </a:p>
          <a:p>
            <a:r>
              <a:rPr b="1" i="0" u="none"/>
              <a:t>▶ Safety Measures and Best Practices</a:t>
            </a:r>
          </a:p>
          <a:p>
            <a:r>
              <a:rPr b="0" i="0" u="none"/>
              <a:t>Models and Context</a:t>
            </a:r>
          </a:p>
          <a:p>
            <a:r>
              <a:rPr b="0" i="0" u="none"/>
              <a:t>Guardrails and Prompt Files</a:t>
            </a:r>
          </a:p>
          <a:p>
            <a:r>
              <a:rPr b="0" i="0" u="none"/>
              <a:t>AI Assisted Documentation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a:t>Safety Measures and Best Practices</a:t>
            </a:r>
          </a:p>
        </p:txBody>
      </p:sp>
      <p:sp>
        <p:nvSpPr>
          <p:cNvPr id="3" name="Subtitle 2"/>
          <p:cNvSpPr>
            <a:spLocks noGrp="1"/>
          </p:cNvSpPr>
          <p:nvPr>
            <p:ph type="subTitle" idx="1"/>
          </p:nvPr>
        </p:nvSpPr>
        <p:spPr/>
        <p:txBody>
          <a:bodyPr wrap="square">
            <a:normAutofit/>
          </a:bodyPr>
          <a:lstStyle/>
          <a:p>
            <a:pPr>
              <a:buNone/>
            </a:pPr>
            <a:r>
              <a:rPr sz="2200" b="0" i="0" u="none"/>
              <a:t>Code Review: The Last Line of Defense Against AI Overconfidence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Safety Measures &amp; Best Practices</a:t>
            </a:r>
          </a:p>
        </p:txBody>
      </p:sp>
      <p:sp>
        <p:nvSpPr>
          <p:cNvPr id="3" name="Content Placeholder 2"/>
          <p:cNvSpPr>
            <a:spLocks noGrp="1"/>
          </p:cNvSpPr>
          <p:nvPr>
            <p:ph idx="1"/>
          </p:nvPr>
        </p:nvSpPr>
        <p:spPr/>
        <p:txBody>
          <a:bodyPr wrap="square">
            <a:normAutofit/>
          </a:bodyPr>
          <a:lstStyle/>
          <a:p>
            <a:r>
              <a:rPr sz="2800" b="0" i="0" u="none"/>
              <a:t>Safety nets make AI acceleration safer</a:t>
            </a:r>
            <a:endParaRPr sz="2800" b="0" i="0">
              <a:latin typeface="Arial"/>
            </a:endParaRPr>
          </a:p>
          <a:p>
            <a:r>
              <a:rPr sz="2800" b="0" i="0" u="none"/>
              <a:t>Test quality matters more than raw coverage</a:t>
            </a:r>
            <a:endParaRPr sz="2800" b="0" i="0">
              <a:latin typeface="Arial"/>
            </a:endParaRPr>
          </a:p>
          <a:p>
            <a:r>
              <a:rPr sz="2800" b="0" i="0" u="none"/>
              <a:t>AI output must be reviewed like junior developer work</a:t>
            </a:r>
            <a:endParaRPr sz="2800" b="0" i="0">
              <a:latin typeface="Arial"/>
            </a:endParaRPr>
          </a:p>
          <a:p>
            <a:r>
              <a:rPr sz="2800" b="0" i="0" u="none"/>
              <a:t>Small, focused diffs are easier to trust</a:t>
            </a:r>
            <a:endParaRPr sz="2800" b="0" i="0">
              <a:latin typeface="Arial"/>
            </a:endParaRPr>
          </a:p>
          <a:p>
            <a:r>
              <a:rPr sz="2800" b="0" i="0" u="none"/>
              <a:t>Automation helps reviewers scale</a:t>
            </a:r>
            <a:endParaRPr sz="2800" b="0" i="0">
              <a:latin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650" b="0" i="0" u="none"/>
              <a:t>Treat AI Like an Eager Knowledgeable Junior Developer</a:t>
            </a:r>
          </a:p>
        </p:txBody>
      </p:sp>
      <p:sp>
        <p:nvSpPr>
          <p:cNvPr id="3" name="Content Placeholder 2"/>
          <p:cNvSpPr>
            <a:spLocks noGrp="1"/>
          </p:cNvSpPr>
          <p:nvPr>
            <p:ph sz="half" idx="1"/>
          </p:nvPr>
        </p:nvSpPr>
        <p:spPr/>
        <p:txBody>
          <a:bodyPr wrap="square">
            <a:normAutofit fontScale="92500" lnSpcReduction="20000"/>
          </a:bodyPr>
          <a:lstStyle/>
          <a:p>
            <a:r>
              <a:rPr sz="2800" b="0" i="0" u="none"/>
              <a:t>AI can produce useful first drafts quickly</a:t>
            </a:r>
            <a:endParaRPr sz="2800" b="0" i="0">
              <a:latin typeface="Arial"/>
            </a:endParaRPr>
          </a:p>
          <a:p>
            <a:r>
              <a:rPr sz="2800" b="0" i="0" u="none"/>
              <a:t>It can also misunderstand requirements or context</a:t>
            </a:r>
            <a:endParaRPr sz="2800" b="0" i="0">
              <a:latin typeface="Arial"/>
            </a:endParaRPr>
          </a:p>
          <a:p>
            <a:r>
              <a:rPr sz="2800" b="0" i="0" u="none"/>
              <a:t>Humans remain accountable for correctness and intent</a:t>
            </a:r>
            <a:endParaRPr sz="2800" b="0" i="0">
              <a:latin typeface="Arial"/>
            </a:endParaRPr>
          </a:p>
          <a:p>
            <a:r>
              <a:rPr sz="2800" b="0" i="0" u="none"/>
              <a:t>Review every generated change before commit or merge</a:t>
            </a:r>
            <a:endParaRPr sz="2800" b="0" i="0">
              <a:latin typeface="Arial"/>
            </a:endParaRPr>
          </a:p>
          <a:p>
            <a:r>
              <a:rPr sz="2800" b="0" i="0" u="none"/>
              <a:t>Use AI for acceleration, not delegated judgment</a:t>
            </a:r>
            <a:endParaRPr sz="2800" b="0" i="0">
              <a:latin typeface="Arial"/>
            </a:endParaRPr>
          </a:p>
        </p:txBody>
      </p:sp>
      <p:pic>
        <p:nvPicPr>
          <p:cNvPr id="6" name="Content Placeholder 5" descr="81a798a338e7eb28a4d0d756b247789d6cc66246.png"/>
          <p:cNvPicPr>
            <a:picLocks noGrp="1" noChangeAspect="1"/>
          </p:cNvPicPr>
          <p:nvPr>
            <p:ph sz="half" idx="2"/>
          </p:nvPr>
        </p:nvPicPr>
        <p:blipFill>
          <a:blip r:embed="rId3"/>
          <a:stretch>
            <a:fillRect/>
          </a:stretch>
        </p:blipFill>
        <p:spPr>
          <a:xfrm>
            <a:off x="7625922" y="1463675"/>
            <a:ext cx="2274156" cy="4351338"/>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Coverage Is a Floor, Not the Goal</a:t>
            </a:r>
          </a:p>
        </p:txBody>
      </p:sp>
      <p:sp>
        <p:nvSpPr>
          <p:cNvPr id="3" name="Content Placeholder 2"/>
          <p:cNvSpPr>
            <a:spLocks noGrp="1"/>
          </p:cNvSpPr>
          <p:nvPr>
            <p:ph idx="1"/>
          </p:nvPr>
        </p:nvSpPr>
        <p:spPr/>
        <p:txBody>
          <a:bodyPr wrap="square">
            <a:normAutofit/>
          </a:bodyPr>
          <a:lstStyle/>
          <a:p>
            <a:r>
              <a:rPr sz="2150" b="0" i="0" u="none"/>
              <a:t>Coverage tells you </a:t>
            </a:r>
            <a:r>
              <a:rPr sz="2150" b="1" i="0" u="none"/>
              <a:t>how much</a:t>
            </a:r>
            <a:r>
              <a:rPr sz="2150" b="0" i="0" u="none"/>
              <a:t> code was executed</a:t>
            </a:r>
            <a:endParaRPr sz="2150" b="0" i="0">
              <a:latin typeface="Arial"/>
            </a:endParaRPr>
          </a:p>
          <a:p>
            <a:r>
              <a:rPr sz="2150" b="0" i="0" u="none"/>
              <a:t>Signal quality tells you </a:t>
            </a:r>
            <a:r>
              <a:rPr sz="2150" b="1" i="0" u="none"/>
              <a:t>whether failures would matter</a:t>
            </a:r>
            <a:endParaRPr sz="2150" b="0" i="0">
              <a:latin typeface="Arial"/>
            </a:endParaRPr>
          </a:p>
          <a:p>
            <a:r>
              <a:rPr sz="2150" b="0" i="0" u="none"/>
              <a:t>Prefer tests that detect regressions in behavior</a:t>
            </a:r>
            <a:endParaRPr sz="2150" b="0" i="0">
              <a:latin typeface="Arial"/>
            </a:endParaRPr>
          </a:p>
          <a:p>
            <a:r>
              <a:rPr sz="2150" b="0" i="0" u="none"/>
              <a:t>Include edge cases, negative paths, and business rules</a:t>
            </a:r>
            <a:endParaRPr sz="2150" b="0" i="0">
              <a:latin typeface="Arial"/>
            </a:endParaRPr>
          </a:p>
          <a:p>
            <a:r>
              <a:rPr sz="2150" b="0" i="0" u="none"/>
              <a:t>Do not confuse green dashboards with real confidence</a:t>
            </a:r>
            <a:endParaRPr sz="2150" b="0" i="0">
              <a:latin typeface="Arial"/>
            </a:endParaRPr>
          </a:p>
          <a:p>
            <a:pPr>
              <a:buNone/>
            </a:pPr>
            <a:endParaRPr sz="2150" b="0" i="0">
              <a:latin typeface="Arial"/>
            </a:endParaRPr>
          </a:p>
          <a:p>
            <a:pPr>
              <a:buNone/>
            </a:pPr>
            <a:r>
              <a:rPr sz="2150" b="1" i="0" u="none"/>
              <a:t>High-signal tests usually check</a:t>
            </a:r>
            <a:endParaRPr sz="2150" b="0" i="0">
              <a:latin typeface="Arial"/>
            </a:endParaRPr>
          </a:p>
          <a:p>
            <a:pPr lvl="1"/>
            <a:r>
              <a:rPr sz="2150" b="0" i="0" u="none"/>
              <a:t>outcomes users care about</a:t>
            </a:r>
            <a:endParaRPr sz="2150" b="0" i="0">
              <a:latin typeface="Arial"/>
            </a:endParaRPr>
          </a:p>
          <a:p>
            <a:pPr lvl="1"/>
            <a:r>
              <a:rPr sz="2150" b="0" i="0" u="none"/>
              <a:t>meaningful failure conditions</a:t>
            </a:r>
            <a:endParaRPr sz="2150" b="0" i="0">
              <a:latin typeface="Arial"/>
            </a:endParaRPr>
          </a:p>
          <a:p>
            <a:pPr lvl="1"/>
            <a:r>
              <a:rPr sz="2150" b="0" i="0" u="none"/>
              <a:t>integration boundaries and contracts</a:t>
            </a:r>
            <a:endParaRPr sz="2150" b="0" i="0">
              <a:latin typeface="Arial"/>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Keep Change Sets Small and Reviewable</a:t>
            </a:r>
          </a:p>
        </p:txBody>
      </p:sp>
      <p:sp>
        <p:nvSpPr>
          <p:cNvPr id="3" name="Content Placeholder 2"/>
          <p:cNvSpPr>
            <a:spLocks noGrp="1"/>
          </p:cNvSpPr>
          <p:nvPr>
            <p:ph idx="1"/>
          </p:nvPr>
        </p:nvSpPr>
        <p:spPr/>
        <p:txBody>
          <a:bodyPr wrap="square">
            <a:normAutofit/>
          </a:bodyPr>
          <a:lstStyle/>
          <a:p>
            <a:r>
              <a:rPr sz="2150" b="0" i="0" u="none"/>
              <a:t>Smaller diffs are easier to understand</a:t>
            </a:r>
            <a:endParaRPr sz="2150" b="0" i="0">
              <a:latin typeface="Arial"/>
            </a:endParaRPr>
          </a:p>
          <a:p>
            <a:r>
              <a:rPr sz="2150" b="0" i="0" u="none"/>
              <a:t>Reviewers spot risk faster in focused changes</a:t>
            </a:r>
            <a:endParaRPr sz="2150" b="0" i="0">
              <a:latin typeface="Arial"/>
            </a:endParaRPr>
          </a:p>
          <a:p>
            <a:r>
              <a:rPr sz="2150" b="0" i="0" u="none"/>
              <a:t>Rollback is simpler when scope is narrow</a:t>
            </a:r>
            <a:endParaRPr sz="2150" b="0" i="0">
              <a:latin typeface="Arial"/>
            </a:endParaRPr>
          </a:p>
          <a:p>
            <a:r>
              <a:rPr sz="2150" b="0" i="0" u="none"/>
              <a:t>Incremental delivery reduces blast radius</a:t>
            </a:r>
            <a:endParaRPr sz="2150" b="0" i="0">
              <a:latin typeface="Arial"/>
            </a:endParaRPr>
          </a:p>
          <a:p>
            <a:r>
              <a:rPr sz="2150" b="0" i="0" u="none"/>
              <a:t>Large AI-generated diffs hide subtle mistakes</a:t>
            </a:r>
            <a:endParaRPr sz="2150" b="0" i="0">
              <a:latin typeface="Arial"/>
            </a:endParaRPr>
          </a:p>
          <a:p>
            <a:pPr>
              <a:buNone/>
            </a:pPr>
            <a:endParaRPr sz="2150" b="0" i="0">
              <a:latin typeface="Arial"/>
            </a:endParaRPr>
          </a:p>
          <a:p>
            <a:pPr>
              <a:buNone/>
            </a:pPr>
            <a:r>
              <a:rPr sz="2150" b="1" i="0" u="none"/>
              <a:t>Good small-change patterns</a:t>
            </a:r>
            <a:endParaRPr sz="2150" b="0" i="0">
              <a:latin typeface="Arial"/>
            </a:endParaRPr>
          </a:p>
          <a:p>
            <a:pPr lvl="1">
              <a:buNone/>
            </a:pPr>
            <a:r>
              <a:rPr sz="2150" b="0" i="0" u="none"/>
              <a:t>  1. separate refactor from behavior change</a:t>
            </a:r>
            <a:endParaRPr sz="2150" b="0" i="0">
              <a:latin typeface="Arial"/>
            </a:endParaRPr>
          </a:p>
          <a:p>
            <a:pPr lvl="1">
              <a:buNone/>
            </a:pPr>
            <a:r>
              <a:rPr sz="2150" b="0" i="0" u="none"/>
              <a:t>  2. ship one concern per pull request</a:t>
            </a:r>
            <a:endParaRPr sz="2150" b="0" i="0">
              <a:latin typeface="Arial"/>
            </a:endParaRPr>
          </a:p>
          <a:p>
            <a:pPr lvl="1">
              <a:buNone/>
            </a:pPr>
            <a:r>
              <a:rPr sz="2150" b="0" i="0" u="none"/>
              <a:t>  3. keep cleanup close to the related feature</a:t>
            </a:r>
            <a:endParaRPr sz="2150" b="0" i="0">
              <a:latin typeface="Arial"/>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150" b="0" i="0" u="none"/>
              <a:t>Human Review + Automated Review Workflow</a:t>
            </a:r>
          </a:p>
        </p:txBody>
      </p:sp>
      <p:sp>
        <p:nvSpPr>
          <p:cNvPr id="3" name="Content Placeholder 2"/>
          <p:cNvSpPr>
            <a:spLocks noGrp="1"/>
          </p:cNvSpPr>
          <p:nvPr>
            <p:ph idx="1"/>
          </p:nvPr>
        </p:nvSpPr>
        <p:spPr/>
        <p:txBody>
          <a:bodyPr wrap="square">
            <a:normAutofit/>
          </a:bodyPr>
          <a:lstStyle/>
          <a:p>
            <a:r>
              <a:rPr sz="2450" b="0" i="0" u="none"/>
              <a:t>Use automation to surface risky files, missing tests, and policy gaps</a:t>
            </a:r>
            <a:endParaRPr sz="2450" b="0" i="0">
              <a:latin typeface="Arial"/>
            </a:endParaRPr>
          </a:p>
          <a:p>
            <a:r>
              <a:rPr sz="2450" b="0" i="0" u="none"/>
              <a:t>Use humans to judge correctness, intent, and business impact</a:t>
            </a:r>
            <a:endParaRPr sz="2450" b="0" i="0">
              <a:latin typeface="Arial"/>
            </a:endParaRPr>
          </a:p>
          <a:p>
            <a:r>
              <a:rPr sz="2450" b="0" i="0" u="none"/>
              <a:t>Azure DevOps MCP tools can help automate PR review workflows</a:t>
            </a:r>
            <a:endParaRPr sz="2450" b="0" i="0">
              <a:latin typeface="Arial"/>
            </a:endParaRPr>
          </a:p>
          <a:p>
            <a:r>
              <a:rPr sz="2450" b="0" i="0" u="none"/>
              <a:t>Automated comments are triage aids, not merge authority</a:t>
            </a:r>
            <a:endParaRPr sz="2450" b="0" i="0">
              <a:latin typeface="Arial"/>
            </a:endParaRPr>
          </a:p>
          <a:p>
            <a:r>
              <a:rPr sz="2450" b="0" i="0" u="none"/>
              <a:t>The best workflow combines speed, consistency, and accountability</a:t>
            </a:r>
            <a:endParaRPr sz="2450" b="0" i="0">
              <a:latin typeface="Arial"/>
            </a:endParaRPr>
          </a:p>
          <a:p>
            <a:pPr>
              <a:buNone/>
            </a:pPr>
            <a:endParaRPr sz="2450" b="0" i="0">
              <a:latin typeface="Arial"/>
            </a:endParaRPr>
          </a:p>
          <a:p>
            <a:pPr>
              <a:buNone/>
            </a:pPr>
            <a:r>
              <a:rPr sz="2450" b="1" i="0" u="none"/>
              <a:t>Suggested review split</a:t>
            </a:r>
            <a:endParaRPr sz="2450" b="0" i="0">
              <a:latin typeface="Arial"/>
            </a:endParaRPr>
          </a:p>
          <a:p>
            <a:pPr lvl="1"/>
            <a:r>
              <a:rPr sz="2450" b="1" i="0" u="none"/>
              <a:t>Automation</a:t>
            </a:r>
            <a:r>
              <a:rPr sz="2450" b="0" i="0" u="none"/>
              <a:t>: lint, tests, policy checks, review hints</a:t>
            </a:r>
            <a:endParaRPr sz="2450" b="0" i="0">
              <a:latin typeface="Arial"/>
            </a:endParaRPr>
          </a:p>
          <a:p>
            <a:pPr lvl="1"/>
            <a:r>
              <a:rPr sz="2450" b="1" i="0" u="none"/>
              <a:t>Human reviewers</a:t>
            </a:r>
            <a:r>
              <a:rPr sz="2450" b="0" i="0" u="none"/>
              <a:t>: architecture, behavior, domain correctness</a:t>
            </a:r>
            <a:endParaRPr sz="2450" b="0" i="0">
              <a:latin typeface="Arial"/>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2950" b="0" i="0" u="none"/>
              <a:t>Practical Safety Checklist for AI-Assisted Changes</a:t>
            </a:r>
          </a:p>
        </p:txBody>
      </p:sp>
      <p:sp>
        <p:nvSpPr>
          <p:cNvPr id="3" name="Content Placeholder 2"/>
          <p:cNvSpPr>
            <a:spLocks noGrp="1"/>
          </p:cNvSpPr>
          <p:nvPr>
            <p:ph idx="1"/>
          </p:nvPr>
        </p:nvSpPr>
        <p:spPr/>
        <p:txBody>
          <a:bodyPr wrap="square">
            <a:normAutofit/>
          </a:bodyPr>
          <a:lstStyle/>
          <a:p>
            <a:r>
              <a:rPr sz="2450" b="0" i="0" u="none"/>
              <a:t>Review every AI-generated diff before commit</a:t>
            </a:r>
            <a:endParaRPr sz="2450" b="0" i="0">
              <a:latin typeface="Arial"/>
            </a:endParaRPr>
          </a:p>
          <a:p>
            <a:r>
              <a:rPr sz="2450" b="0" i="0" u="none"/>
              <a:t>Require tests, but evaluate their </a:t>
            </a:r>
            <a:r>
              <a:rPr sz="2450" b="1" i="0" u="none"/>
              <a:t>signal</a:t>
            </a:r>
            <a:r>
              <a:rPr sz="2450" b="0" i="0" u="none"/>
              <a:t>, not just count</a:t>
            </a:r>
            <a:endParaRPr sz="2450" b="0" i="0">
              <a:latin typeface="Arial"/>
            </a:endParaRPr>
          </a:p>
          <a:p>
            <a:r>
              <a:rPr sz="2450" b="0" i="0" u="none"/>
              <a:t>Keep pull requests focused and incremental</a:t>
            </a:r>
            <a:endParaRPr sz="2450" b="0" i="0">
              <a:latin typeface="Arial"/>
            </a:endParaRPr>
          </a:p>
          <a:p>
            <a:r>
              <a:rPr sz="2450" b="0" i="0" u="none"/>
              <a:t>Use automation to pre-screen issues for reviewers</a:t>
            </a:r>
            <a:endParaRPr sz="2450" b="0" i="0">
              <a:latin typeface="Arial"/>
            </a:endParaRPr>
          </a:p>
          <a:p>
            <a:r>
              <a:rPr sz="2450" b="0" i="0" u="none"/>
              <a:t>Clean up obsolete flags and dead paths intentionally</a:t>
            </a:r>
            <a:endParaRPr sz="2450" b="0" i="0">
              <a:latin typeface="Arial"/>
            </a:endParaRPr>
          </a:p>
          <a:p>
            <a:r>
              <a:rPr sz="2450" b="0" i="0" u="none"/>
              <a:t>Merge only when humans understand the change</a:t>
            </a:r>
            <a:endParaRPr sz="2450" b="0" i="0">
              <a:latin typeface="Arial"/>
            </a:endParaRPr>
          </a:p>
          <a:p>
            <a:pPr>
              <a:buNone/>
            </a:pPr>
            <a:endParaRPr sz="2450" b="0" i="0">
              <a:latin typeface="Arial"/>
            </a:endParaRPr>
          </a:p>
          <a:p>
            <a:pPr>
              <a:buNone/>
            </a:pPr>
            <a:r>
              <a:rPr sz="2450" b="1" i="0" u="none"/>
              <a:t>Bottom line:</a:t>
            </a:r>
            <a:r>
              <a:rPr sz="2450" b="0" i="0" u="none"/>
              <a:t> fast AI-assisted delivery still needs disciplined engineering.</a:t>
            </a:r>
            <a:endParaRPr sz="2450" b="0" i="0">
              <a:latin typeface="Arial"/>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0" i="0" u="none"/>
              <a:t>Copilot for Teams</a:t>
            </a:r>
          </a:p>
          <a:p>
            <a:r>
              <a:rPr b="0" i="0" u="none"/>
              <a:t>Safety Measures and Best Practices</a:t>
            </a:r>
          </a:p>
          <a:p>
            <a:r>
              <a:rPr b="1" i="0" u="none"/>
              <a:t>▶ Models and Context</a:t>
            </a:r>
          </a:p>
          <a:p>
            <a:r>
              <a:rPr b="0" i="0" u="none"/>
              <a:t>Guardrails and Prompt Files</a:t>
            </a:r>
          </a:p>
          <a:p>
            <a:r>
              <a:rPr b="0" i="0" u="none"/>
              <a:t>AI Assisted Documentation</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Model Selection and Comparison</a:t>
            </a:r>
          </a:p>
        </p:txBody>
      </p:sp>
      <p:sp>
        <p:nvSpPr>
          <p:cNvPr id="3" name="Subtitle 2"/>
          <p:cNvSpPr>
            <a:spLocks noGrp="1"/>
          </p:cNvSpPr>
          <p:nvPr>
            <p:ph type="subTitle" idx="1"/>
          </p:nvPr>
        </p:nvSpPr>
        <p:spPr/>
        <p:txBody>
          <a:bodyPr wrap="square">
            <a:normAutofit/>
          </a:bodyPr>
          <a:lstStyle/>
          <a:p>
            <a:pPr>
              <a:buNone/>
            </a:pPr>
            <a:r>
              <a:rPr b="0" i="0" u="none"/>
              <a:t>So Many Models, So Few Context Windows</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Public Leaderboards</a:t>
            </a:r>
          </a:p>
        </p:txBody>
      </p:sp>
      <p:sp>
        <p:nvSpPr>
          <p:cNvPr id="3" name="Content Placeholder 2"/>
          <p:cNvSpPr>
            <a:spLocks noGrp="1"/>
          </p:cNvSpPr>
          <p:nvPr>
            <p:ph idx="1"/>
          </p:nvPr>
        </p:nvSpPr>
        <p:spPr/>
        <p:txBody>
          <a:bodyPr wrap="square">
            <a:normAutofit/>
          </a:bodyPr>
          <a:lstStyle/>
          <a:p>
            <a:r>
              <a:rPr sz="2550" b="0" i="0" u="none"/>
              <a:t>Where to See Model-to-Model Comparisons</a:t>
            </a:r>
            <a:endParaRPr sz="2550" b="0" i="0">
              <a:latin typeface="Arial"/>
            </a:endParaRPr>
          </a:p>
          <a:p>
            <a:r>
              <a:rPr sz="2550" b="0" i="0" u="none"/>
              <a:t>LLM-Stats Coding Leaderboard</a:t>
            </a:r>
            <a:endParaRPr sz="2550" b="0" i="0">
              <a:latin typeface="Arial"/>
            </a:endParaRPr>
          </a:p>
          <a:p>
            <a:pPr lvl="1"/>
            <a:r>
              <a:rPr sz="2550" b="0" i="0" u="none"/>
              <a:t>Aggregates 20+ coding benchmarks</a:t>
            </a:r>
            <a:endParaRPr sz="2550" b="0" i="0">
              <a:latin typeface="Arial"/>
            </a:endParaRPr>
          </a:p>
          <a:p>
            <a:pPr lvl="1"/>
            <a:r>
              <a:rPr sz="2550" b="0" i="0" u="none"/>
              <a:t>Shows top performers across HumanEval, LiveCodeBench, etc.</a:t>
            </a:r>
            <a:endParaRPr sz="2550" b="0" i="0">
              <a:latin typeface="Arial"/>
            </a:endParaRPr>
          </a:p>
          <a:p>
            <a:r>
              <a:rPr sz="2550" b="0" i="0" u="none"/>
              <a:t>TechRadar's Coding LLM Guide</a:t>
            </a:r>
            <a:endParaRPr sz="2550" b="0" i="0">
              <a:latin typeface="Arial"/>
            </a:endParaRPr>
          </a:p>
          <a:p>
            <a:pPr lvl="1"/>
            <a:r>
              <a:rPr sz="2550" b="0" i="0" u="none"/>
              <a:t>Editorial comparison of strengths (debugging, test generation, etc.)</a:t>
            </a:r>
            <a:endParaRPr sz="2550" b="0" i="0">
              <a:latin typeface="Arial"/>
            </a:endParaRPr>
          </a:p>
          <a:p>
            <a:r>
              <a:rPr sz="2550" b="0" i="0" u="none"/>
              <a:t>Zencoder's 2026 Model Comparison</a:t>
            </a:r>
            <a:endParaRPr sz="2550" b="0" i="0">
              <a:latin typeface="Arial"/>
            </a:endParaRPr>
          </a:p>
          <a:p>
            <a:pPr lvl="1"/>
            <a:r>
              <a:rPr sz="2550" b="0" i="0" u="none"/>
              <a:t>Breaks down accuracy, reasoning, and context window-</a:t>
            </a:r>
            <a:endParaRPr sz="2550" b="0" i="0">
              <a:latin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Core Benchmarks</a:t>
            </a:r>
          </a:p>
        </p:txBody>
      </p:sp>
      <p:sp>
        <p:nvSpPr>
          <p:cNvPr id="3" name="Content Placeholder 2"/>
          <p:cNvSpPr>
            <a:spLocks noGrp="1"/>
          </p:cNvSpPr>
          <p:nvPr>
            <p:ph idx="1"/>
          </p:nvPr>
        </p:nvSpPr>
        <p:spPr/>
        <p:txBody>
          <a:bodyPr wrap="square">
            <a:normAutofit/>
          </a:bodyPr>
          <a:lstStyle/>
          <a:p>
            <a:r>
              <a:rPr sz="1950" b="0" i="0" u="none"/>
              <a:t>What Models Are Actually Tested On</a:t>
            </a:r>
            <a:endParaRPr sz="1950" b="0" i="0">
              <a:latin typeface="Arial"/>
            </a:endParaRPr>
          </a:p>
          <a:p>
            <a:r>
              <a:rPr sz="1950" b="0" i="0" u="none"/>
              <a:t>HumanEval</a:t>
            </a:r>
            <a:endParaRPr sz="1950" b="0" i="0">
              <a:latin typeface="Arial"/>
            </a:endParaRPr>
          </a:p>
          <a:p>
            <a:pPr lvl="1"/>
            <a:r>
              <a:rPr sz="1950" b="0" i="0" u="none"/>
              <a:t>Classic functional-correctness benchmark for Python</a:t>
            </a:r>
            <a:endParaRPr sz="1950" b="0" i="0">
              <a:latin typeface="Arial"/>
            </a:endParaRPr>
          </a:p>
          <a:p>
            <a:r>
              <a:rPr sz="1950" b="0" i="0" u="none"/>
              <a:t>LiveCodeBench</a:t>
            </a:r>
            <a:endParaRPr sz="1950" b="0" i="0">
              <a:latin typeface="Arial"/>
            </a:endParaRPr>
          </a:p>
          <a:p>
            <a:pPr lvl="1"/>
            <a:r>
              <a:rPr sz="1950" b="0" i="0" u="none"/>
              <a:t>Contamination-free, holistic benchmark for modern LLMs</a:t>
            </a:r>
            <a:endParaRPr sz="1950" b="0" i="0">
              <a:latin typeface="Arial"/>
            </a:endParaRPr>
          </a:p>
          <a:p>
            <a:r>
              <a:rPr sz="1950" b="0" i="0" u="none"/>
              <a:t>MBPP (Mostly Basic Programming Problems)</a:t>
            </a:r>
            <a:endParaRPr sz="1950" b="0" i="0">
              <a:latin typeface="Arial"/>
            </a:endParaRPr>
          </a:p>
          <a:p>
            <a:pPr lvl="1"/>
            <a:r>
              <a:rPr sz="1950" b="0" i="0" u="none"/>
              <a:t>Simple algorithmic tasks across languages</a:t>
            </a:r>
            <a:endParaRPr sz="1950" b="0" i="0">
              <a:latin typeface="Arial"/>
            </a:endParaRPr>
          </a:p>
          <a:p>
            <a:r>
              <a:rPr sz="1950" b="0" i="0" u="none"/>
              <a:t>SWE-Bench</a:t>
            </a:r>
            <a:endParaRPr sz="1950" b="0" i="0">
              <a:latin typeface="Arial"/>
            </a:endParaRPr>
          </a:p>
          <a:p>
            <a:pPr lvl="1"/>
            <a:r>
              <a:rPr sz="1950" b="0" i="0" u="none"/>
              <a:t>Real-world GitHub issue resolution</a:t>
            </a:r>
            <a:endParaRPr sz="1950" b="0" i="0">
              <a:latin typeface="Arial"/>
            </a:endParaRPr>
          </a:p>
          <a:p>
            <a:r>
              <a:rPr sz="1950" b="0" i="0" u="none"/>
              <a:t>DevQualityEval</a:t>
            </a:r>
            <a:endParaRPr sz="1950" b="0" i="0">
              <a:latin typeface="Arial"/>
            </a:endParaRPr>
          </a:p>
          <a:p>
            <a:pPr lvl="1"/>
            <a:r>
              <a:rPr sz="1950" b="0" i="0" u="none"/>
              <a:t>Evaluates test generation for Java and Go</a:t>
            </a:r>
            <a:endParaRPr sz="1950" b="0" i="0">
              <a:latin typeface="Arial"/>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Surveys &amp; Deep-Dive Research</a:t>
            </a:r>
          </a:p>
        </p:txBody>
      </p:sp>
      <p:sp>
        <p:nvSpPr>
          <p:cNvPr id="3" name="Content Placeholder 2"/>
          <p:cNvSpPr>
            <a:spLocks noGrp="1"/>
          </p:cNvSpPr>
          <p:nvPr>
            <p:ph idx="1"/>
          </p:nvPr>
        </p:nvSpPr>
        <p:spPr/>
        <p:txBody>
          <a:bodyPr wrap="square">
            <a:normAutofit/>
          </a:bodyPr>
          <a:lstStyle/>
          <a:p>
            <a:pPr>
              <a:buNone/>
            </a:pPr>
            <a:r>
              <a:rPr sz="2250" b="0" i="0" u="none"/>
              <a:t>Understanding the Landscape</a:t>
            </a:r>
            <a:endParaRPr sz="2250" b="0" i="0">
              <a:latin typeface="Arial"/>
            </a:endParaRPr>
          </a:p>
          <a:p>
            <a:pPr>
              <a:buNone/>
            </a:pPr>
            <a:r>
              <a:rPr sz="2250" b="0" i="0" u="none"/>
              <a:t>Academic Surveys (arXiv)</a:t>
            </a:r>
            <a:endParaRPr sz="2250" b="0" i="0">
              <a:latin typeface="Arial"/>
            </a:endParaRPr>
          </a:p>
          <a:p>
            <a:pPr>
              <a:buNone/>
            </a:pPr>
            <a:endParaRPr sz="2250" b="0" i="0">
              <a:latin typeface="Arial"/>
            </a:endParaRPr>
          </a:p>
          <a:p>
            <a:r>
              <a:rPr sz="2250" b="0" i="0" u="none"/>
              <a:t>Comprehensive overviews of techniques, benchmarks, and model families</a:t>
            </a:r>
            <a:endParaRPr sz="2250" b="0" i="0">
              <a:latin typeface="Arial"/>
            </a:endParaRPr>
          </a:p>
          <a:p>
            <a:pPr>
              <a:buNone/>
            </a:pPr>
            <a:r>
              <a:rPr sz="2250" b="0" i="0" u="none"/>
              <a:t>  Benchmark Explainers (Vellum, Analytics Vidhya)</a:t>
            </a:r>
            <a:endParaRPr sz="2250" b="0" i="0">
              <a:latin typeface="Arial"/>
            </a:endParaRPr>
          </a:p>
          <a:p>
            <a:r>
              <a:rPr sz="2250" b="0" i="0" u="none"/>
              <a:t>Strengths and weaknesses of each benchmark</a:t>
            </a:r>
            <a:endParaRPr sz="2250" b="0" i="0">
              <a:latin typeface="Arial"/>
            </a:endParaRPr>
          </a:p>
          <a:p>
            <a:r>
              <a:rPr sz="2250" b="0" i="0" u="none"/>
              <a:t>How to interpret results</a:t>
            </a:r>
            <a:endParaRPr sz="2250" b="0" i="0">
              <a:latin typeface="Arial"/>
            </a:endParaRPr>
          </a:p>
          <a:p>
            <a:pPr>
              <a:buNone/>
            </a:pPr>
            <a:r>
              <a:rPr sz="2250" b="0" i="0" u="none"/>
              <a:t>  Specialized Benchmarks</a:t>
            </a:r>
            <a:endParaRPr sz="2250" b="0" i="0">
              <a:latin typeface="Arial"/>
            </a:endParaRPr>
          </a:p>
          <a:p>
            <a:r>
              <a:rPr sz="2250" b="0" i="0" u="none"/>
              <a:t>SwiftEval, domain-specific coding evaluations, etc</a:t>
            </a:r>
            <a:endParaRPr sz="2250" b="0" i="0">
              <a:latin typeface="Arial"/>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Evaluation Frameworks</a:t>
            </a:r>
          </a:p>
        </p:txBody>
      </p:sp>
      <p:sp>
        <p:nvSpPr>
          <p:cNvPr id="3" name="Content Placeholder 2"/>
          <p:cNvSpPr>
            <a:spLocks noGrp="1"/>
          </p:cNvSpPr>
          <p:nvPr>
            <p:ph idx="1"/>
          </p:nvPr>
        </p:nvSpPr>
        <p:spPr/>
        <p:txBody>
          <a:bodyPr wrap="square">
            <a:normAutofit/>
          </a:bodyPr>
          <a:lstStyle/>
          <a:p>
            <a:r>
              <a:rPr sz="2800" b="0" i="0" u="none"/>
              <a:t>Tools for Running Your Own Tests</a:t>
            </a:r>
            <a:endParaRPr sz="2800" b="0" i="0">
              <a:latin typeface="Arial"/>
            </a:endParaRPr>
          </a:p>
          <a:p>
            <a:pPr lvl="1"/>
            <a:r>
              <a:rPr sz="2800" b="0" i="0" u="none"/>
              <a:t>Symflower DevQualityEval</a:t>
            </a:r>
            <a:endParaRPr sz="2800" b="0" i="0">
              <a:latin typeface="Arial"/>
            </a:endParaRPr>
          </a:p>
          <a:p>
            <a:pPr lvl="2"/>
            <a:r>
              <a:rPr sz="2800" b="0" i="0" u="none"/>
              <a:t>Open-source framework for code and test generation evaluation</a:t>
            </a:r>
            <a:endParaRPr sz="2800" b="0" i="0">
              <a:latin typeface="Arial"/>
            </a:endParaRPr>
          </a:p>
          <a:p>
            <a:pPr lvl="1"/>
            <a:r>
              <a:rPr sz="2800" b="0" i="0" u="none"/>
              <a:t>CodeArena (HuggingFace)</a:t>
            </a:r>
            <a:endParaRPr sz="2800" b="0" i="0">
              <a:latin typeface="Arial"/>
            </a:endParaRPr>
          </a:p>
          <a:p>
            <a:pPr lvl="2"/>
            <a:r>
              <a:rPr sz="2800" b="0" i="0" u="none"/>
              <a:t>Collective evaluation platform for coding tasks</a:t>
            </a:r>
            <a:endParaRPr sz="2800" b="0" i="0">
              <a:latin typeface="Arial"/>
            </a:endParaRPr>
          </a:p>
          <a:p>
            <a:pPr lvl="1"/>
            <a:r>
              <a:rPr sz="2800" b="0" i="0" u="none"/>
              <a:t>Automatic Benchmark Generation Tools</a:t>
            </a:r>
            <a:endParaRPr sz="2800" b="0" i="0">
              <a:latin typeface="Arial"/>
            </a:endParaRPr>
          </a:p>
          <a:p>
            <a:pPr lvl="2"/>
            <a:r>
              <a:rPr sz="2800" b="0" i="0" u="none"/>
              <a:t>Research into LLM-generated benchmarks and judge reliability</a:t>
            </a:r>
            <a:endParaRPr sz="2800" b="0" i="0">
              <a:latin typeface="Arial"/>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Selecting Models</a:t>
            </a:r>
          </a:p>
        </p:txBody>
      </p:sp>
      <p:sp>
        <p:nvSpPr>
          <p:cNvPr id="3" name="Content Placeholder 2"/>
          <p:cNvSpPr>
            <a:spLocks noGrp="1"/>
          </p:cNvSpPr>
          <p:nvPr>
            <p:ph idx="1"/>
          </p:nvPr>
        </p:nvSpPr>
        <p:spPr/>
        <p:txBody>
          <a:bodyPr wrap="square">
            <a:normAutofit/>
          </a:bodyPr>
          <a:lstStyle/>
          <a:p>
            <a:r>
              <a:rPr sz="2800" b="0" i="0" u="none"/>
              <a:t>Select benchmarks aligned with your workflow</a:t>
            </a:r>
            <a:endParaRPr sz="2800" b="0" i="0">
              <a:latin typeface="Arial"/>
            </a:endParaRPr>
          </a:p>
          <a:p>
            <a:r>
              <a:rPr sz="2800" b="0" i="0" u="none"/>
              <a:t>Combine leaderboards + hands-on evaluation</a:t>
            </a:r>
            <a:endParaRPr sz="2800" b="0" i="0">
              <a:latin typeface="Arial"/>
            </a:endParaRPr>
          </a:p>
          <a:p>
            <a:r>
              <a:rPr sz="2800" b="0" i="0" u="none"/>
              <a:t>Build a repeatable internal benchmark suite</a:t>
            </a:r>
            <a:endParaRPr sz="2800" b="0" i="0">
              <a:latin typeface="Arial"/>
            </a:endParaRPr>
          </a:p>
          <a:p>
            <a:r>
              <a:rPr sz="2800" b="0" i="0" u="none"/>
              <a:t>Track contamination-free benchmarks for reliability</a:t>
            </a:r>
            <a:endParaRPr sz="2800" b="0" i="0">
              <a:latin typeface="Aria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Advanced Context Techniques</a:t>
            </a:r>
          </a:p>
        </p:txBody>
      </p:sp>
      <p:sp>
        <p:nvSpPr>
          <p:cNvPr id="3" name="Subtitle 2"/>
          <p:cNvSpPr>
            <a:spLocks noGrp="1"/>
          </p:cNvSpPr>
          <p:nvPr>
            <p:ph type="subTitle" idx="1"/>
          </p:nvPr>
        </p:nvSpPr>
        <p:spPr/>
        <p:txBody>
          <a:bodyPr wrap="square">
            <a:normAutofit/>
          </a:bodyPr>
          <a:lstStyle/>
          <a:p>
            <a:pPr>
              <a:buNone/>
            </a:pPr>
            <a:r>
              <a:rPr b="0" i="0" u="none"/>
              <a:t>Garbage In, Hallucinations Out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Advanced Context Techniques</a:t>
            </a:r>
          </a:p>
        </p:txBody>
      </p:sp>
      <p:sp>
        <p:nvSpPr>
          <p:cNvPr id="3" name="Content Placeholder 2"/>
          <p:cNvSpPr>
            <a:spLocks noGrp="1"/>
          </p:cNvSpPr>
          <p:nvPr>
            <p:ph idx="1"/>
          </p:nvPr>
        </p:nvSpPr>
        <p:spPr/>
        <p:txBody>
          <a:bodyPr wrap="square">
            <a:normAutofit/>
          </a:bodyPr>
          <a:lstStyle/>
          <a:p>
            <a:r>
              <a:rPr sz="2800" b="0" i="0" u="none"/>
              <a:t>Modern AI tools rely heavily on context quality</a:t>
            </a:r>
            <a:endParaRPr sz="2800" b="0" i="0">
              <a:latin typeface="Arial"/>
            </a:endParaRPr>
          </a:p>
          <a:p>
            <a:r>
              <a:rPr sz="2800" b="0" i="0" u="none"/>
              <a:t>Developers can shape context intentionally</a:t>
            </a:r>
            <a:endParaRPr sz="2800" b="0" i="0">
              <a:latin typeface="Arial"/>
            </a:endParaRPr>
          </a:p>
          <a:p>
            <a:r>
              <a:rPr sz="2800" b="0" i="0" u="none"/>
              <a:t>Reduces hallucinations, drift, and rework</a:t>
            </a:r>
            <a:endParaRPr sz="2800" b="0" i="0">
              <a:latin typeface="Arial"/>
            </a:endParaRPr>
          </a:p>
          <a:p>
            <a:r>
              <a:rPr sz="2800" b="0" i="0" u="none"/>
              <a:t>Strong context discipline is a core AI-era skill</a:t>
            </a:r>
            <a:endParaRPr sz="2800" b="0" i="0">
              <a:latin typeface="Arial"/>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File &amp; Folder Mentions (# Syntax)</a:t>
            </a:r>
          </a:p>
        </p:txBody>
      </p:sp>
      <p:sp>
        <p:nvSpPr>
          <p:cNvPr id="3" name="Content Placeholder 2"/>
          <p:cNvSpPr>
            <a:spLocks noGrp="1"/>
          </p:cNvSpPr>
          <p:nvPr>
            <p:ph idx="1"/>
          </p:nvPr>
        </p:nvSpPr>
        <p:spPr/>
        <p:txBody>
          <a:bodyPr wrap="square">
            <a:normAutofit/>
          </a:bodyPr>
          <a:lstStyle/>
          <a:p>
            <a:pPr>
              <a:buNone/>
            </a:pPr>
            <a:r>
              <a:rPr sz="1800" b="0" i="0" u="none"/>
              <a:t>How it helps</a:t>
            </a:r>
            <a:endParaRPr sz="1800" b="0" i="0">
              <a:latin typeface="Consolas"/>
            </a:endParaRPr>
          </a:p>
          <a:p>
            <a:r>
              <a:rPr sz="1800" b="0" i="0" u="none"/>
              <a:t>Explicitly pull files into context</a:t>
            </a:r>
            <a:endParaRPr sz="1800" b="0" i="0">
              <a:latin typeface="Consolas"/>
            </a:endParaRPr>
          </a:p>
          <a:p>
            <a:r>
              <a:rPr sz="1800" b="0" i="0" u="none"/>
              <a:t>Ensures the model references real code, not guesses</a:t>
            </a:r>
            <a:endParaRPr sz="1800" b="0" i="0">
              <a:latin typeface="Consolas"/>
            </a:endParaRPr>
          </a:p>
          <a:p>
            <a:r>
              <a:rPr sz="1800" b="0" i="0" u="none"/>
              <a:t>Supports cross-file refactoring and API consistency</a:t>
            </a:r>
            <a:endParaRPr sz="1800" b="0" i="0">
              <a:latin typeface="Consolas"/>
            </a:endParaRPr>
          </a:p>
          <a:p>
            <a:r>
              <a:rPr sz="1800" b="0" i="0" u="none"/>
              <a:t>Reduces drift in large repos</a:t>
            </a:r>
            <a:endParaRPr sz="1800" b="0" i="0">
              <a:latin typeface="Consolas"/>
            </a:endParaRPr>
          </a:p>
          <a:p>
            <a:pPr>
              <a:buNone/>
            </a:pPr>
            <a:endParaRPr sz="1800" b="0" i="0">
              <a:latin typeface="Consolas"/>
            </a:endParaRPr>
          </a:p>
          <a:p>
            <a:pPr>
              <a:buNone/>
            </a:pPr>
            <a:r>
              <a:rPr sz="1800" b="0" i="0" u="none"/>
              <a:t>Examples</a:t>
            </a:r>
            <a:endParaRPr sz="1800" b="0" i="0">
              <a:latin typeface="Consolas"/>
            </a:endParaRPr>
          </a:p>
          <a:p>
            <a:pPr>
              <a:buNone/>
            </a:pPr>
            <a:endParaRPr sz="1800" b="0" i="0">
              <a:latin typeface="Consolas"/>
            </a:endParaRPr>
          </a:p>
          <a:p>
            <a:pPr>
              <a:buNone/>
            </a:pPr>
            <a:r>
              <a:rPr sz="1800">
                <a:latin typeface="Consolas"/>
              </a:rPr>
              <a:t>#src/utils/date.ts</a:t>
            </a:r>
            <a:endParaRPr sz="1800" b="0" i="0">
              <a:latin typeface="Consolas"/>
            </a:endParaRPr>
          </a:p>
          <a:p>
            <a:pPr>
              <a:buNone/>
            </a:pPr>
            <a:r>
              <a:rPr sz="1800">
                <a:latin typeface="Consolas"/>
              </a:rPr>
              <a:t>#services/</a:t>
            </a:r>
            <a:endParaRPr sz="1800" b="0" i="0">
              <a:latin typeface="Consola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50" b="0" i="0" u="none"/>
              <a:t>Spaces &amp; Knowledge Bases Integration</a:t>
            </a:r>
          </a:p>
        </p:txBody>
      </p:sp>
      <p:sp>
        <p:nvSpPr>
          <p:cNvPr id="3" name="Content Placeholder 2"/>
          <p:cNvSpPr>
            <a:spLocks noGrp="1"/>
          </p:cNvSpPr>
          <p:nvPr>
            <p:ph idx="1"/>
          </p:nvPr>
        </p:nvSpPr>
        <p:spPr/>
        <p:txBody>
          <a:bodyPr wrap="square">
            <a:normAutofit/>
          </a:bodyPr>
          <a:lstStyle/>
          <a:p>
            <a:pPr>
              <a:buNone/>
            </a:pPr>
            <a:r>
              <a:rPr sz="1750" b="0" i="0" u="none"/>
              <a:t>Why they matter</a:t>
            </a:r>
            <a:endParaRPr sz="1750" b="0" i="0">
              <a:latin typeface="Arial"/>
            </a:endParaRPr>
          </a:p>
          <a:p>
            <a:r>
              <a:rPr sz="1750" b="0" i="0" u="none"/>
              <a:t>Persistent, structured context containers</a:t>
            </a:r>
            <a:endParaRPr sz="1750" b="0" i="0">
              <a:latin typeface="Arial"/>
            </a:endParaRPr>
          </a:p>
          <a:p>
            <a:r>
              <a:rPr sz="1750" b="0" i="0" u="none"/>
              <a:t>Store architectural rules, domain models, coding standards</a:t>
            </a:r>
            <a:endParaRPr sz="1750" b="0" i="0">
              <a:latin typeface="Arial"/>
            </a:endParaRPr>
          </a:p>
          <a:p>
            <a:r>
              <a:rPr sz="1750" b="0" i="0" u="none"/>
              <a:t>Provide long-term memory beyond a single prompt</a:t>
            </a:r>
            <a:endParaRPr sz="1750" b="0" i="0">
              <a:latin typeface="Arial"/>
            </a:endParaRPr>
          </a:p>
          <a:p>
            <a:r>
              <a:rPr sz="1750" b="0" i="0" u="none"/>
              <a:t>Ideal for instruction files and evergreen boundaries</a:t>
            </a:r>
            <a:endParaRPr sz="1750" b="0" i="0">
              <a:latin typeface="Arial"/>
            </a:endParaRPr>
          </a:p>
          <a:p>
            <a:pPr>
              <a:buNone/>
            </a:pPr>
            <a:endParaRPr sz="1750" b="0" i="0">
              <a:latin typeface="Arial"/>
            </a:endParaRPr>
          </a:p>
          <a:p>
            <a:pPr>
              <a:buNone/>
            </a:pPr>
            <a:r>
              <a:rPr sz="1750" b="0" i="0" u="none"/>
              <a:t>Use cases</a:t>
            </a:r>
            <a:endParaRPr sz="1750" b="0" i="0">
              <a:latin typeface="Arial"/>
            </a:endParaRPr>
          </a:p>
          <a:p>
            <a:r>
              <a:rPr sz="1750" b="0" i="0" u="none"/>
              <a:t>Architecture constraints</a:t>
            </a:r>
            <a:endParaRPr sz="1750" b="0" i="0">
              <a:latin typeface="Arial"/>
            </a:endParaRPr>
          </a:p>
          <a:p>
            <a:r>
              <a:rPr sz="1750" b="0" i="0" u="none"/>
              <a:t>Domain terminology</a:t>
            </a:r>
            <a:endParaRPr sz="1750" b="0" i="0">
              <a:latin typeface="Arial"/>
            </a:endParaRPr>
          </a:p>
          <a:p>
            <a:r>
              <a:rPr sz="1750" b="0" i="0" u="none"/>
              <a:t>API contracts</a:t>
            </a:r>
            <a:endParaRPr sz="1750" b="0" i="0">
              <a:latin typeface="Arial"/>
            </a:endParaRPr>
          </a:p>
          <a:p>
            <a:r>
              <a:rPr sz="1750" b="0" i="0" u="none"/>
              <a:t>Coding conventions</a:t>
            </a:r>
            <a:endParaRPr sz="1750" b="0" i="0">
              <a:latin typeface="Aria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Premium Usage Monitoring</a:t>
            </a:r>
          </a:p>
        </p:txBody>
      </p:sp>
      <p:sp>
        <p:nvSpPr>
          <p:cNvPr id="3" name="Content Placeholder 2"/>
          <p:cNvSpPr>
            <a:spLocks noGrp="1"/>
          </p:cNvSpPr>
          <p:nvPr>
            <p:ph idx="1"/>
          </p:nvPr>
        </p:nvSpPr>
        <p:spPr/>
        <p:txBody>
          <a:bodyPr wrap="square">
            <a:normAutofit/>
          </a:bodyPr>
          <a:lstStyle/>
          <a:p>
            <a:pPr>
              <a:buNone/>
            </a:pPr>
            <a:r>
              <a:rPr sz="2800" b="0" i="0" u="none"/>
              <a:t>High-end models = high reasoning cost</a:t>
            </a:r>
            <a:endParaRPr sz="2800" b="0" i="0">
              <a:latin typeface="Arial"/>
            </a:endParaRPr>
          </a:p>
          <a:p>
            <a:r>
              <a:rPr sz="2800" b="0" i="0" u="none"/>
              <a:t>Monitor usage patterns to avoid unnecessary calls</a:t>
            </a:r>
            <a:endParaRPr sz="2800" b="0" i="0">
              <a:latin typeface="Arial"/>
            </a:endParaRPr>
          </a:p>
          <a:p>
            <a:r>
              <a:rPr sz="2800" b="0" i="0" u="none"/>
              <a:t>Use a tiered strategy:</a:t>
            </a:r>
            <a:endParaRPr sz="2800" b="0" i="0">
              <a:latin typeface="Arial"/>
            </a:endParaRPr>
          </a:p>
          <a:p>
            <a:pPr lvl="1"/>
            <a:r>
              <a:rPr sz="2800" b="0" i="0" u="none"/>
              <a:t>Premium for architecture &amp; refactoring</a:t>
            </a:r>
            <a:endParaRPr sz="2800" b="0" i="0">
              <a:latin typeface="Arial"/>
            </a:endParaRPr>
          </a:p>
          <a:p>
            <a:pPr lvl="1"/>
            <a:r>
              <a:rPr sz="2800" b="0" i="0" u="none"/>
              <a:t>Mid-tier for implementation</a:t>
            </a:r>
            <a:endParaRPr sz="2800" b="0" i="0">
              <a:latin typeface="Arial"/>
            </a:endParaRPr>
          </a:p>
          <a:p>
            <a:pPr lvl="1"/>
            <a:r>
              <a:rPr sz="2800" b="0" i="0" u="none"/>
              <a:t>Lightweight for boilerplate</a:t>
            </a:r>
            <a:endParaRPr sz="2800" b="0" i="0">
              <a:latin typeface="Arial"/>
            </a:endParaRPr>
          </a:p>
          <a:p>
            <a:r>
              <a:rPr sz="2800" b="0" i="0" u="none"/>
              <a:t>Optimize prompts to reduce token consumption</a:t>
            </a:r>
            <a:endParaRPr sz="2800" b="0" i="0">
              <a:latin typeface="Arial"/>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Token Estimation &amp; Overflow Detection</a:t>
            </a:r>
          </a:p>
        </p:txBody>
      </p:sp>
      <p:sp>
        <p:nvSpPr>
          <p:cNvPr id="3" name="Content Placeholder 2"/>
          <p:cNvSpPr>
            <a:spLocks noGrp="1"/>
          </p:cNvSpPr>
          <p:nvPr>
            <p:ph idx="1"/>
          </p:nvPr>
        </p:nvSpPr>
        <p:spPr/>
        <p:txBody>
          <a:bodyPr wrap="square">
            <a:normAutofit/>
          </a:bodyPr>
          <a:lstStyle/>
          <a:p>
            <a:pPr>
              <a:buNone/>
            </a:pPr>
            <a:r>
              <a:rPr sz="1800" b="0" i="1" u="none"/>
              <a:t>Models have strict token limits</a:t>
            </a:r>
            <a:endParaRPr sz="1800" b="0" i="0">
              <a:latin typeface="Arial"/>
            </a:endParaRPr>
          </a:p>
          <a:p>
            <a:pPr>
              <a:buNone/>
            </a:pPr>
            <a:endParaRPr sz="1800" b="0" i="0">
              <a:latin typeface="Arial"/>
            </a:endParaRPr>
          </a:p>
          <a:p>
            <a:pPr>
              <a:buNone/>
            </a:pPr>
            <a:r>
              <a:rPr sz="1800" b="0" i="0" u="none"/>
              <a:t>Overflow causes silent failures:</a:t>
            </a:r>
            <a:endParaRPr sz="1800" b="0" i="0">
              <a:latin typeface="Arial"/>
            </a:endParaRPr>
          </a:p>
          <a:p>
            <a:pPr lvl="1"/>
            <a:r>
              <a:rPr sz="1800" b="0" i="0" u="none"/>
              <a:t>Missing requirements</a:t>
            </a:r>
            <a:endParaRPr sz="1800" b="0" i="0">
              <a:latin typeface="Arial"/>
            </a:endParaRPr>
          </a:p>
          <a:p>
            <a:pPr lvl="1"/>
            <a:r>
              <a:rPr sz="1800" b="0" i="0" u="none"/>
              <a:t>Contradictions</a:t>
            </a:r>
            <a:endParaRPr sz="1800" b="0" i="0">
              <a:latin typeface="Arial"/>
            </a:endParaRPr>
          </a:p>
          <a:p>
            <a:pPr lvl="1"/>
            <a:r>
              <a:rPr sz="1800" b="0" i="0" u="none"/>
              <a:t>Forgotten rules</a:t>
            </a:r>
            <a:endParaRPr sz="1800" b="0" i="0">
              <a:latin typeface="Arial"/>
            </a:endParaRPr>
          </a:p>
          <a:p>
            <a:pPr>
              <a:buNone/>
            </a:pPr>
            <a:endParaRPr sz="1800" b="0" i="0">
              <a:latin typeface="Arial"/>
            </a:endParaRPr>
          </a:p>
          <a:p>
            <a:pPr>
              <a:buNone/>
            </a:pPr>
            <a:r>
              <a:rPr sz="1800" b="0" i="0" u="none"/>
              <a:t>Techniques to stay within limits:</a:t>
            </a:r>
            <a:endParaRPr sz="1800" b="0" i="0">
              <a:latin typeface="Arial"/>
            </a:endParaRPr>
          </a:p>
          <a:p>
            <a:pPr lvl="1"/>
            <a:r>
              <a:rPr sz="1800" b="0" i="0" u="none"/>
              <a:t>Summaries</a:t>
            </a:r>
            <a:endParaRPr sz="1800" b="0" i="0">
              <a:latin typeface="Arial"/>
            </a:endParaRPr>
          </a:p>
          <a:p>
            <a:pPr lvl="1"/>
            <a:r>
              <a:rPr sz="1800" b="0" i="0" u="none"/>
              <a:t>Chunking</a:t>
            </a:r>
            <a:endParaRPr sz="1800" b="0" i="0">
              <a:latin typeface="Arial"/>
            </a:endParaRPr>
          </a:p>
          <a:p>
            <a:pPr lvl="1"/>
            <a:r>
              <a:rPr sz="1800" b="0" i="0" u="none"/>
              <a:t>Scoped prompts</a:t>
            </a:r>
            <a:endParaRPr sz="1800" b="0" i="0">
              <a:latin typeface="Arial"/>
            </a:endParaRPr>
          </a:p>
          <a:p>
            <a:pPr lvl="1"/>
            <a:r>
              <a:rPr sz="1800" b="0" i="0" u="none"/>
              <a:t>Instruction files</a:t>
            </a:r>
            <a:endParaRPr sz="1800" b="0" i="0">
              <a:latin typeface="Aria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Why Token Limits Matter</a:t>
            </a:r>
          </a:p>
        </p:txBody>
      </p:sp>
      <p:sp>
        <p:nvSpPr>
          <p:cNvPr id="3" name="Content Placeholder 2"/>
          <p:cNvSpPr>
            <a:spLocks noGrp="1"/>
          </p:cNvSpPr>
          <p:nvPr>
            <p:ph idx="1"/>
          </p:nvPr>
        </p:nvSpPr>
        <p:spPr/>
        <p:txBody>
          <a:bodyPr wrap="square">
            <a:normAutofit/>
          </a:bodyPr>
          <a:lstStyle/>
          <a:p>
            <a:r>
              <a:rPr sz="2800" b="0" i="0" u="none"/>
              <a:t>Every model has a maximum context window</a:t>
            </a:r>
            <a:endParaRPr sz="2800" b="0" i="0">
              <a:latin typeface="Arial"/>
            </a:endParaRPr>
          </a:p>
          <a:p>
            <a:r>
              <a:rPr sz="2800" b="0" i="0" u="none"/>
              <a:t>Prompts, code, examples, and instructions all consume tokens</a:t>
            </a:r>
            <a:endParaRPr sz="2800" b="0" i="0">
              <a:latin typeface="Arial"/>
            </a:endParaRPr>
          </a:p>
          <a:p>
            <a:r>
              <a:rPr sz="2800" b="0" i="0" u="none"/>
              <a:t>Exceeding the limit forces the model to discard earlier content</a:t>
            </a:r>
            <a:endParaRPr sz="2800" b="0" i="0">
              <a:latin typeface="Arial"/>
            </a:endParaRPr>
          </a:p>
          <a:p>
            <a:r>
              <a:rPr sz="2800" b="0" i="0" u="none"/>
              <a:t>The model never alerts you when this happens</a:t>
            </a:r>
            <a:endParaRPr sz="2800" b="0" i="0">
              <a:latin typeface="Arial"/>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Summaries</a:t>
            </a:r>
          </a:p>
        </p:txBody>
      </p:sp>
      <p:sp>
        <p:nvSpPr>
          <p:cNvPr id="3" name="Content Placeholder 2"/>
          <p:cNvSpPr>
            <a:spLocks noGrp="1"/>
          </p:cNvSpPr>
          <p:nvPr>
            <p:ph idx="1"/>
          </p:nvPr>
        </p:nvSpPr>
        <p:spPr/>
        <p:txBody>
          <a:bodyPr wrap="square">
            <a:normAutofit/>
          </a:bodyPr>
          <a:lstStyle/>
          <a:p>
            <a:pPr>
              <a:buNone/>
            </a:pPr>
            <a:r>
              <a:rPr sz="2800" b="0" i="0" u="none"/>
              <a:t>How Summaries Help</a:t>
            </a:r>
            <a:endParaRPr sz="2800" b="0" i="0">
              <a:latin typeface="Arial"/>
            </a:endParaRPr>
          </a:p>
          <a:p>
            <a:pPr lvl="1"/>
            <a:r>
              <a:rPr sz="2800" b="0" i="0" u="none"/>
              <a:t>Compress large files into short, high-signal descriptions</a:t>
            </a:r>
            <a:endParaRPr sz="2800" b="0" i="0">
              <a:latin typeface="Arial"/>
            </a:endParaRPr>
          </a:p>
          <a:p>
            <a:pPr lvl="1"/>
            <a:r>
              <a:rPr sz="2800" b="0" i="0" u="none"/>
              <a:t>Preserve intent without overwhelming the context window</a:t>
            </a:r>
            <a:endParaRPr sz="2800" b="0" i="0">
              <a:latin typeface="Arial"/>
            </a:endParaRPr>
          </a:p>
          <a:p>
            <a:pPr lvl="1"/>
            <a:r>
              <a:rPr sz="2800" b="0" i="0" u="none"/>
              <a:t>Reuse summaries across prompts</a:t>
            </a:r>
            <a:endParaRPr sz="2800" b="0" i="0">
              <a:latin typeface="Arial"/>
            </a:endParaRPr>
          </a:p>
          <a:p>
            <a:pPr lvl="1"/>
            <a:r>
              <a:rPr sz="2800" b="0" i="0" u="none"/>
              <a:t>Reduce noise and improve model alignment</a:t>
            </a:r>
            <a:endParaRPr sz="2800" b="0" i="0">
              <a:latin typeface="Arial"/>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Chunking</a:t>
            </a:r>
          </a:p>
        </p:txBody>
      </p:sp>
      <p:sp>
        <p:nvSpPr>
          <p:cNvPr id="3" name="Content Placeholder 2"/>
          <p:cNvSpPr>
            <a:spLocks noGrp="1"/>
          </p:cNvSpPr>
          <p:nvPr>
            <p:ph idx="1"/>
          </p:nvPr>
        </p:nvSpPr>
        <p:spPr/>
        <p:txBody>
          <a:bodyPr wrap="square">
            <a:normAutofit/>
          </a:bodyPr>
          <a:lstStyle/>
          <a:p>
            <a:pPr>
              <a:buNone/>
            </a:pPr>
            <a:r>
              <a:rPr sz="2800" b="0" i="0" u="none"/>
              <a:t>How Chunking Works</a:t>
            </a:r>
            <a:endParaRPr sz="2800" b="0" i="0">
              <a:latin typeface="Arial"/>
            </a:endParaRPr>
          </a:p>
          <a:p>
            <a:pPr lvl="1"/>
            <a:r>
              <a:rPr sz="2800" b="0" i="0" u="none"/>
              <a:t>Break large tasks into smaller, self-contained steps</a:t>
            </a:r>
            <a:endParaRPr sz="2800" b="0" i="0">
              <a:latin typeface="Arial"/>
            </a:endParaRPr>
          </a:p>
          <a:p>
            <a:pPr lvl="1"/>
            <a:r>
              <a:rPr sz="2800" b="0" i="0" u="none"/>
              <a:t>Provide only the relevant portion of the code</a:t>
            </a:r>
            <a:endParaRPr sz="2800" b="0" i="0">
              <a:latin typeface="Arial"/>
            </a:endParaRPr>
          </a:p>
          <a:p>
            <a:pPr lvl="1"/>
            <a:r>
              <a:rPr sz="2800" b="0" i="0" u="none"/>
              <a:t>Validate each chunk before moving on</a:t>
            </a:r>
            <a:endParaRPr sz="2800" b="0" i="0">
              <a:latin typeface="Arial"/>
            </a:endParaRPr>
          </a:p>
          <a:p>
            <a:pPr lvl="1"/>
            <a:r>
              <a:rPr sz="2800" b="0" i="0" u="none"/>
              <a:t>Prevents the model from being overloaded</a:t>
            </a:r>
            <a:endParaRPr sz="2800" b="0" i="0">
              <a:latin typeface="Arial"/>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Scoped Prompts</a:t>
            </a:r>
          </a:p>
        </p:txBody>
      </p:sp>
      <p:sp>
        <p:nvSpPr>
          <p:cNvPr id="3" name="Content Placeholder 2"/>
          <p:cNvSpPr>
            <a:spLocks noGrp="1"/>
          </p:cNvSpPr>
          <p:nvPr>
            <p:ph idx="1"/>
          </p:nvPr>
        </p:nvSpPr>
        <p:spPr/>
        <p:txBody>
          <a:bodyPr wrap="square">
            <a:normAutofit/>
          </a:bodyPr>
          <a:lstStyle/>
          <a:p>
            <a:pPr>
              <a:buNone/>
            </a:pPr>
            <a:r>
              <a:rPr sz="2800" b="0" i="0" u="none"/>
              <a:t>Benefits</a:t>
            </a:r>
            <a:endParaRPr sz="2800" b="0" i="0">
              <a:latin typeface="Arial"/>
            </a:endParaRPr>
          </a:p>
          <a:p>
            <a:pPr lvl="1"/>
            <a:r>
              <a:rPr sz="2800" b="0" i="0" u="none"/>
              <a:t>Limit the model's focus to a single module or function</a:t>
            </a:r>
            <a:endParaRPr sz="2800" b="0" i="0">
              <a:latin typeface="Arial"/>
            </a:endParaRPr>
          </a:p>
          <a:p>
            <a:pPr lvl="1"/>
            <a:r>
              <a:rPr sz="2800" b="0" i="0" u="none"/>
              <a:t>Reduce irrelevant context</a:t>
            </a:r>
            <a:endParaRPr sz="2800" b="0" i="0">
              <a:latin typeface="Arial"/>
            </a:endParaRPr>
          </a:p>
          <a:p>
            <a:pPr lvl="1"/>
            <a:r>
              <a:rPr sz="2800" b="0" i="0" u="none"/>
              <a:t>Improve accuracy and reduce hallucinations</a:t>
            </a:r>
            <a:endParaRPr sz="2800" b="0" i="0">
              <a:latin typeface="Arial"/>
            </a:endParaRPr>
          </a:p>
          <a:p>
            <a:pPr lvl="1"/>
            <a:r>
              <a:rPr sz="2800" b="0" i="0" u="none"/>
              <a:t>Keep token usage predictable</a:t>
            </a:r>
            <a:endParaRPr sz="2800" b="0" i="0">
              <a:latin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Technique: Instruction Files</a:t>
            </a:r>
          </a:p>
        </p:txBody>
      </p:sp>
      <p:sp>
        <p:nvSpPr>
          <p:cNvPr id="3" name="Content Placeholder 2"/>
          <p:cNvSpPr>
            <a:spLocks noGrp="1"/>
          </p:cNvSpPr>
          <p:nvPr>
            <p:ph idx="1"/>
          </p:nvPr>
        </p:nvSpPr>
        <p:spPr/>
        <p:txBody>
          <a:bodyPr wrap="square">
            <a:normAutofit/>
          </a:bodyPr>
          <a:lstStyle/>
          <a:p>
            <a:pPr>
              <a:buNone/>
            </a:pPr>
            <a:r>
              <a:rPr sz="2800" b="0" i="0" u="none"/>
              <a:t>Why They Matter</a:t>
            </a:r>
            <a:endParaRPr sz="2800" b="0" i="0">
              <a:latin typeface="Arial"/>
            </a:endParaRPr>
          </a:p>
          <a:p>
            <a:pPr lvl="1"/>
            <a:r>
              <a:rPr sz="2800" b="0" i="0" u="none"/>
              <a:t>Move stable rules out of the active prompt</a:t>
            </a:r>
            <a:endParaRPr sz="2800" b="0" i="0">
              <a:latin typeface="Arial"/>
            </a:endParaRPr>
          </a:p>
          <a:p>
            <a:pPr lvl="1"/>
            <a:r>
              <a:rPr sz="2800" b="0" i="0" u="none"/>
              <a:t>Provide persistent architectural and style guidance</a:t>
            </a:r>
            <a:endParaRPr sz="2800" b="0" i="0">
              <a:latin typeface="Arial"/>
            </a:endParaRPr>
          </a:p>
          <a:p>
            <a:pPr lvl="1"/>
            <a:r>
              <a:rPr sz="2800" b="0" i="0" u="none"/>
              <a:t>Reduce repeated tokens across sessions</a:t>
            </a:r>
            <a:endParaRPr sz="2800" b="0" i="0">
              <a:latin typeface="Arial"/>
            </a:endParaRPr>
          </a:p>
          <a:p>
            <a:pPr lvl="1"/>
            <a:r>
              <a:rPr sz="2800" b="0" i="0" u="none"/>
              <a:t>Keep prompts short and high-signal</a:t>
            </a:r>
            <a:endParaRPr sz="2800" b="0" i="0">
              <a:latin typeface="Arial"/>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0" i="0" u="none"/>
              <a:t>Copilot for Teams</a:t>
            </a:r>
          </a:p>
          <a:p>
            <a:r>
              <a:rPr b="0" i="0" u="none"/>
              <a:t>Safety Measures and Best Practices</a:t>
            </a:r>
          </a:p>
          <a:p>
            <a:r>
              <a:rPr b="0" i="0" u="none"/>
              <a:t>Models and Context</a:t>
            </a:r>
          </a:p>
          <a:p>
            <a:r>
              <a:rPr b="1" i="0" u="none"/>
              <a:t>▶ Guardrails and Prompt Files</a:t>
            </a:r>
          </a:p>
          <a:p>
            <a:r>
              <a:rPr b="0" i="0" u="none"/>
              <a:t>AI Assisted Documentation</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Files</a:t>
            </a:r>
          </a:p>
        </p:txBody>
      </p:sp>
      <p:sp>
        <p:nvSpPr>
          <p:cNvPr id="3" name="Subtitle 2"/>
          <p:cNvSpPr>
            <a:spLocks noGrp="1"/>
          </p:cNvSpPr>
          <p:nvPr>
            <p:ph type="subTitle" idx="1"/>
          </p:nvPr>
        </p:nvSpPr>
        <p:spPr/>
        <p:txBody>
          <a:bodyPr wrap="square">
            <a:normAutofit/>
          </a:bodyPr>
          <a:lstStyle/>
          <a:p>
            <a:pPr>
              <a:buNone/>
            </a:pPr>
            <a:r>
              <a:rPr b="0" i="0" u="none"/>
              <a:t>Prompts That Run, Not Just Chat</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What Are Prompt Files?</a:t>
            </a:r>
          </a:p>
        </p:txBody>
      </p:sp>
      <p:sp>
        <p:nvSpPr>
          <p:cNvPr id="3" name="Content Placeholder 2"/>
          <p:cNvSpPr>
            <a:spLocks noGrp="1"/>
          </p:cNvSpPr>
          <p:nvPr>
            <p:ph idx="1"/>
          </p:nvPr>
        </p:nvSpPr>
        <p:spPr/>
        <p:txBody>
          <a:bodyPr wrap="square">
            <a:normAutofit/>
          </a:bodyPr>
          <a:lstStyle/>
          <a:p>
            <a:r>
              <a:rPr sz="2000" b="0" i="0" u="none" dirty="0"/>
              <a:t>Structured templates for specific, repeatable tasks</a:t>
            </a:r>
            <a:endParaRPr sz="2000" b="0" i="0" dirty="0">
              <a:latin typeface="Arial"/>
            </a:endParaRPr>
          </a:p>
          <a:p>
            <a:r>
              <a:rPr sz="2000" b="0" i="0" u="none" dirty="0"/>
              <a:t>Contain detailed instructions for particular objectives</a:t>
            </a:r>
            <a:endParaRPr sz="2000" b="0" i="0" dirty="0">
              <a:latin typeface="Arial"/>
            </a:endParaRPr>
          </a:p>
          <a:p>
            <a:r>
              <a:rPr sz="2000" b="0" i="0" u="none" dirty="0"/>
              <a:t>Designed for execution in AI chat interfaces</a:t>
            </a:r>
            <a:endParaRPr sz="2000" b="0" i="0" dirty="0">
              <a:latin typeface="Arial"/>
            </a:endParaRPr>
          </a:p>
          <a:p>
            <a:pPr>
              <a:buNone/>
            </a:pPr>
            <a:endParaRPr sz="2000" b="0" i="0" dirty="0">
              <a:latin typeface="Arial"/>
            </a:endParaRPr>
          </a:p>
          <a:p>
            <a:pPr>
              <a:buNone/>
            </a:pPr>
            <a:r>
              <a:rPr sz="2000" b="0" i="0" u="none" dirty="0"/>
              <a:t>Key Characteristics</a:t>
            </a:r>
            <a:endParaRPr sz="2000" b="0" i="0" dirty="0">
              <a:latin typeface="Arial"/>
            </a:endParaRPr>
          </a:p>
          <a:p>
            <a:pPr lvl="1"/>
            <a:r>
              <a:rPr sz="1600" b="0" i="0" u="none" dirty="0"/>
              <a:t>Scope: Single, focused task or workflow</a:t>
            </a:r>
            <a:endParaRPr sz="1600" b="0" i="0" dirty="0">
              <a:latin typeface="Arial"/>
            </a:endParaRPr>
          </a:p>
          <a:p>
            <a:pPr lvl="1"/>
            <a:r>
              <a:rPr sz="1600" b="0" i="0" u="none" dirty="0"/>
              <a:t>Execution: Run on-demand when needed</a:t>
            </a:r>
            <a:endParaRPr sz="1600" b="0" i="0" dirty="0">
              <a:latin typeface="Arial"/>
            </a:endParaRPr>
          </a:p>
          <a:p>
            <a:pPr>
              <a:buNone/>
            </a:pPr>
            <a:endParaRPr sz="2000" b="0" i="0" dirty="0">
              <a:latin typeface="Arial"/>
            </a:endParaRPr>
          </a:p>
          <a:p>
            <a:pPr>
              <a:buNone/>
            </a:pPr>
            <a:r>
              <a:rPr sz="2000" b="0" i="1" u="none" dirty="0"/>
              <a:t>Purpose: Define “what” to accomplish with specific steps</a:t>
            </a:r>
            <a:endParaRPr sz="2000" b="0" i="0" dirty="0">
              <a:latin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Files: Use Cases</a:t>
            </a:r>
          </a:p>
        </p:txBody>
      </p:sp>
      <p:sp>
        <p:nvSpPr>
          <p:cNvPr id="3" name="Content Placeholder 2"/>
          <p:cNvSpPr>
            <a:spLocks noGrp="1"/>
          </p:cNvSpPr>
          <p:nvPr>
            <p:ph idx="1"/>
          </p:nvPr>
        </p:nvSpPr>
        <p:spPr/>
        <p:txBody>
          <a:bodyPr wrap="square">
            <a:normAutofit fontScale="92500" lnSpcReduction="10000"/>
          </a:bodyPr>
          <a:lstStyle/>
          <a:p>
            <a:pPr>
              <a:buNone/>
            </a:pPr>
            <a:r>
              <a:rPr sz="3200" b="0" i="0" u="none" dirty="0"/>
              <a:t>Perfect For</a:t>
            </a:r>
            <a:endParaRPr sz="3200" b="0" i="0" dirty="0">
              <a:latin typeface="Arial"/>
            </a:endParaRPr>
          </a:p>
          <a:p>
            <a:pPr lvl="1"/>
            <a:r>
              <a:rPr b="0" i="0" u="none" dirty="0"/>
              <a:t>Code Generation → Create specific components/features</a:t>
            </a:r>
            <a:endParaRPr b="0" i="0" dirty="0">
              <a:latin typeface="Arial"/>
            </a:endParaRPr>
          </a:p>
          <a:p>
            <a:pPr lvl="1"/>
            <a:r>
              <a:rPr b="0" i="0" u="none" dirty="0"/>
              <a:t>Documentation → Generate standardized docs</a:t>
            </a:r>
            <a:endParaRPr b="0" i="0" dirty="0">
              <a:latin typeface="Arial"/>
            </a:endParaRPr>
          </a:p>
          <a:p>
            <a:pPr lvl="1"/>
            <a:r>
              <a:rPr b="0" i="0" u="none" dirty="0"/>
              <a:t>Analysis Tasks → Code reviews, security audits</a:t>
            </a:r>
            <a:endParaRPr b="0" i="0" dirty="0">
              <a:latin typeface="Arial"/>
            </a:endParaRPr>
          </a:p>
          <a:p>
            <a:pPr lvl="1"/>
            <a:r>
              <a:rPr b="0" i="0" u="none" dirty="0"/>
              <a:t>Refactoring → Structured code improvements</a:t>
            </a:r>
            <a:endParaRPr b="0" i="0" dirty="0">
              <a:latin typeface="Arial"/>
            </a:endParaRPr>
          </a:p>
          <a:p>
            <a:pPr>
              <a:buNone/>
            </a:pPr>
            <a:endParaRPr sz="3200" b="0" i="0" dirty="0">
              <a:latin typeface="Arial"/>
            </a:endParaRPr>
          </a:p>
          <a:p>
            <a:pPr>
              <a:buNone/>
            </a:pPr>
            <a:r>
              <a:rPr sz="3200" b="0" i="0" u="none" dirty="0"/>
              <a:t>Examples</a:t>
            </a:r>
            <a:endParaRPr sz="3200" b="0" i="0" dirty="0">
              <a:latin typeface="Arial"/>
            </a:endParaRPr>
          </a:p>
          <a:p>
            <a:pPr lvl="1"/>
            <a:r>
              <a:rPr b="0" i="0" u="none" dirty="0"/>
              <a:t>implement-user-authentication.prompt.md</a:t>
            </a:r>
            <a:endParaRPr b="0" i="0" dirty="0">
              <a:latin typeface="Arial"/>
            </a:endParaRPr>
          </a:p>
          <a:p>
            <a:pPr lvl="1"/>
            <a:r>
              <a:rPr b="0" i="0" u="none" dirty="0"/>
              <a:t>generate-test-suite.prompt.md</a:t>
            </a:r>
            <a:endParaRPr b="0" i="0" dirty="0">
              <a:latin typeface="Arial"/>
            </a:endParaRPr>
          </a:p>
          <a:p>
            <a:pPr lvl="1"/>
            <a:r>
              <a:rPr b="0" i="0" u="none" dirty="0"/>
              <a:t>create-deployment-pipeline.prompt.md</a:t>
            </a:r>
            <a:endParaRPr b="0" i="0" dirty="0">
              <a:latin typeface="Arial"/>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Files Best Practices</a:t>
            </a:r>
          </a:p>
        </p:txBody>
      </p:sp>
      <p:sp>
        <p:nvSpPr>
          <p:cNvPr id="3" name="Content Placeholder 2"/>
          <p:cNvSpPr>
            <a:spLocks noGrp="1"/>
          </p:cNvSpPr>
          <p:nvPr>
            <p:ph sz="half" idx="1"/>
          </p:nvPr>
        </p:nvSpPr>
        <p:spPr/>
        <p:txBody>
          <a:bodyPr wrap="square">
            <a:normAutofit/>
          </a:bodyPr>
          <a:lstStyle/>
          <a:p>
            <a:pPr>
              <a:buNone/>
            </a:pPr>
            <a:r>
              <a:rPr sz="2000" b="0" i="0" u="none" dirty="0"/>
              <a:t>✅ Do This:</a:t>
            </a:r>
            <a:endParaRPr sz="4000" b="0" i="0" dirty="0">
              <a:latin typeface="Arial"/>
            </a:endParaRPr>
          </a:p>
          <a:p>
            <a:r>
              <a:rPr sz="2000" b="0" i="0" u="none" dirty="0"/>
              <a:t>Include comprehensive metadata</a:t>
            </a:r>
            <a:endParaRPr sz="4000" b="0" i="0" dirty="0">
              <a:latin typeface="Arial"/>
            </a:endParaRPr>
          </a:p>
          <a:p>
            <a:r>
              <a:rPr sz="2000" b="0" i="0" u="none" dirty="0"/>
              <a:t>Provide clear context and requirements</a:t>
            </a:r>
            <a:endParaRPr sz="4000" b="0" i="0" dirty="0">
              <a:latin typeface="Arial"/>
            </a:endParaRPr>
          </a:p>
          <a:p>
            <a:r>
              <a:rPr sz="2000" b="0" i="0" u="none" dirty="0"/>
              <a:t>Specify expected deliverables</a:t>
            </a:r>
            <a:endParaRPr sz="4000" b="0" i="0" dirty="0">
              <a:latin typeface="Arial"/>
            </a:endParaRPr>
          </a:p>
          <a:p>
            <a:r>
              <a:rPr sz="2000" b="0" i="0" u="none" dirty="0"/>
              <a:t>Include verification steps</a:t>
            </a:r>
            <a:endParaRPr sz="4000" b="0" i="0" dirty="0">
              <a:latin typeface="Arial"/>
            </a:endParaRPr>
          </a:p>
        </p:txBody>
      </p:sp>
      <p:sp>
        <p:nvSpPr>
          <p:cNvPr id="4" name="Content Placeholder 3"/>
          <p:cNvSpPr>
            <a:spLocks noGrp="1"/>
          </p:cNvSpPr>
          <p:nvPr>
            <p:ph sz="half" idx="2"/>
          </p:nvPr>
        </p:nvSpPr>
        <p:spPr/>
        <p:txBody>
          <a:bodyPr wrap="square">
            <a:normAutofit/>
          </a:bodyPr>
          <a:lstStyle/>
          <a:p>
            <a:pPr>
              <a:buNone/>
            </a:pPr>
            <a:r>
              <a:rPr sz="2000" b="0" i="0" u="none" dirty="0"/>
              <a:t>❌ Avoid This:</a:t>
            </a:r>
            <a:endParaRPr sz="4000" b="0" i="0" dirty="0">
              <a:latin typeface="Arial"/>
            </a:endParaRPr>
          </a:p>
          <a:p>
            <a:r>
              <a:rPr sz="2000" b="0" i="0" u="none" dirty="0"/>
              <a:t>Vague or ambiguous instructions</a:t>
            </a:r>
            <a:endParaRPr sz="4000" b="0" i="0" dirty="0">
              <a:latin typeface="Arial"/>
            </a:endParaRPr>
          </a:p>
          <a:p>
            <a:r>
              <a:rPr sz="2000" b="0" i="0" u="none" dirty="0"/>
              <a:t>Missing prerequisite information</a:t>
            </a:r>
            <a:endParaRPr sz="4000" b="0" i="0" dirty="0">
              <a:latin typeface="Arial"/>
            </a:endParaRPr>
          </a:p>
          <a:p>
            <a:r>
              <a:rPr sz="2000" b="0" i="0" u="none" dirty="0"/>
              <a:t>No success criteria defined</a:t>
            </a:r>
            <a:endParaRPr sz="4000" b="0" i="0" dirty="0">
              <a:latin typeface="Arial"/>
            </a:endParaRPr>
          </a:p>
          <a:p>
            <a:r>
              <a:rPr sz="2000" b="0" i="0" u="none" dirty="0"/>
              <a:t>Overly complex single prompts (break them down)</a:t>
            </a:r>
            <a:endParaRPr sz="4000" b="0" i="0" dirty="0">
              <a:latin typeface="Arial"/>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Creating Prompt Files</a:t>
            </a:r>
          </a:p>
        </p:txBody>
      </p:sp>
      <p:sp>
        <p:nvSpPr>
          <p:cNvPr id="3" name="Subtitle 2"/>
          <p:cNvSpPr>
            <a:spLocks noGrp="1"/>
          </p:cNvSpPr>
          <p:nvPr>
            <p:ph type="subTitle" idx="1"/>
          </p:nvPr>
        </p:nvSpPr>
        <p:spPr/>
        <p:txBody>
          <a:bodyPr wrap="square">
            <a:normAutofit/>
          </a:bodyPr>
          <a:lstStyle/>
          <a:p>
            <a:pPr>
              <a:buNone/>
            </a:pPr>
            <a:r>
              <a:rPr b="0" i="0" u="none"/>
              <a:t>The Prompt Engineering Gauntlet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Creating Prompt Files</a:t>
            </a:r>
          </a:p>
        </p:txBody>
      </p:sp>
      <p:sp>
        <p:nvSpPr>
          <p:cNvPr id="3" name="Content Placeholder 2"/>
          <p:cNvSpPr>
            <a:spLocks noGrp="1"/>
          </p:cNvSpPr>
          <p:nvPr>
            <p:ph sz="half" idx="1"/>
          </p:nvPr>
        </p:nvSpPr>
        <p:spPr/>
        <p:txBody>
          <a:bodyPr wrap="square">
            <a:normAutofit fontScale="92500" lnSpcReduction="10000"/>
          </a:bodyPr>
          <a:lstStyle/>
          <a:p>
            <a:pPr>
              <a:buNone/>
            </a:pPr>
            <a:r>
              <a:rPr sz="2400" b="1" i="0" u="none" dirty="0"/>
              <a:t>Objectives</a:t>
            </a:r>
            <a:endParaRPr sz="2400" b="0" i="0" dirty="0">
              <a:latin typeface="Arial"/>
            </a:endParaRPr>
          </a:p>
          <a:p>
            <a:pPr lvl="1"/>
            <a:r>
              <a:rPr sz="1200" b="0" i="0" u="none" dirty="0"/>
              <a:t>Understand prompt structure and best practices for AI instruction file generation</a:t>
            </a:r>
            <a:endParaRPr sz="1200" b="0" i="0" dirty="0">
              <a:latin typeface="Arial"/>
            </a:endParaRPr>
          </a:p>
          <a:p>
            <a:pPr lvl="1"/>
            <a:r>
              <a:rPr sz="1200" b="0" i="0" u="none" dirty="0"/>
              <a:t>Practice prompt engineering by creating reusable prompt files</a:t>
            </a:r>
            <a:endParaRPr sz="1200" b="0" i="0" dirty="0">
              <a:latin typeface="Arial"/>
            </a:endParaRPr>
          </a:p>
          <a:p>
            <a:pPr lvl="1"/>
            <a:r>
              <a:rPr sz="1200" b="0" i="0" u="none" dirty="0"/>
              <a:t>Observe measurable impact of instruction files on AI output quality</a:t>
            </a:r>
            <a:endParaRPr sz="1200" b="0" i="0" dirty="0">
              <a:latin typeface="Arial"/>
            </a:endParaRPr>
          </a:p>
          <a:p>
            <a:pPr lvl="1"/>
            <a:r>
              <a:rPr sz="1200" b="0" i="0" u="none" dirty="0"/>
              <a:t>Compare outputs with and without instruction file guidance</a:t>
            </a:r>
            <a:endParaRPr sz="1200" b="0" i="0" dirty="0">
              <a:latin typeface="Arial"/>
            </a:endParaRPr>
          </a:p>
          <a:p>
            <a:pPr>
              <a:buNone/>
            </a:pPr>
            <a:endParaRPr sz="2400" b="0" i="0" dirty="0">
              <a:latin typeface="Arial"/>
            </a:endParaRPr>
          </a:p>
          <a:p>
            <a:pPr>
              <a:buNone/>
            </a:pPr>
            <a:r>
              <a:rPr sz="2400" b="1" i="0" u="none" dirty="0"/>
              <a:t>Activities</a:t>
            </a:r>
            <a:endParaRPr sz="2400" b="0" i="0" dirty="0">
              <a:latin typeface="Arial"/>
            </a:endParaRPr>
          </a:p>
          <a:p>
            <a:pPr lvl="1"/>
            <a:r>
              <a:rPr sz="1200" b="0" i="0" u="none" dirty="0"/>
              <a:t>Create prompt to generate Evergreen instruction file without repository instruction files; save output for comparison</a:t>
            </a:r>
            <a:endParaRPr sz="1200" b="0" i="0" dirty="0">
              <a:latin typeface="Arial"/>
            </a:endParaRPr>
          </a:p>
          <a:p>
            <a:pPr lvl="1"/>
            <a:r>
              <a:rPr sz="1200" b="1" i="0" u="none" dirty="0"/>
              <a:t>Phase 2 - Enhanced</a:t>
            </a:r>
            <a:r>
              <a:rPr sz="1200" b="0" i="0" u="none" dirty="0"/>
              <a:t>: Pull repository updates with instruction files; clear chat context; re-run identical prompt with new guidance</a:t>
            </a:r>
            <a:endParaRPr sz="1200" b="0" i="0" dirty="0">
              <a:latin typeface="Arial"/>
            </a:endParaRPr>
          </a:p>
          <a:p>
            <a:pPr lvl="1"/>
            <a:r>
              <a:rPr sz="1200" b="1" i="0" u="none" dirty="0"/>
              <a:t>Phase 3 - Analysis</a:t>
            </a:r>
            <a:r>
              <a:rPr sz="1200" b="0" i="0" u="none" dirty="0"/>
              <a:t>: Compare both outputs using AI-assisted analysis; quantify differences in structure, metadata completeness, and quality</a:t>
            </a:r>
            <a:endParaRPr sz="1200" b="0" i="0" dirty="0">
              <a:latin typeface="Arial"/>
            </a:endParaRPr>
          </a:p>
          <a:p>
            <a:pPr lvl="1"/>
            <a:r>
              <a:rPr sz="1200" b="1" i="0" u="none" dirty="0"/>
              <a:t>Discussion &amp; Review</a:t>
            </a:r>
            <a:r>
              <a:rPr sz="1200" b="0" i="0" u="none" dirty="0"/>
              <a:t>: Analyze findings on reproducibility, token optimization, non-determinism, and real participant results</a:t>
            </a:r>
            <a:endParaRPr sz="1200" b="0" i="0" dirty="0">
              <a:latin typeface="Arial"/>
            </a:endParaRPr>
          </a:p>
        </p:txBody>
      </p:sp>
      <p:sp>
        <p:nvSpPr>
          <p:cNvPr id="4" name="Content Placeholder 3"/>
          <p:cNvSpPr>
            <a:spLocks noGrp="1"/>
          </p:cNvSpPr>
          <p:nvPr>
            <p:ph sz="half" idx="2"/>
          </p:nvPr>
        </p:nvSpPr>
        <p:spPr/>
        <p:txBody>
          <a:bodyPr wrap="square">
            <a:normAutofit fontScale="92500" lnSpcReduction="10000"/>
          </a:bodyPr>
          <a:lstStyle/>
          <a:p>
            <a:pPr>
              <a:buNone/>
            </a:pPr>
            <a:r>
              <a:rPr b="1" i="0" u="none" dirty="0"/>
              <a:t>Success Criteria</a:t>
            </a:r>
            <a:endParaRPr b="0" i="0" dirty="0">
              <a:latin typeface="Arial"/>
            </a:endParaRPr>
          </a:p>
          <a:p>
            <a:pPr lvl="1"/>
            <a:r>
              <a:rPr sz="1600" b="0" i="0" u="none" dirty="0"/>
              <a:t>Generated complete instruction file for Evergreen software development in both phases</a:t>
            </a:r>
            <a:endParaRPr sz="1600" b="0" i="0" dirty="0">
              <a:latin typeface="Arial"/>
            </a:endParaRPr>
          </a:p>
          <a:p>
            <a:pPr lvl="1"/>
            <a:r>
              <a:rPr sz="1600" b="0" i="0" u="none" dirty="0"/>
              <a:t>Completed comparison analysis identifying 3+ significant structural/metadata differences</a:t>
            </a:r>
            <a:endParaRPr sz="1600" b="0" i="0" dirty="0">
              <a:latin typeface="Arial"/>
            </a:endParaRPr>
          </a:p>
          <a:p>
            <a:pPr lvl="1"/>
            <a:r>
              <a:rPr sz="1600" b="0" i="0" u="none" dirty="0"/>
              <a:t>Understand how instruction files reduce output variance from ±40% to ±10%</a:t>
            </a:r>
            <a:endParaRPr sz="1600" b="0" i="0" dirty="0">
              <a:latin typeface="Arial"/>
            </a:endParaRPr>
          </a:p>
          <a:p>
            <a:pPr lvl="1"/>
            <a:r>
              <a:rPr sz="1600" b="0" i="0" u="none" dirty="0"/>
              <a:t>Recognize token optimization strategies achieving 60-70% reduction in context usage</a:t>
            </a:r>
            <a:endParaRPr sz="1600" b="0" i="0" dirty="0">
              <a:latin typeface="Arial"/>
            </a:endParaRPr>
          </a:p>
          <a:p>
            <a:pPr lvl="1"/>
            <a:r>
              <a:rPr sz="1600" b="0" i="0" u="none" dirty="0"/>
              <a:t>Explain reproducibility benefits and non-determinism management strategies</a:t>
            </a:r>
            <a:endParaRPr sz="1600" b="0" i="0" dirty="0">
              <a:latin typeface="Arial"/>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Creating Instruction Files from Prompts</a:t>
            </a:r>
          </a:p>
        </p:txBody>
      </p:sp>
      <p:sp>
        <p:nvSpPr>
          <p:cNvPr id="3" name="Subtitle 2"/>
          <p:cNvSpPr>
            <a:spLocks noGrp="1"/>
          </p:cNvSpPr>
          <p:nvPr>
            <p:ph type="subTitle" idx="1"/>
          </p:nvPr>
        </p:nvSpPr>
        <p:spPr/>
        <p:txBody>
          <a:bodyPr wrap="square">
            <a:normAutofit/>
          </a:bodyPr>
          <a:lstStyle/>
          <a:p>
            <a:pPr>
              <a:buNone/>
            </a:pPr>
            <a:r>
              <a:rPr sz="2550" b="0" i="0" u="none"/>
              <a:t>The Prompt That Writes the Rules That Guide the Prompt</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00" b="0" i="0" u="none"/>
              <a:t>Creating Instruction Files from Prompts</a:t>
            </a:r>
          </a:p>
        </p:txBody>
      </p:sp>
      <p:sp>
        <p:nvSpPr>
          <p:cNvPr id="3" name="Content Placeholder 2"/>
          <p:cNvSpPr>
            <a:spLocks noGrp="1"/>
          </p:cNvSpPr>
          <p:nvPr>
            <p:ph idx="1"/>
          </p:nvPr>
        </p:nvSpPr>
        <p:spPr/>
        <p:txBody>
          <a:bodyPr wrap="square">
            <a:normAutofit/>
          </a:bodyPr>
          <a:lstStyle/>
          <a:p>
            <a:r>
              <a:rPr sz="2800" b="0" i="0" u="none"/>
              <a:t>Run the prompt files from the prior exercise</a:t>
            </a:r>
            <a:endParaRPr sz="2800" b="0" i="0">
              <a:latin typeface="Arial"/>
            </a:endParaRPr>
          </a:p>
          <a:p>
            <a:r>
              <a:rPr sz="2800" b="0" i="0" u="none"/>
              <a:t>Generate instruction files from those prompts</a:t>
            </a:r>
            <a:endParaRPr sz="2800" b="0" i="0">
              <a:latin typeface="Arial"/>
            </a:endParaRPr>
          </a:p>
          <a:p>
            <a:r>
              <a:rPr sz="2800" b="0" i="0" u="none"/>
              <a:t>Review what the model inferred and why it matters</a:t>
            </a:r>
            <a:endParaRPr sz="2800" b="0" i="0">
              <a:latin typeface="Arial"/>
            </a:endParaRPr>
          </a:p>
          <a:p>
            <a:r>
              <a:rPr sz="2800" b="0" i="0" u="none"/>
              <a:t>Decide how to refine the result for long-term reuse</a:t>
            </a:r>
            <a:endParaRPr sz="2800" b="0" i="0">
              <a:latin typeface="Arial"/>
            </a:endParaRP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Prompt to Instruction Workflow</a:t>
            </a:r>
          </a:p>
        </p:txBody>
      </p:sp>
      <p:sp>
        <p:nvSpPr>
          <p:cNvPr id="3" name="Content Placeholder 2"/>
          <p:cNvSpPr>
            <a:spLocks noGrp="1"/>
          </p:cNvSpPr>
          <p:nvPr>
            <p:ph sz="half" idx="1"/>
          </p:nvPr>
        </p:nvSpPr>
        <p:spPr/>
        <p:txBody>
          <a:bodyPr wrap="square">
            <a:normAutofit/>
          </a:bodyPr>
          <a:lstStyle/>
          <a:p>
            <a:r>
              <a:rPr sz="1400" b="0" i="0" u="none"/>
              <a:t>The prompt is the reusable source</a:t>
            </a:r>
            <a:endParaRPr sz="2800" b="0" i="0">
              <a:latin typeface="Arial"/>
            </a:endParaRPr>
          </a:p>
          <a:p>
            <a:r>
              <a:rPr sz="1400" b="0" i="0" u="none"/>
              <a:t>The instruction file is the generated artifact</a:t>
            </a:r>
            <a:endParaRPr sz="2800" b="0" i="0">
              <a:latin typeface="Arial"/>
            </a:endParaRPr>
          </a:p>
          <a:p>
            <a:r>
              <a:rPr sz="1400" b="0" i="0" u="none"/>
              <a:t>Review happens after generation, not instead of it</a:t>
            </a:r>
            <a:endParaRPr sz="2800" b="0" i="0">
              <a:latin typeface="Arial"/>
            </a:endParaRPr>
          </a:p>
        </p:txBody>
      </p:sp>
      <p:sp>
        <p:nvSpPr>
          <p:cNvPr id="4" name="Content Placeholder 3"/>
          <p:cNvSpPr>
            <a:spLocks noGrp="1"/>
          </p:cNvSpPr>
          <p:nvPr>
            <p:ph sz="half" idx="2"/>
          </p:nvPr>
        </p:nvSpPr>
        <p:spPr/>
        <p:txBody>
          <a:bodyPr wrap="square">
            <a:normAutofit/>
          </a:bodyPr>
          <a:lstStyle/>
          <a:p>
            <a:endParaRPr/>
          </a:p>
        </p:txBody>
      </p:sp>
      <p:pic>
        <p:nvPicPr>
          <p:cNvPr id="5" name="Picture 4" descr="6bbf7149f807406ad658b64dc9b021c3f56a77de.png"/>
          <p:cNvPicPr>
            <a:picLocks noChangeAspect="1"/>
          </p:cNvPicPr>
          <p:nvPr/>
        </p:nvPicPr>
        <p:blipFill>
          <a:blip r:embed="rId3"/>
          <a:stretch>
            <a:fillRect/>
          </a:stretch>
        </p:blipFill>
        <p:spPr>
          <a:xfrm>
            <a:off x="7126994" y="1509472"/>
            <a:ext cx="3272012" cy="4259898"/>
          </a:xfrm>
          <a:prstGeom prst="rect">
            <a:avLst/>
          </a:prstGeom>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Inference Is Your Friend</a:t>
            </a:r>
          </a:p>
        </p:txBody>
      </p:sp>
      <p:sp>
        <p:nvSpPr>
          <p:cNvPr id="3" name="Content Placeholder 2"/>
          <p:cNvSpPr>
            <a:spLocks noGrp="1"/>
          </p:cNvSpPr>
          <p:nvPr>
            <p:ph idx="1"/>
          </p:nvPr>
        </p:nvSpPr>
        <p:spPr/>
        <p:txBody>
          <a:bodyPr wrap="square">
            <a:normAutofit/>
          </a:bodyPr>
          <a:lstStyle/>
          <a:p>
            <a:r>
              <a:rPr sz="2800" b="0" i="0" u="none"/>
              <a:t>AI fills in architectural context, expected sections, and familiar conventions</a:t>
            </a:r>
            <a:endParaRPr sz="2800" b="0" i="0">
              <a:latin typeface="Arial"/>
            </a:endParaRPr>
          </a:p>
          <a:p>
            <a:r>
              <a:rPr sz="2800" b="0" i="0" u="none"/>
              <a:t>Minimal guidance can still produce surprisingly detailed instruction files</a:t>
            </a:r>
            <a:endParaRPr sz="2800" b="0" i="0">
              <a:latin typeface="Arial"/>
            </a:endParaRPr>
          </a:p>
          <a:p>
            <a:r>
              <a:rPr sz="2800" b="0" i="0" u="none"/>
              <a:t>Rich output is useful when the model understands the domain patterns already</a:t>
            </a:r>
            <a:endParaRPr sz="2800" b="0" i="0">
              <a:latin typeface="Arial"/>
            </a:endParaRPr>
          </a:p>
          <a:p>
            <a:r>
              <a:rPr sz="2800" b="0" i="0" u="none"/>
              <a:t>Review trims, sharpens, and aligns the inferred detail to your actual standards</a:t>
            </a:r>
            <a:endParaRPr sz="2800" b="0" i="0">
              <a:latin typeface="Arial"/>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Inference Is Not Your Friend</a:t>
            </a:r>
          </a:p>
        </p:txBody>
      </p:sp>
      <p:sp>
        <p:nvSpPr>
          <p:cNvPr id="3" name="Content Placeholder 2"/>
          <p:cNvSpPr>
            <a:spLocks noGrp="1"/>
          </p:cNvSpPr>
          <p:nvPr>
            <p:ph idx="1"/>
          </p:nvPr>
        </p:nvSpPr>
        <p:spPr/>
        <p:txBody>
          <a:bodyPr wrap="square">
            <a:normAutofit/>
          </a:bodyPr>
          <a:lstStyle/>
          <a:p>
            <a:r>
              <a:rPr sz="2400" b="0" i="0" u="none"/>
              <a:t>AI can infer incorrectly or assume patterns that do not fit your domain</a:t>
            </a:r>
            <a:endParaRPr sz="2400" b="0" i="0">
              <a:latin typeface="Arial"/>
            </a:endParaRPr>
          </a:p>
          <a:p>
            <a:r>
              <a:rPr sz="2400" b="0" i="0" u="none"/>
              <a:t>Broad inference may include outdated conventions or anti-patterns</a:t>
            </a:r>
            <a:endParaRPr sz="2400" b="0" i="0">
              <a:latin typeface="Arial"/>
            </a:endParaRPr>
          </a:p>
          <a:p>
            <a:r>
              <a:rPr sz="2400" b="0" i="0" u="none"/>
              <a:t>Rich output requires careful review to catch subtle errors</a:t>
            </a:r>
            <a:endParaRPr sz="2400" b="0" i="0">
              <a:latin typeface="Arial"/>
            </a:endParaRPr>
          </a:p>
          <a:p>
            <a:r>
              <a:rPr sz="2400" b="0" i="0" u="none"/>
              <a:t>Over-reliance on inference can lock you into assumptions you did not intend</a:t>
            </a:r>
            <a:endParaRPr sz="2400" b="0" i="0">
              <a:latin typeface="Arial"/>
            </a:endParaRPr>
          </a:p>
          <a:p>
            <a:r>
              <a:rPr sz="2400" b="0" i="0" u="none"/>
              <a:t>Validation and testing still mandatory despite confident-sounding output</a:t>
            </a:r>
            <a:endParaRPr sz="2400" b="0" i="0">
              <a:latin typeface="Arial"/>
            </a:endParaRPr>
          </a:p>
          <a:p>
            <a:pPr>
              <a:buNone/>
            </a:pPr>
            <a:endParaRPr sz="2400" b="0" i="0">
              <a:latin typeface="Arial"/>
            </a:endParaRPr>
          </a:p>
          <a:p>
            <a:pPr>
              <a:buNone/>
            </a:pPr>
            <a:r>
              <a:rPr sz="2400" b="1" i="0" u="none"/>
              <a:t>The catch</a:t>
            </a:r>
            <a:r>
              <a:rPr sz="2400" b="0" i="0" u="none"/>
              <a:t>: inference saves time only if you actively curate the result.</a:t>
            </a:r>
            <a:endParaRPr sz="2400" b="0" i="0">
              <a:latin typeface="Arial"/>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550" b="0" i="0" u="none"/>
              <a:t>Why Start with a Prompt-First Approach?</a:t>
            </a:r>
          </a:p>
        </p:txBody>
      </p:sp>
      <p:sp>
        <p:nvSpPr>
          <p:cNvPr id="3" name="Content Placeholder 2"/>
          <p:cNvSpPr>
            <a:spLocks noGrp="1"/>
          </p:cNvSpPr>
          <p:nvPr>
            <p:ph idx="1"/>
          </p:nvPr>
        </p:nvSpPr>
        <p:spPr/>
        <p:txBody>
          <a:bodyPr wrap="square">
            <a:normAutofit/>
          </a:bodyPr>
          <a:lstStyle/>
          <a:p>
            <a:r>
              <a:rPr sz="2650" b="0" i="0" u="none"/>
              <a:t>Easier to delete surplus detail than author every section from scratch</a:t>
            </a:r>
            <a:endParaRPr sz="2650" b="0" i="0">
              <a:latin typeface="Arial"/>
            </a:endParaRPr>
          </a:p>
          <a:p>
            <a:r>
              <a:rPr sz="2650" b="0" i="0" u="none"/>
              <a:t>Start with comprehensive AI-generated content, then edit down</a:t>
            </a:r>
            <a:endParaRPr sz="2650" b="0" i="0">
              <a:latin typeface="Arial"/>
            </a:endParaRPr>
          </a:p>
          <a:p>
            <a:r>
              <a:rPr sz="2650" b="0" i="0" u="none"/>
              <a:t>Reduces blank-page friction and initial authoring burden</a:t>
            </a:r>
            <a:endParaRPr sz="2650" b="0" i="0">
              <a:latin typeface="Arial"/>
            </a:endParaRPr>
          </a:p>
          <a:p>
            <a:r>
              <a:rPr sz="2650" b="0" i="0" u="none"/>
              <a:t>Encourages a repeatable workflow instead of one-off handcrafted artifacts</a:t>
            </a:r>
            <a:endParaRPr sz="2650" b="0" i="0">
              <a:latin typeface="Arial"/>
            </a:endParaRPr>
          </a:p>
          <a:p>
            <a:pPr>
              <a:buNone/>
            </a:pPr>
            <a:endParaRPr sz="2650" b="0" i="0">
              <a:latin typeface="Arial"/>
            </a:endParaRPr>
          </a:p>
          <a:p>
            <a:pPr>
              <a:buNone/>
            </a:pPr>
            <a:r>
              <a:rPr sz="2650" b="1" i="0" u="none"/>
              <a:t>Core idea</a:t>
            </a:r>
            <a:r>
              <a:rPr sz="2650" b="0" i="0" u="none"/>
              <a:t>: generate broadly first, then narrow precisely.</a:t>
            </a:r>
            <a:endParaRPr sz="2650" b="0" i="0">
              <a:latin typeface="Arial"/>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Two Ways to Refine the Result</a:t>
            </a:r>
          </a:p>
        </p:txBody>
      </p:sp>
      <p:sp>
        <p:nvSpPr>
          <p:cNvPr id="3" name="Content Placeholder 2"/>
          <p:cNvSpPr>
            <a:spLocks noGrp="1"/>
          </p:cNvSpPr>
          <p:nvPr>
            <p:ph idx="1"/>
          </p:nvPr>
        </p:nvSpPr>
        <p:spPr/>
        <p:txBody>
          <a:bodyPr wrap="square">
            <a:normAutofit/>
          </a:bodyPr>
          <a:lstStyle/>
          <a:p>
            <a:pPr>
              <a:buNone/>
            </a:pPr>
            <a:r>
              <a:rPr sz="2000" b="0" i="0" u="none"/>
              <a:t>1. </a:t>
            </a:r>
            <a:r>
              <a:rPr sz="2000" b="1" i="0" u="none"/>
              <a:t>Edit the generated instruction file directly</a:t>
            </a:r>
            <a:endParaRPr sz="2000" b="0" i="0">
              <a:latin typeface="Arial"/>
            </a:endParaRPr>
          </a:p>
          <a:p>
            <a:pPr>
              <a:buNone/>
            </a:pPr>
            <a:r>
              <a:rPr sz="2000" b="0" i="0" u="none"/>
              <a:t>2. </a:t>
            </a:r>
            <a:r>
              <a:rPr sz="2000" b="1" i="0" u="none"/>
              <a:t>Modify the prompt file and regenerate</a:t>
            </a:r>
            <a:endParaRPr sz="2000" b="0" i="0">
              <a:latin typeface="Arial"/>
            </a:endParaRPr>
          </a:p>
          <a:p>
            <a:pPr>
              <a:buNone/>
            </a:pPr>
            <a:endParaRPr sz="2000" b="0" i="0">
              <a:latin typeface="Arial"/>
            </a:endParaRPr>
          </a:p>
          <a:p>
            <a:pPr>
              <a:buNone/>
            </a:pPr>
            <a:r>
              <a:rPr sz="2000" b="1" i="0" u="none"/>
              <a:t>Preferred for version control</a:t>
            </a:r>
            <a:r>
              <a:rPr sz="2000" b="0" i="0" u="none"/>
              <a:t>: update the prompt, then rerun it.</a:t>
            </a:r>
            <a:endParaRPr sz="2000" b="0" i="0">
              <a:latin typeface="Arial"/>
            </a:endParaRPr>
          </a:p>
          <a:p>
            <a:pPr>
              <a:buNone/>
            </a:pPr>
            <a:endParaRPr sz="2000" b="0" i="0">
              <a:latin typeface="Arial"/>
            </a:endParaRPr>
          </a:p>
          <a:p>
            <a:pPr>
              <a:buNone/>
            </a:pPr>
            <a:r>
              <a:rPr sz="2000" b="0" i="0" u="none"/>
              <a:t>Why the second path usually wins:</a:t>
            </a:r>
            <a:endParaRPr sz="2000" b="0" i="0">
              <a:latin typeface="Arial"/>
            </a:endParaRPr>
          </a:p>
          <a:p>
            <a:pPr>
              <a:buNone/>
            </a:pPr>
            <a:endParaRPr sz="2000" b="0" i="0">
              <a:latin typeface="Arial"/>
            </a:endParaRPr>
          </a:p>
          <a:p>
            <a:r>
              <a:rPr sz="2000" b="0" i="0" u="none"/>
              <a:t>Prompt evolution is preserved in source control</a:t>
            </a:r>
            <a:endParaRPr sz="2000" b="0" i="0">
              <a:latin typeface="Arial"/>
            </a:endParaRPr>
          </a:p>
          <a:p>
            <a:r>
              <a:rPr sz="2000" b="0" i="0" u="none"/>
              <a:t>Future regeneration stays aligned with the revised intent</a:t>
            </a:r>
            <a:endParaRPr sz="2000" b="0" i="0">
              <a:latin typeface="Arial"/>
            </a:endParaRPr>
          </a:p>
          <a:p>
            <a:r>
              <a:rPr sz="2000" b="0" i="0" u="none"/>
              <a:t>Teams can reproduce the artifact instead of reverse-engineering it</a:t>
            </a:r>
            <a:endParaRPr sz="2000" b="0" i="0">
              <a:latin typeface="Arial"/>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600" b="0" i="0" u="none"/>
              <a:t>Why Prompt Files Beat Simple Directives</a:t>
            </a:r>
          </a:p>
        </p:txBody>
      </p:sp>
      <p:sp>
        <p:nvSpPr>
          <p:cNvPr id="3" name="Content Placeholder 2"/>
          <p:cNvSpPr>
            <a:spLocks noGrp="1"/>
          </p:cNvSpPr>
          <p:nvPr>
            <p:ph sz="half" idx="1"/>
          </p:nvPr>
        </p:nvSpPr>
        <p:spPr/>
        <p:txBody>
          <a:bodyPr wrap="square">
            <a:normAutofit fontScale="92500" lnSpcReduction="10000"/>
          </a:bodyPr>
          <a:lstStyle/>
          <a:p>
            <a:pPr>
              <a:buNone/>
            </a:pPr>
            <a:r>
              <a:rPr sz="3600" b="0" i="0" u="none" dirty="0"/>
              <a:t>Simple directive:</a:t>
            </a:r>
            <a:r>
              <a:rPr lang="en-US" sz="3600" b="0" i="0" u="none" dirty="0"/>
              <a:t> </a:t>
            </a:r>
            <a:r>
              <a:rPr sz="3600" b="0" i="1" u="none" dirty="0"/>
              <a:t>Create instruction file for Evergreen development</a:t>
            </a:r>
            <a:endParaRPr sz="6000" b="0" i="0" dirty="0">
              <a:latin typeface="Arial"/>
            </a:endParaRPr>
          </a:p>
          <a:p>
            <a:pPr>
              <a:buNone/>
            </a:pPr>
            <a:endParaRPr lang="en-US" sz="3600" b="0" i="0" u="none" dirty="0"/>
          </a:p>
          <a:p>
            <a:pPr>
              <a:buNone/>
            </a:pPr>
            <a:r>
              <a:rPr sz="3600" b="0" i="0" u="none" dirty="0"/>
              <a:t>Prompt-file approach:</a:t>
            </a:r>
            <a:endParaRPr sz="6000" b="0" i="0" dirty="0">
              <a:latin typeface="Arial"/>
            </a:endParaRPr>
          </a:p>
          <a:p>
            <a:pPr lvl="1"/>
            <a:r>
              <a:rPr sz="2000" b="0" i="0" u="none" dirty="0"/>
              <a:t>Objective</a:t>
            </a:r>
            <a:endParaRPr sz="5400" b="0" i="0" dirty="0">
              <a:latin typeface="Arial"/>
            </a:endParaRPr>
          </a:p>
          <a:p>
            <a:pPr lvl="1"/>
            <a:r>
              <a:rPr sz="2000" b="0" i="0" u="none" dirty="0"/>
              <a:t>Structure</a:t>
            </a:r>
            <a:endParaRPr sz="5400" b="0" i="0" dirty="0">
              <a:latin typeface="Arial"/>
            </a:endParaRPr>
          </a:p>
          <a:p>
            <a:pPr lvl="1"/>
            <a:r>
              <a:rPr sz="2000" b="0" i="0" u="none" dirty="0"/>
              <a:t>Requirements</a:t>
            </a:r>
            <a:endParaRPr sz="5400" b="0" i="0" dirty="0">
              <a:latin typeface="Arial"/>
            </a:endParaRPr>
          </a:p>
          <a:p>
            <a:pPr lvl="1"/>
            <a:r>
              <a:rPr sz="2000" b="0" i="0" u="none" dirty="0"/>
              <a:t>Constraints</a:t>
            </a:r>
            <a:endParaRPr sz="5400" b="0" i="0" dirty="0">
              <a:latin typeface="Arial"/>
            </a:endParaRPr>
          </a:p>
          <a:p>
            <a:pPr lvl="1"/>
            <a:r>
              <a:rPr sz="2000" b="0" i="0" u="none" dirty="0"/>
              <a:t>Expected deliverable</a:t>
            </a:r>
            <a:endParaRPr sz="5400" b="0" i="0" dirty="0">
              <a:latin typeface="Arial"/>
            </a:endParaRPr>
          </a:p>
        </p:txBody>
      </p:sp>
      <p:sp>
        <p:nvSpPr>
          <p:cNvPr id="4" name="Content Placeholder 3"/>
          <p:cNvSpPr>
            <a:spLocks noGrp="1"/>
          </p:cNvSpPr>
          <p:nvPr>
            <p:ph sz="half" idx="2"/>
          </p:nvPr>
        </p:nvSpPr>
        <p:spPr/>
        <p:txBody>
          <a:bodyPr wrap="square">
            <a:normAutofit fontScale="92500" lnSpcReduction="10000"/>
          </a:bodyPr>
          <a:lstStyle/>
          <a:p>
            <a:pPr>
              <a:buNone/>
            </a:pPr>
            <a:r>
              <a:rPr sz="4400" b="0" i="0" u="none" dirty="0"/>
              <a:t>Benefits:</a:t>
            </a:r>
            <a:endParaRPr sz="7200" b="0" i="0" dirty="0">
              <a:latin typeface="Arial"/>
            </a:endParaRPr>
          </a:p>
          <a:p>
            <a:pPr lvl="1"/>
            <a:r>
              <a:rPr sz="2800" b="0" i="0" u="none" dirty="0"/>
              <a:t>Changes preserved in source control</a:t>
            </a:r>
            <a:endParaRPr sz="6600" b="0" i="0" dirty="0">
              <a:latin typeface="Arial"/>
            </a:endParaRPr>
          </a:p>
          <a:p>
            <a:pPr lvl="1"/>
            <a:r>
              <a:rPr sz="2800" b="0" i="0" u="none" dirty="0"/>
              <a:t>Prompt evolution tracked over time</a:t>
            </a:r>
            <a:endParaRPr sz="6600" b="0" i="0" dirty="0">
              <a:latin typeface="Arial"/>
            </a:endParaRPr>
          </a:p>
          <a:p>
            <a:pPr lvl="1"/>
            <a:r>
              <a:rPr sz="2800" b="0" i="0" u="none" dirty="0"/>
              <a:t>Reproducible instruction-file generation</a:t>
            </a:r>
            <a:endParaRPr sz="6600" b="0" i="0" dirty="0">
              <a:latin typeface="Arial"/>
            </a:endParaRPr>
          </a:p>
          <a:p>
            <a:pPr lvl="1"/>
            <a:r>
              <a:rPr sz="2800" b="0" i="0" u="none" dirty="0"/>
              <a:t>Better provenance than a short, vague command</a:t>
            </a:r>
            <a:endParaRPr sz="6600" b="0" i="0" dirty="0">
              <a:latin typeface="Arial"/>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r>
              <a:t>Course Modules</a:t>
            </a:r>
          </a:p>
        </p:txBody>
      </p:sp>
      <p:sp>
        <p:nvSpPr>
          <p:cNvPr id="3" name="Content Placeholder 2"/>
          <p:cNvSpPr>
            <a:spLocks noGrp="1"/>
          </p:cNvSpPr>
          <p:nvPr>
            <p:ph idx="1"/>
          </p:nvPr>
        </p:nvSpPr>
        <p:spPr/>
        <p:txBody>
          <a:bodyPr wrap="square">
            <a:normAutofit/>
          </a:bodyPr>
          <a:lstStyle/>
          <a:p>
            <a:r>
              <a:rPr b="0" i="0" u="none"/>
              <a:t>Intro</a:t>
            </a:r>
          </a:p>
          <a:p>
            <a:r>
              <a:rPr b="0" i="0" u="none"/>
              <a:t>LLM</a:t>
            </a:r>
          </a:p>
          <a:p>
            <a:r>
              <a:rPr b="0" i="0" u="none"/>
              <a:t>Copilot for Teams</a:t>
            </a:r>
          </a:p>
          <a:p>
            <a:r>
              <a:rPr b="0" i="0" u="none"/>
              <a:t>Safety Measures and Best Practices</a:t>
            </a:r>
          </a:p>
          <a:p>
            <a:r>
              <a:rPr b="0" i="0" u="none"/>
              <a:t>Models and Context</a:t>
            </a:r>
          </a:p>
          <a:p>
            <a:r>
              <a:rPr b="0" i="0" u="none"/>
              <a:t>Guardrails and Prompt Files</a:t>
            </a:r>
          </a:p>
          <a:p>
            <a:r>
              <a:rPr b="1" i="0" u="none"/>
              <a:t>▶ AI Assisted Documentation</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Documentation Generation and Code Analysis</a:t>
            </a:r>
          </a:p>
        </p:txBody>
      </p:sp>
      <p:sp>
        <p:nvSpPr>
          <p:cNvPr id="3" name="Subtitle 2"/>
          <p:cNvSpPr>
            <a:spLocks noGrp="1"/>
          </p:cNvSpPr>
          <p:nvPr>
            <p:ph type="subTitle" idx="1"/>
          </p:nvPr>
        </p:nvSpPr>
        <p:spPr/>
        <p:txBody>
          <a:bodyPr wrap="square">
            <a:normAutofit/>
          </a:bodyPr>
          <a:lstStyle/>
          <a:p>
            <a:pPr>
              <a:buNone/>
            </a:pPr>
            <a:r>
              <a:rPr b="0" i="0" u="none"/>
              <a:t>The README That Writes Itself (Finally)</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300" b="0" i="0" u="none"/>
              <a:t>Documentation Generation &amp; Code Analysis</a:t>
            </a:r>
          </a:p>
        </p:txBody>
      </p:sp>
      <p:sp>
        <p:nvSpPr>
          <p:cNvPr id="3" name="Content Placeholder 2"/>
          <p:cNvSpPr>
            <a:spLocks noGrp="1"/>
          </p:cNvSpPr>
          <p:nvPr>
            <p:ph idx="1"/>
          </p:nvPr>
        </p:nvSpPr>
        <p:spPr/>
        <p:txBody>
          <a:bodyPr wrap="square">
            <a:normAutofit/>
          </a:bodyPr>
          <a:lstStyle/>
          <a:p>
            <a:r>
              <a:rPr sz="2800" b="0" i="0" u="none"/>
              <a:t>Automated README and documentation updates</a:t>
            </a:r>
            <a:endParaRPr sz="2800" b="0" i="0">
              <a:latin typeface="Arial"/>
            </a:endParaRPr>
          </a:p>
          <a:p>
            <a:r>
              <a:rPr sz="2800" b="0" i="0" u="none"/>
              <a:t>Architecture diagram generation</a:t>
            </a:r>
            <a:endParaRPr sz="2800" b="0" i="0">
              <a:latin typeface="Arial"/>
            </a:endParaRPr>
          </a:p>
          <a:p>
            <a:r>
              <a:rPr sz="2800" b="0" i="0" u="none"/>
              <a:t>Complex code explanation and mapping</a:t>
            </a:r>
            <a:endParaRPr sz="2800" b="0" i="0">
              <a:latin typeface="Arial"/>
            </a:endParaRPr>
          </a:p>
          <a:p>
            <a:r>
              <a:rPr sz="2800" b="0" i="0" u="none"/>
              <a:t>Identifying technical debt hot-spots</a:t>
            </a:r>
            <a:endParaRPr sz="2800" b="0" i="0">
              <a:latin typeface="Arial"/>
            </a:endParaRPr>
          </a:p>
          <a:p>
            <a:r>
              <a:rPr sz="2800" b="0" i="0" u="none"/>
              <a:t>Exercises for hands-on practice</a:t>
            </a:r>
            <a:endParaRPr sz="2800" b="0" i="0">
              <a:latin typeface="Aria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050" b="0" i="0" u="none"/>
              <a:t>Automated README &amp; Documentation Updates</a:t>
            </a:r>
          </a:p>
        </p:txBody>
      </p:sp>
      <p:sp>
        <p:nvSpPr>
          <p:cNvPr id="3" name="Content Placeholder 2"/>
          <p:cNvSpPr>
            <a:spLocks noGrp="1"/>
          </p:cNvSpPr>
          <p:nvPr>
            <p:ph idx="1"/>
          </p:nvPr>
        </p:nvSpPr>
        <p:spPr/>
        <p:txBody>
          <a:bodyPr wrap="square">
            <a:normAutofit/>
          </a:bodyPr>
          <a:lstStyle/>
          <a:p>
            <a:pPr>
              <a:buNone/>
            </a:pPr>
            <a:r>
              <a:rPr sz="2750" b="0" i="0" u="none"/>
              <a:t>Capabilities</a:t>
            </a:r>
            <a:endParaRPr sz="2750" b="0" i="0">
              <a:latin typeface="Arial"/>
            </a:endParaRPr>
          </a:p>
          <a:p>
            <a:pPr>
              <a:buNone/>
            </a:pPr>
            <a:endParaRPr sz="2750" b="0" i="0">
              <a:latin typeface="Arial"/>
            </a:endParaRPr>
          </a:p>
          <a:p>
            <a:r>
              <a:rPr sz="2750" b="0" i="0" u="none"/>
              <a:t>Generate or update README files</a:t>
            </a:r>
            <a:endParaRPr sz="2750" b="0" i="0">
              <a:latin typeface="Arial"/>
            </a:endParaRPr>
          </a:p>
          <a:p>
            <a:r>
              <a:rPr sz="2750" b="0" i="0" u="none"/>
              <a:t>Create module-level documentation</a:t>
            </a:r>
            <a:endParaRPr sz="2750" b="0" i="0">
              <a:latin typeface="Arial"/>
            </a:endParaRPr>
          </a:p>
          <a:p>
            <a:r>
              <a:rPr sz="2750" b="0" i="0" u="none"/>
              <a:t>Produce API references and usage examples</a:t>
            </a:r>
            <a:endParaRPr sz="2750" b="0" i="0">
              <a:latin typeface="Arial"/>
            </a:endParaRPr>
          </a:p>
          <a:p>
            <a:r>
              <a:rPr sz="2750" b="0" i="0" u="none"/>
              <a:t>Keep documentation aligned with code changes</a:t>
            </a:r>
            <a:endParaRPr sz="2750" b="0" i="0">
              <a:latin typeface="Arial"/>
            </a:endParaRPr>
          </a:p>
          <a:p>
            <a:pPr>
              <a:buNone/>
            </a:pPr>
            <a:endParaRPr sz="2750" b="0" i="0">
              <a:latin typeface="Arial"/>
            </a:endParaRPr>
          </a:p>
          <a:p>
            <a:pPr>
              <a:buNone/>
            </a:pPr>
            <a:r>
              <a:rPr sz="2750" b="0" i="1" u="none"/>
              <a:t>Create a documentation instruction file?</a:t>
            </a:r>
            <a:endParaRPr sz="2750" b="0" i="0">
              <a:latin typeface="Arial"/>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Create Architecture Diagrams</a:t>
            </a:r>
          </a:p>
        </p:txBody>
      </p:sp>
      <p:sp>
        <p:nvSpPr>
          <p:cNvPr id="3" name="Content Placeholder 2"/>
          <p:cNvSpPr>
            <a:spLocks noGrp="1"/>
          </p:cNvSpPr>
          <p:nvPr>
            <p:ph idx="1"/>
          </p:nvPr>
        </p:nvSpPr>
        <p:spPr/>
        <p:txBody>
          <a:bodyPr wrap="square">
            <a:normAutofit/>
          </a:bodyPr>
          <a:lstStyle/>
          <a:p>
            <a:pPr>
              <a:buNone/>
            </a:pPr>
            <a:r>
              <a:rPr sz="2800" b="0" i="0" u="none"/>
              <a:t>AI-generated diagrams include:</a:t>
            </a:r>
            <a:endParaRPr sz="2800" b="0" i="0">
              <a:latin typeface="Arial"/>
            </a:endParaRPr>
          </a:p>
          <a:p>
            <a:pPr>
              <a:buNone/>
            </a:pPr>
            <a:endParaRPr sz="2800" b="0" i="0">
              <a:latin typeface="Arial"/>
            </a:endParaRPr>
          </a:p>
          <a:p>
            <a:r>
              <a:rPr sz="2800" b="0" i="0" u="none"/>
              <a:t>System boundaries</a:t>
            </a:r>
            <a:endParaRPr sz="2800" b="0" i="0">
              <a:latin typeface="Arial"/>
            </a:endParaRPr>
          </a:p>
          <a:p>
            <a:r>
              <a:rPr sz="2800" b="0" i="0" u="none"/>
              <a:t>Module interactions</a:t>
            </a:r>
            <a:endParaRPr sz="2800" b="0" i="0">
              <a:latin typeface="Arial"/>
            </a:endParaRPr>
          </a:p>
          <a:p>
            <a:r>
              <a:rPr sz="2800" b="0" i="0" u="none"/>
              <a:t>Data flows</a:t>
            </a:r>
            <a:endParaRPr sz="2800" b="0" i="0">
              <a:latin typeface="Arial"/>
            </a:endParaRPr>
          </a:p>
          <a:p>
            <a:r>
              <a:rPr sz="2800" b="0" i="0" u="none"/>
              <a:t>Deployment environments</a:t>
            </a:r>
            <a:endParaRPr sz="2800" b="0" i="0">
              <a:latin typeface="Arial"/>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350" b="0" i="0" u="none"/>
              <a:t>Architecture Diagram Generation</a:t>
            </a:r>
          </a:p>
        </p:txBody>
      </p:sp>
      <p:sp>
        <p:nvSpPr>
          <p:cNvPr id="3" name="Content Placeholder 2"/>
          <p:cNvSpPr>
            <a:spLocks noGrp="1"/>
          </p:cNvSpPr>
          <p:nvPr>
            <p:ph idx="1"/>
          </p:nvPr>
        </p:nvSpPr>
        <p:spPr/>
        <p:txBody>
          <a:bodyPr wrap="square">
            <a:normAutofit/>
          </a:bodyPr>
          <a:lstStyle/>
          <a:p>
            <a:pPr>
              <a:buNone/>
            </a:pPr>
            <a:r>
              <a:rPr sz="2800" b="0" i="0" u="none"/>
              <a:t>What AI can generate</a:t>
            </a:r>
            <a:endParaRPr sz="2800" b="0" i="0">
              <a:latin typeface="Arial"/>
            </a:endParaRPr>
          </a:p>
          <a:p>
            <a:pPr>
              <a:buNone/>
            </a:pPr>
            <a:endParaRPr sz="2800" b="0" i="0">
              <a:latin typeface="Arial"/>
            </a:endParaRPr>
          </a:p>
          <a:p>
            <a:r>
              <a:rPr sz="2800" b="0" i="0" u="none"/>
              <a:t>High-level system diagrams</a:t>
            </a:r>
            <a:endParaRPr sz="2800" b="0" i="0">
              <a:latin typeface="Arial"/>
            </a:endParaRPr>
          </a:p>
          <a:p>
            <a:r>
              <a:rPr sz="2800" b="0" i="0" u="none"/>
              <a:t>Module dependency graphs</a:t>
            </a:r>
            <a:endParaRPr sz="2800" b="0" i="0">
              <a:latin typeface="Arial"/>
            </a:endParaRPr>
          </a:p>
          <a:p>
            <a:r>
              <a:rPr sz="2800" b="0" i="0" u="none"/>
              <a:t>Data flow diagrams</a:t>
            </a:r>
            <a:endParaRPr sz="2800" b="0" i="0">
              <a:latin typeface="Arial"/>
            </a:endParaRPr>
          </a:p>
          <a:p>
            <a:r>
              <a:rPr sz="2800" b="0" i="0" u="none"/>
              <a:t>Deployment topologies</a:t>
            </a:r>
            <a:endParaRPr sz="2800" b="0" i="0">
              <a:latin typeface="Arial"/>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800" b="0" i="0" u="none"/>
              <a:t>Complex Code Explanation &amp; Mapping</a:t>
            </a:r>
          </a:p>
        </p:txBody>
      </p:sp>
      <p:sp>
        <p:nvSpPr>
          <p:cNvPr id="3" name="Content Placeholder 2"/>
          <p:cNvSpPr>
            <a:spLocks noGrp="1"/>
          </p:cNvSpPr>
          <p:nvPr>
            <p:ph idx="1"/>
          </p:nvPr>
        </p:nvSpPr>
        <p:spPr/>
        <p:txBody>
          <a:bodyPr wrap="square">
            <a:normAutofit/>
          </a:bodyPr>
          <a:lstStyle/>
          <a:p>
            <a:pPr>
              <a:buNone/>
            </a:pPr>
            <a:r>
              <a:rPr sz="2800" b="0" i="0" u="none"/>
              <a:t>AI can help with:</a:t>
            </a:r>
            <a:endParaRPr sz="2800" b="0" i="0">
              <a:latin typeface="Arial"/>
            </a:endParaRPr>
          </a:p>
          <a:p>
            <a:pPr>
              <a:buNone/>
            </a:pPr>
            <a:endParaRPr sz="2800" b="0" i="0">
              <a:latin typeface="Arial"/>
            </a:endParaRPr>
          </a:p>
          <a:p>
            <a:r>
              <a:rPr sz="2800" b="0" i="0" u="none"/>
              <a:t>Explaining unfamiliar or legacy code</a:t>
            </a:r>
            <a:endParaRPr sz="2800" b="0" i="0">
              <a:latin typeface="Arial"/>
            </a:endParaRPr>
          </a:p>
          <a:p>
            <a:r>
              <a:rPr sz="2800" b="0" i="0" u="none"/>
              <a:t>Mapping call chains and dependencies</a:t>
            </a:r>
            <a:endParaRPr sz="2800" b="0" i="0">
              <a:latin typeface="Arial"/>
            </a:endParaRPr>
          </a:p>
          <a:p>
            <a:r>
              <a:rPr sz="2800" b="0" i="0" u="none"/>
              <a:t>Identifying hidden coupling</a:t>
            </a:r>
            <a:endParaRPr sz="2800" b="0" i="0">
              <a:latin typeface="Arial"/>
            </a:endParaRPr>
          </a:p>
          <a:p>
            <a:r>
              <a:rPr sz="2800" b="0" i="0" u="none"/>
              <a:t>Translating code into human-readable narratives</a:t>
            </a:r>
            <a:endParaRPr sz="2800" b="0" i="0">
              <a:latin typeface="Arial"/>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000" b="0" i="0" u="none"/>
              <a:t>Identifying Technical Debt Hot-spots</a:t>
            </a:r>
          </a:p>
        </p:txBody>
      </p:sp>
      <p:sp>
        <p:nvSpPr>
          <p:cNvPr id="3" name="Content Placeholder 2"/>
          <p:cNvSpPr>
            <a:spLocks noGrp="1"/>
          </p:cNvSpPr>
          <p:nvPr>
            <p:ph idx="1"/>
          </p:nvPr>
        </p:nvSpPr>
        <p:spPr/>
        <p:txBody>
          <a:bodyPr wrap="square">
            <a:normAutofit/>
          </a:bodyPr>
          <a:lstStyle/>
          <a:p>
            <a:pPr>
              <a:buNone/>
            </a:pPr>
            <a:r>
              <a:rPr sz="2800" b="0" i="0" u="none"/>
              <a:t>AI can detect:</a:t>
            </a:r>
            <a:endParaRPr sz="2800" b="0" i="0">
              <a:latin typeface="Arial"/>
            </a:endParaRPr>
          </a:p>
          <a:p>
            <a:pPr>
              <a:buNone/>
            </a:pPr>
            <a:endParaRPr sz="2800" b="0" i="0">
              <a:latin typeface="Arial"/>
            </a:endParaRPr>
          </a:p>
          <a:p>
            <a:r>
              <a:rPr sz="2800" b="0" i="0" u="none"/>
              <a:t>Outdated patterns</a:t>
            </a:r>
            <a:endParaRPr sz="2800" b="0" i="0">
              <a:latin typeface="Arial"/>
            </a:endParaRPr>
          </a:p>
          <a:p>
            <a:r>
              <a:rPr sz="2800" b="0" i="0" u="none"/>
              <a:t>Duplicate logic</a:t>
            </a:r>
            <a:endParaRPr sz="2800" b="0" i="0">
              <a:latin typeface="Arial"/>
            </a:endParaRPr>
          </a:p>
          <a:p>
            <a:r>
              <a:rPr sz="2800" b="0" i="0" u="none"/>
              <a:t>Missing tests</a:t>
            </a:r>
            <a:endParaRPr sz="2800" b="0" i="0">
              <a:latin typeface="Arial"/>
            </a:endParaRPr>
          </a:p>
          <a:p>
            <a:r>
              <a:rPr sz="2800" b="0" i="0" u="none"/>
              <a:t>High-complexity functions</a:t>
            </a:r>
            <a:endParaRPr sz="2800" b="0" i="0">
              <a:latin typeface="Arial"/>
            </a:endParaRPr>
          </a:p>
          <a:p>
            <a:r>
              <a:rPr sz="2800" b="0" i="0" u="none"/>
              <a:t>Security risks</a:t>
            </a:r>
            <a:endParaRPr sz="2800" b="0" i="0">
              <a:latin typeface="Arial"/>
            </a:endParaRP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200" b="0" i="0" u="none"/>
              <a:t>Generate Development &amp; Deployment Guides</a:t>
            </a:r>
          </a:p>
        </p:txBody>
      </p:sp>
      <p:sp>
        <p:nvSpPr>
          <p:cNvPr id="3" name="Content Placeholder 2"/>
          <p:cNvSpPr>
            <a:spLocks noGrp="1"/>
          </p:cNvSpPr>
          <p:nvPr>
            <p:ph idx="1"/>
          </p:nvPr>
        </p:nvSpPr>
        <p:spPr/>
        <p:txBody>
          <a:bodyPr wrap="square">
            <a:normAutofit/>
          </a:bodyPr>
          <a:lstStyle/>
          <a:p>
            <a:pPr>
              <a:buNone/>
            </a:pPr>
            <a:r>
              <a:rPr sz="2800" b="0" i="0" u="none"/>
              <a:t>AI can produce:</a:t>
            </a:r>
            <a:endParaRPr sz="2800" b="0" i="0">
              <a:latin typeface="Arial"/>
            </a:endParaRPr>
          </a:p>
          <a:p>
            <a:pPr>
              <a:buNone/>
            </a:pPr>
            <a:endParaRPr sz="2800" b="0" i="0">
              <a:latin typeface="Arial"/>
            </a:endParaRPr>
          </a:p>
          <a:p>
            <a:r>
              <a:rPr sz="2800" b="0" i="0" u="none"/>
              <a:t>Setup instructions</a:t>
            </a:r>
            <a:endParaRPr sz="2800" b="0" i="0">
              <a:latin typeface="Arial"/>
            </a:endParaRPr>
          </a:p>
          <a:p>
            <a:r>
              <a:rPr sz="2800" b="0" i="0" u="none"/>
              <a:t>Local development workflows</a:t>
            </a:r>
            <a:endParaRPr sz="2800" b="0" i="0">
              <a:latin typeface="Arial"/>
            </a:endParaRPr>
          </a:p>
          <a:p>
            <a:r>
              <a:rPr sz="2800" b="0" i="0" u="none"/>
              <a:t>CI/CD pipeline explanations</a:t>
            </a:r>
            <a:endParaRPr sz="2800" b="0" i="0">
              <a:latin typeface="Arial"/>
            </a:endParaRPr>
          </a:p>
          <a:p>
            <a:r>
              <a:rPr sz="2800" b="0" i="0" u="none"/>
              <a:t>Deployment steps and rollback procedures</a:t>
            </a:r>
            <a:endParaRPr sz="2800" b="0" i="0">
              <a:latin typeface="Arial"/>
            </a:endParaRP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Update Project Documentation</a:t>
            </a:r>
          </a:p>
        </p:txBody>
      </p:sp>
      <p:sp>
        <p:nvSpPr>
          <p:cNvPr id="3" name="Content Placeholder 2"/>
          <p:cNvSpPr>
            <a:spLocks noGrp="1"/>
          </p:cNvSpPr>
          <p:nvPr>
            <p:ph idx="1"/>
          </p:nvPr>
        </p:nvSpPr>
        <p:spPr/>
        <p:txBody>
          <a:bodyPr wrap="square">
            <a:normAutofit/>
          </a:bodyPr>
          <a:lstStyle/>
          <a:p>
            <a:pPr>
              <a:buNone/>
            </a:pPr>
            <a:r>
              <a:rPr sz="1800" b="0" i="0" u="none"/>
              <a:t>AI can update:</a:t>
            </a:r>
            <a:endParaRPr sz="1800" b="0" i="0">
              <a:latin typeface="Consolas"/>
            </a:endParaRPr>
          </a:p>
          <a:p>
            <a:pPr>
              <a:buNone/>
            </a:pPr>
            <a:endParaRPr sz="1800" b="0" i="0">
              <a:latin typeface="Consolas"/>
            </a:endParaRPr>
          </a:p>
          <a:p>
            <a:r>
              <a:rPr sz="1800" b="0" i="0" u="none">
                <a:latin typeface="Consolas"/>
              </a:rPr>
              <a:t>CHANGELOGs</a:t>
            </a:r>
            <a:endParaRPr sz="1800" b="0" i="0">
              <a:latin typeface="Consolas"/>
            </a:endParaRPr>
          </a:p>
          <a:p>
            <a:r>
              <a:rPr sz="1800" b="0" i="0" u="none">
                <a:latin typeface="Consolas"/>
              </a:rPr>
              <a:t>CONTRIBUTING</a:t>
            </a:r>
            <a:r>
              <a:rPr sz="1800" b="0" i="0" u="none"/>
              <a:t> guides</a:t>
            </a:r>
            <a:endParaRPr sz="1800" b="0" i="0">
              <a:latin typeface="Consolas"/>
            </a:endParaRPr>
          </a:p>
          <a:p>
            <a:r>
              <a:rPr sz="1800" b="0" i="0" u="none">
                <a:latin typeface="Consolas"/>
              </a:rPr>
              <a:t>API</a:t>
            </a:r>
            <a:r>
              <a:rPr sz="1800" b="0" i="0" u="none"/>
              <a:t> references</a:t>
            </a:r>
            <a:endParaRPr sz="1800" b="0" i="0">
              <a:latin typeface="Consolas"/>
            </a:endParaRPr>
          </a:p>
          <a:p>
            <a:r>
              <a:rPr sz="1800" b="0" i="0" u="none"/>
              <a:t>Module-level docs</a:t>
            </a:r>
            <a:endParaRPr sz="1800" b="0" i="0">
              <a:latin typeface="Consolas"/>
            </a:endParaRP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750" b="0" i="0" u="none"/>
              <a:t>Cross-Validate With Multiple AI Models</a:t>
            </a:r>
          </a:p>
        </p:txBody>
      </p:sp>
      <p:sp>
        <p:nvSpPr>
          <p:cNvPr id="3" name="Content Placeholder 2"/>
          <p:cNvSpPr>
            <a:spLocks noGrp="1"/>
          </p:cNvSpPr>
          <p:nvPr>
            <p:ph idx="1"/>
          </p:nvPr>
        </p:nvSpPr>
        <p:spPr/>
        <p:txBody>
          <a:bodyPr wrap="square">
            <a:normAutofit/>
          </a:bodyPr>
          <a:lstStyle/>
          <a:p>
            <a:pPr>
              <a:buNone/>
            </a:pPr>
            <a:r>
              <a:rPr sz="2800" b="0" i="0" u="none"/>
              <a:t>Why cross-validate?</a:t>
            </a:r>
            <a:endParaRPr sz="2800" b="0" i="0">
              <a:latin typeface="Arial"/>
            </a:endParaRPr>
          </a:p>
          <a:p>
            <a:pPr>
              <a:buNone/>
            </a:pPr>
            <a:endParaRPr sz="2800" b="0" i="0">
              <a:latin typeface="Arial"/>
            </a:endParaRPr>
          </a:p>
          <a:p>
            <a:r>
              <a:rPr sz="2800" b="0" i="0" u="none"/>
              <a:t>Reduce hallucinations</a:t>
            </a:r>
            <a:endParaRPr sz="2800" b="0" i="0">
              <a:latin typeface="Arial"/>
            </a:endParaRPr>
          </a:p>
          <a:p>
            <a:r>
              <a:rPr sz="2800" b="0" i="0" u="none"/>
              <a:t>Catch inconsistencies</a:t>
            </a:r>
            <a:endParaRPr sz="2800" b="0" i="0">
              <a:latin typeface="Arial"/>
            </a:endParaRPr>
          </a:p>
          <a:p>
            <a:r>
              <a:rPr sz="2800" b="0" i="0" u="none"/>
              <a:t>Improve accuracy</a:t>
            </a:r>
            <a:endParaRPr sz="2800" b="0" i="0">
              <a:latin typeface="Arial"/>
            </a:endParaRPr>
          </a:p>
          <a:p>
            <a:r>
              <a:rPr sz="2800" b="0" i="0" u="none"/>
              <a:t>Validate architectural assumptions</a:t>
            </a:r>
            <a:endParaRPr sz="2800" b="0" i="0">
              <a:latin typeface="Arial"/>
            </a:endParaRP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3450" b="0" i="0" u="none"/>
              <a:t>Exercise: Brownfield Code Documentation</a:t>
            </a:r>
          </a:p>
        </p:txBody>
      </p:sp>
      <p:sp>
        <p:nvSpPr>
          <p:cNvPr id="3" name="Content Placeholder 2"/>
          <p:cNvSpPr>
            <a:spLocks noGrp="1"/>
          </p:cNvSpPr>
          <p:nvPr>
            <p:ph sz="half" idx="1"/>
          </p:nvPr>
        </p:nvSpPr>
        <p:spPr/>
        <p:txBody>
          <a:bodyPr wrap="square">
            <a:normAutofit fontScale="92500" lnSpcReduction="20000"/>
          </a:bodyPr>
          <a:lstStyle/>
          <a:p>
            <a:pPr>
              <a:buNone/>
            </a:pPr>
            <a:r>
              <a:rPr sz="3200" b="0" i="0" u="none" dirty="0"/>
              <a:t>Objectives</a:t>
            </a:r>
            <a:endParaRPr sz="5400" b="0" i="0" dirty="0">
              <a:latin typeface="Arial"/>
            </a:endParaRPr>
          </a:p>
          <a:p>
            <a:pPr lvl="1"/>
            <a:r>
              <a:rPr sz="1800" b="0" i="0" u="none" dirty="0"/>
              <a:t>Practice generating documentation for legacy code</a:t>
            </a:r>
            <a:endParaRPr sz="4800" b="0" i="0" dirty="0">
              <a:latin typeface="Arial"/>
            </a:endParaRPr>
          </a:p>
          <a:p>
            <a:pPr lvl="1"/>
            <a:r>
              <a:rPr sz="1800" b="0" i="0" u="none" dirty="0"/>
              <a:t>Identify missing or unclear areas</a:t>
            </a:r>
            <a:endParaRPr sz="4800" b="0" i="0" dirty="0">
              <a:latin typeface="Arial"/>
            </a:endParaRPr>
          </a:p>
          <a:p>
            <a:pPr lvl="1"/>
            <a:r>
              <a:rPr sz="1800" b="0" i="0" u="none" dirty="0"/>
              <a:t>Produce high-signal summaries</a:t>
            </a:r>
            <a:endParaRPr sz="4800" b="0" i="0" dirty="0">
              <a:latin typeface="Arial"/>
            </a:endParaRPr>
          </a:p>
          <a:p>
            <a:pPr>
              <a:buNone/>
            </a:pPr>
            <a:endParaRPr sz="5400" b="0" i="0" dirty="0">
              <a:latin typeface="Arial"/>
            </a:endParaRPr>
          </a:p>
          <a:p>
            <a:pPr>
              <a:buNone/>
            </a:pPr>
            <a:r>
              <a:rPr sz="3200" b="0" i="0" u="none" dirty="0"/>
              <a:t>Activities</a:t>
            </a:r>
            <a:endParaRPr sz="5400" b="0" i="0" dirty="0">
              <a:latin typeface="Arial"/>
            </a:endParaRPr>
          </a:p>
          <a:p>
            <a:pPr lvl="1">
              <a:buNone/>
            </a:pPr>
            <a:r>
              <a:rPr sz="1800" b="0" i="0" u="none" dirty="0"/>
              <a:t>1. Select a brownfield module or file</a:t>
            </a:r>
            <a:endParaRPr lang="en-US" sz="1800" b="0" i="0" u="none" dirty="0"/>
          </a:p>
          <a:p>
            <a:pPr lvl="1">
              <a:buNone/>
            </a:pPr>
            <a:r>
              <a:rPr lang="en-US" sz="1800" dirty="0"/>
              <a:t>2. Ask AI to generate:</a:t>
            </a:r>
            <a:endParaRPr lang="en-US" sz="4800" dirty="0">
              <a:latin typeface="Arial"/>
            </a:endParaRPr>
          </a:p>
          <a:p>
            <a:pPr lvl="2"/>
            <a:r>
              <a:rPr lang="en-US" sz="1800" dirty="0"/>
              <a:t>A summary</a:t>
            </a:r>
            <a:endParaRPr lang="en-US" sz="4800" dirty="0">
              <a:latin typeface="Arial"/>
            </a:endParaRPr>
          </a:p>
          <a:p>
            <a:pPr lvl="2"/>
            <a:r>
              <a:rPr lang="en-US" sz="1800" dirty="0"/>
              <a:t>Key responsibilities</a:t>
            </a:r>
            <a:endParaRPr lang="en-US" sz="4800" dirty="0">
              <a:latin typeface="Arial"/>
            </a:endParaRPr>
          </a:p>
          <a:p>
            <a:pPr lvl="2"/>
            <a:r>
              <a:rPr lang="en-US" sz="1800" dirty="0"/>
              <a:t>Inputs/outputs</a:t>
            </a:r>
            <a:endParaRPr lang="en-US" sz="4800" dirty="0">
              <a:latin typeface="Arial"/>
            </a:endParaRPr>
          </a:p>
        </p:txBody>
      </p:sp>
      <p:sp>
        <p:nvSpPr>
          <p:cNvPr id="4" name="Content Placeholder 3"/>
          <p:cNvSpPr>
            <a:spLocks noGrp="1"/>
          </p:cNvSpPr>
          <p:nvPr>
            <p:ph sz="half" idx="2"/>
          </p:nvPr>
        </p:nvSpPr>
        <p:spPr/>
        <p:txBody>
          <a:bodyPr wrap="square">
            <a:normAutofit/>
          </a:bodyPr>
          <a:lstStyle/>
          <a:p>
            <a:pPr>
              <a:buNone/>
            </a:pPr>
            <a:r>
              <a:rPr sz="3200" b="0" i="0" u="none" dirty="0"/>
              <a:t>Success Criteria</a:t>
            </a:r>
            <a:endParaRPr sz="5400" b="0" i="0" dirty="0">
              <a:latin typeface="Arial"/>
            </a:endParaRPr>
          </a:p>
          <a:p>
            <a:pPr lvl="1"/>
            <a:r>
              <a:rPr sz="1800" b="0" i="0" u="none" dirty="0"/>
              <a:t>Documentation is accurate and concise</a:t>
            </a:r>
            <a:endParaRPr sz="4800" b="0" i="0" dirty="0">
              <a:latin typeface="Arial"/>
            </a:endParaRPr>
          </a:p>
          <a:p>
            <a:pPr lvl="1"/>
            <a:r>
              <a:rPr sz="1800" b="0" i="0" u="none" dirty="0"/>
              <a:t>Risks and gaps are clearly identified</a:t>
            </a:r>
            <a:endParaRPr sz="4800" b="0" i="0" dirty="0">
              <a:latin typeface="Arial"/>
            </a:endParaRPr>
          </a:p>
          <a:p>
            <a:pPr lvl="1"/>
            <a:r>
              <a:rPr sz="1800" b="0" i="0" u="none" dirty="0"/>
              <a:t>Provenance is included</a:t>
            </a:r>
            <a:endParaRPr sz="4800" b="0" i="0" dirty="0">
              <a:latin typeface="Arial"/>
            </a:endParaRP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Exercise: Create a Prompt File</a:t>
            </a:r>
          </a:p>
        </p:txBody>
      </p:sp>
      <p:sp>
        <p:nvSpPr>
          <p:cNvPr id="3" name="Content Placeholder 2"/>
          <p:cNvSpPr>
            <a:spLocks noGrp="1"/>
          </p:cNvSpPr>
          <p:nvPr>
            <p:ph sz="half" idx="1"/>
          </p:nvPr>
        </p:nvSpPr>
        <p:spPr/>
        <p:txBody>
          <a:bodyPr wrap="square">
            <a:normAutofit/>
          </a:bodyPr>
          <a:lstStyle/>
          <a:p>
            <a:pPr>
              <a:buNone/>
            </a:pPr>
            <a:r>
              <a:rPr sz="1400" b="0" i="0" u="none"/>
              <a:t>Objectives</a:t>
            </a:r>
            <a:endParaRPr sz="2800" b="0" i="0">
              <a:latin typeface="Arial"/>
            </a:endParaRPr>
          </a:p>
          <a:p>
            <a:pPr lvl="1"/>
            <a:r>
              <a:rPr sz="1400" b="0" i="0" u="none"/>
              <a:t>Understand prompt structure</a:t>
            </a:r>
            <a:endParaRPr sz="2800" b="0" i="0">
              <a:latin typeface="Arial"/>
            </a:endParaRPr>
          </a:p>
          <a:p>
            <a:pPr lvl="1"/>
            <a:r>
              <a:rPr sz="1400" b="0" i="0" u="none"/>
              <a:t>Practice defining task intent</a:t>
            </a:r>
            <a:endParaRPr sz="2800" b="0" i="0">
              <a:latin typeface="Arial"/>
            </a:endParaRPr>
          </a:p>
          <a:p>
            <a:pPr lvl="1"/>
            <a:r>
              <a:rPr sz="1400" b="0" i="0" u="none"/>
              <a:t>Apply constraints and success criteria</a:t>
            </a:r>
            <a:endParaRPr sz="2800" b="0" i="0">
              <a:latin typeface="Arial"/>
            </a:endParaRPr>
          </a:p>
          <a:p>
            <a:pPr>
              <a:buNone/>
            </a:pPr>
            <a:endParaRPr sz="2800" b="0" i="0">
              <a:latin typeface="Arial"/>
            </a:endParaRPr>
          </a:p>
          <a:p>
            <a:pPr>
              <a:buNone/>
            </a:pPr>
            <a:r>
              <a:rPr sz="1400" b="0" i="0" u="none"/>
              <a:t>Activities</a:t>
            </a:r>
            <a:endParaRPr sz="2800" b="0" i="0">
              <a:latin typeface="Arial"/>
            </a:endParaRPr>
          </a:p>
          <a:p>
            <a:pPr lvl="1">
              <a:buNone/>
            </a:pPr>
            <a:r>
              <a:rPr sz="1400" b="0" i="0" u="none"/>
              <a:t>  1. Prompt Copilot to create a prompt file that creates an instruction file for evergreen software development</a:t>
            </a:r>
            <a:endParaRPr sz="2800" b="0" i="0">
              <a:latin typeface="Arial"/>
            </a:endParaRPr>
          </a:p>
          <a:p>
            <a:pPr lvl="1">
              <a:buNone/>
            </a:pPr>
            <a:r>
              <a:rPr sz="1400" b="0" i="0" u="none"/>
              <a:t>  2. Review the prompt</a:t>
            </a:r>
            <a:endParaRPr sz="2800" b="0" i="0">
              <a:latin typeface="Arial"/>
            </a:endParaRPr>
          </a:p>
        </p:txBody>
      </p:sp>
      <p:sp>
        <p:nvSpPr>
          <p:cNvPr id="4" name="Content Placeholder 3"/>
          <p:cNvSpPr>
            <a:spLocks noGrp="1"/>
          </p:cNvSpPr>
          <p:nvPr>
            <p:ph sz="half" idx="2"/>
          </p:nvPr>
        </p:nvSpPr>
        <p:spPr/>
        <p:txBody>
          <a:bodyPr wrap="square">
            <a:normAutofit/>
          </a:bodyPr>
          <a:lstStyle/>
          <a:p>
            <a:pPr>
              <a:buNone/>
            </a:pPr>
            <a:r>
              <a:rPr sz="1400" b="0" i="0" u="none"/>
              <a:t>Success Criteria</a:t>
            </a:r>
            <a:endParaRPr sz="2800" b="0" i="0">
              <a:latin typeface="Arial"/>
            </a:endParaRPr>
          </a:p>
          <a:p>
            <a:pPr lvl="1"/>
            <a:r>
              <a:rPr sz="1400" b="0" i="0" u="none"/>
              <a:t>Prompt is clear, scoped, and reusable</a:t>
            </a:r>
            <a:endParaRPr sz="2800" b="0" i="0">
              <a:latin typeface="Arial"/>
            </a:endParaRPr>
          </a:p>
          <a:p>
            <a:pPr lvl="1"/>
            <a:r>
              <a:rPr sz="1400" b="0" i="0" u="none"/>
              <a:t>Includes constraints and success criteria</a:t>
            </a:r>
            <a:endParaRPr sz="2800" b="0" i="0">
              <a:latin typeface="Arial"/>
            </a:endParaRPr>
          </a:p>
          <a:p>
            <a:pPr lvl="1"/>
            <a:r>
              <a:rPr sz="1400" b="0" i="0" u="none"/>
              <a:t>Avoids unnecessary context</a:t>
            </a:r>
            <a:endParaRPr sz="2800" b="0" i="0">
              <a:latin typeface="Arial"/>
            </a:endParaRP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b="0" i="0" u="none"/>
              <a:t>Code Explanation and Analysis</a:t>
            </a:r>
          </a:p>
        </p:txBody>
      </p:sp>
      <p:sp>
        <p:nvSpPr>
          <p:cNvPr id="3" name="Subtitle 2"/>
          <p:cNvSpPr>
            <a:spLocks noGrp="1"/>
          </p:cNvSpPr>
          <p:nvPr>
            <p:ph type="subTitle" idx="1"/>
          </p:nvPr>
        </p:nvSpPr>
        <p:spPr/>
        <p:txBody>
          <a:bodyPr wrap="square">
            <a:normAutofit/>
          </a:bodyPr>
          <a:lstStyle/>
          <a:p>
            <a:pPr>
              <a:buNone/>
            </a:pPr>
            <a:r>
              <a:rPr b="0" i="0" u="none"/>
              <a:t>Ctrl+I: The "What Does This Even Do?" Button</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wrap="square">
            <a:normAutofit/>
          </a:bodyPr>
          <a:lstStyle/>
          <a:p>
            <a:pPr>
              <a:buNone/>
            </a:pPr>
            <a:r>
              <a:rPr sz="4150" b="0" i="0" u="none" dirty="0"/>
              <a:t>Code Explanation with Copilot</a:t>
            </a:r>
          </a:p>
        </p:txBody>
      </p:sp>
      <p:sp>
        <p:nvSpPr>
          <p:cNvPr id="3" name="Content Placeholder 2"/>
          <p:cNvSpPr>
            <a:spLocks noGrp="1"/>
          </p:cNvSpPr>
          <p:nvPr>
            <p:ph idx="1"/>
          </p:nvPr>
        </p:nvSpPr>
        <p:spPr/>
        <p:txBody>
          <a:bodyPr wrap="square">
            <a:normAutofit lnSpcReduction="10000"/>
          </a:bodyPr>
          <a:lstStyle/>
          <a:p>
            <a:pPr>
              <a:buNone/>
            </a:pPr>
            <a:r>
              <a:rPr b="0" i="0" u="none" dirty="0"/>
              <a:t>Two Ways to Explain Code</a:t>
            </a:r>
            <a:endParaRPr b="0" i="0" dirty="0">
              <a:latin typeface="Consolas"/>
            </a:endParaRPr>
          </a:p>
          <a:p>
            <a:pPr>
              <a:buNone/>
            </a:pPr>
            <a:endParaRPr b="0" i="0" dirty="0">
              <a:latin typeface="Consolas"/>
            </a:endParaRPr>
          </a:p>
          <a:p>
            <a:pPr>
              <a:buNone/>
            </a:pPr>
            <a:r>
              <a:rPr b="1" i="0" u="none" dirty="0"/>
              <a:t>Option 1: Inline Chat (</a:t>
            </a:r>
            <a:r>
              <a:rPr b="1" i="0" u="none" dirty="0" err="1"/>
              <a:t>Control+I</a:t>
            </a:r>
            <a:r>
              <a:rPr b="1" i="0" u="none" dirty="0"/>
              <a:t>)</a:t>
            </a:r>
            <a:endParaRPr b="0" i="0" dirty="0">
              <a:latin typeface="Consolas"/>
            </a:endParaRPr>
          </a:p>
          <a:p>
            <a:pPr lvl="1">
              <a:buNone/>
            </a:pPr>
            <a:r>
              <a:rPr sz="1400" b="0" i="0" u="none" dirty="0"/>
              <a:t>1. Select the code you want explained</a:t>
            </a:r>
            <a:endParaRPr sz="1400" b="0" i="0" dirty="0">
              <a:latin typeface="Consolas"/>
            </a:endParaRPr>
          </a:p>
          <a:p>
            <a:pPr lvl="1">
              <a:buNone/>
            </a:pPr>
            <a:r>
              <a:rPr sz="1400" b="0" i="0" u="none" dirty="0"/>
              <a:t>2. Press </a:t>
            </a:r>
            <a:r>
              <a:rPr sz="1400" b="1" i="0" u="none" dirty="0" err="1"/>
              <a:t>Ctrl+I</a:t>
            </a:r>
            <a:r>
              <a:rPr sz="1400" b="0" i="0" u="none" dirty="0"/>
              <a:t> (Windows/Linux) or </a:t>
            </a:r>
            <a:r>
              <a:rPr sz="1400" b="1" i="0" u="none" dirty="0"/>
              <a:t>⌘+I</a:t>
            </a:r>
            <a:r>
              <a:rPr sz="1400" b="0" i="0" u="none" dirty="0"/>
              <a:t> (Mac)</a:t>
            </a:r>
            <a:endParaRPr sz="1400" b="0" i="0" dirty="0">
              <a:latin typeface="Consolas"/>
            </a:endParaRPr>
          </a:p>
          <a:p>
            <a:pPr lvl="1">
              <a:buNone/>
            </a:pPr>
            <a:r>
              <a:rPr sz="1400" b="0" i="0" u="none" dirty="0"/>
              <a:t>3. Type </a:t>
            </a:r>
            <a:r>
              <a:rPr sz="1400" b="0" i="0" u="none" dirty="0">
                <a:latin typeface="Consolas"/>
              </a:rPr>
              <a:t>explain</a:t>
            </a:r>
            <a:r>
              <a:rPr sz="1400" b="0" i="0" u="none" dirty="0"/>
              <a:t> or ask a specific question</a:t>
            </a:r>
            <a:endParaRPr sz="1400" b="0" i="0" dirty="0">
              <a:latin typeface="Consolas"/>
            </a:endParaRPr>
          </a:p>
          <a:p>
            <a:pPr lvl="1">
              <a:buNone/>
            </a:pPr>
            <a:r>
              <a:rPr sz="1400" b="0" i="0" u="none" dirty="0"/>
              <a:t>4. Copilot explains the selection in context</a:t>
            </a:r>
            <a:endParaRPr sz="1400" b="0" i="0" dirty="0">
              <a:latin typeface="Consolas"/>
            </a:endParaRPr>
          </a:p>
          <a:p>
            <a:pPr>
              <a:buNone/>
            </a:pPr>
            <a:endParaRPr b="0" i="0" dirty="0">
              <a:latin typeface="Consolas"/>
            </a:endParaRPr>
          </a:p>
          <a:p>
            <a:pPr>
              <a:buNone/>
            </a:pPr>
            <a:r>
              <a:rPr b="1" i="0" u="none" dirty="0"/>
              <a:t>Option 2: Right-Click Menu</a:t>
            </a:r>
            <a:endParaRPr b="0" i="0" dirty="0">
              <a:latin typeface="Consolas"/>
            </a:endParaRPr>
          </a:p>
          <a:p>
            <a:pPr lvl="1">
              <a:buNone/>
            </a:pPr>
            <a:r>
              <a:rPr sz="1400" b="0" i="0" u="none" dirty="0"/>
              <a:t>1. Select the code you want explained</a:t>
            </a:r>
            <a:endParaRPr sz="1400" b="0" i="0" dirty="0">
              <a:latin typeface="Consolas"/>
            </a:endParaRPr>
          </a:p>
          <a:p>
            <a:pPr lvl="1">
              <a:buNone/>
            </a:pPr>
            <a:r>
              <a:rPr sz="1400" b="0" i="0" u="none" dirty="0"/>
              <a:t>2. Right-click → </a:t>
            </a:r>
            <a:r>
              <a:rPr sz="1400" b="1" i="0" u="none" dirty="0"/>
              <a:t>Copilot</a:t>
            </a:r>
            <a:r>
              <a:rPr sz="1400" b="0" i="0" u="none" dirty="0"/>
              <a:t> → </a:t>
            </a:r>
            <a:r>
              <a:rPr sz="1400" b="1" i="0" u="none" dirty="0"/>
              <a:t>Explain</a:t>
            </a:r>
            <a:endParaRPr sz="1400" b="0" i="0" dirty="0">
              <a:latin typeface="Consolas"/>
            </a:endParaRPr>
          </a:p>
          <a:p>
            <a:pPr lvl="1">
              <a:buNone/>
            </a:pPr>
            <a:r>
              <a:rPr sz="1400" b="0" i="0" u="none" dirty="0"/>
              <a:t>3. Explanation appears in the Chat panel</a:t>
            </a:r>
            <a:endParaRPr sz="1400" b="0" i="0" dirty="0">
              <a:latin typeface="Consolas"/>
            </a:endParaRPr>
          </a:p>
        </p:txBody>
      </p:sp>
    </p:spTree>
  </p:cSld>
  <p:clrMapOvr>
    <a:masterClrMapping/>
  </p:clrMapOvr>
</p:sld>
</file>

<file path=ppt/theme/theme1.xml><?xml version="1.0" encoding="utf-8"?>
<a:theme xmlns:a="http://schemas.openxmlformats.org/drawingml/2006/main" name="CODE Training">
  <a:themeElements>
    <a:clrScheme name="Office">
      <a:dk1>
        <a:srgbClr val="1F2933"/>
      </a:dk1>
      <a:lt1>
        <a:srgbClr val="F6F1E7"/>
      </a:lt1>
      <a:dk2>
        <a:srgbClr val="0F172A"/>
      </a:dk2>
      <a:lt2>
        <a:srgbClr val="FFFAF0"/>
      </a:lt2>
      <a:accent1>
        <a:srgbClr val="C2410C"/>
      </a:accent1>
      <a:accent2>
        <a:srgbClr val="475569"/>
      </a:accent2>
      <a:accent3>
        <a:srgbClr val="A16207"/>
      </a:accent3>
      <a:accent4>
        <a:srgbClr val="C2410C"/>
      </a:accent4>
      <a:accent5>
        <a:srgbClr val="E2D9C5"/>
      </a:accent5>
      <a:accent6>
        <a:srgbClr val="16A34A"/>
      </a:accent6>
      <a:hlink>
        <a:srgbClr val="C2410C"/>
      </a:hlink>
      <a:folHlink>
        <a:srgbClr val="475569"/>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jMM CODE Training Slide Template.potx" id="{C235AF94-6470-4DC8-ADA1-D5CA24C263BE}" vid="{E23727E8-263B-4C98-B166-009CDF69EE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71</TotalTime>
  <Words>8926</Words>
  <Application>Microsoft Office PowerPoint</Application>
  <PresentationFormat>Widescreen</PresentationFormat>
  <Paragraphs>1367</Paragraphs>
  <Slides>82</Slides>
  <Notes>82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82</vt:i4>
      </vt:variant>
    </vt:vector>
  </HeadingPairs>
  <TitlesOfParts>
    <vt:vector size="88" baseType="lpstr">
      <vt:lpstr>Arial</vt:lpstr>
      <vt:lpstr>Calibri</vt:lpstr>
      <vt:lpstr>Consolas</vt:lpstr>
      <vt:lpstr>Noto Sans</vt:lpstr>
      <vt:lpstr>Victor Mono</vt:lpstr>
      <vt:lpstr>CODE Training</vt:lpstr>
      <vt:lpstr>AIASD</vt:lpstr>
      <vt:lpstr>Welcome Back to AI-Assisted Software Development</vt:lpstr>
      <vt:lpstr>How Much Does an AI Pair Programmer Cost?</vt:lpstr>
      <vt:lpstr>Copilot Plan Overview</vt:lpstr>
      <vt:lpstr>Business vs. Enterprise</vt:lpstr>
      <vt:lpstr>Organization-Level Instruction Files</vt:lpstr>
      <vt:lpstr>Course Modules</vt:lpstr>
      <vt:lpstr>Large Language Models</vt:lpstr>
      <vt:lpstr>What Is a Large Language Model?</vt:lpstr>
      <vt:lpstr>Tokenization — Breaking Text Apart</vt:lpstr>
      <vt:lpstr>The Transformer Architecture</vt:lpstr>
      <vt:lpstr>Self-Attention — The Core Idea</vt:lpstr>
      <vt:lpstr>Training - Phase 1: Pre-training</vt:lpstr>
      <vt:lpstr>Training - Phase 2: Fine-tuning &amp; Alignment</vt:lpstr>
      <vt:lpstr>Context Window — The Model's Working Memory</vt:lpstr>
      <vt:lpstr>Temperature &amp; Sampling</vt:lpstr>
      <vt:lpstr>Key Takeaways</vt:lpstr>
      <vt:lpstr>Course Modules</vt:lpstr>
      <vt:lpstr>GitHub Copilot for Teams</vt:lpstr>
      <vt:lpstr>GitHub Copilot for Teams</vt:lpstr>
      <vt:lpstr>Risks to Consider</vt:lpstr>
      <vt:lpstr>Governance and Compliance Risks</vt:lpstr>
      <vt:lpstr>IP and Data Protection</vt:lpstr>
      <vt:lpstr>Licensing and Legal Considerations</vt:lpstr>
      <vt:lpstr>Deployment Options</vt:lpstr>
      <vt:lpstr>Resources</vt:lpstr>
      <vt:lpstr>Course Modules</vt:lpstr>
      <vt:lpstr>Safety Measures and Best Practices</vt:lpstr>
      <vt:lpstr>Safety Measures &amp; Best Practices</vt:lpstr>
      <vt:lpstr>Treat AI Like an Eager Knowledgeable Junior Developer</vt:lpstr>
      <vt:lpstr>Coverage Is a Floor, Not the Goal</vt:lpstr>
      <vt:lpstr>Keep Change Sets Small and Reviewable</vt:lpstr>
      <vt:lpstr>Human Review + Automated Review Workflow</vt:lpstr>
      <vt:lpstr>Practical Safety Checklist for AI-Assisted Changes</vt:lpstr>
      <vt:lpstr>Course Modules</vt:lpstr>
      <vt:lpstr>Model Selection and Comparison</vt:lpstr>
      <vt:lpstr>Public Leaderboards</vt:lpstr>
      <vt:lpstr>Core Benchmarks</vt:lpstr>
      <vt:lpstr>Surveys &amp; Deep-Dive Research</vt:lpstr>
      <vt:lpstr>Evaluation Frameworks</vt:lpstr>
      <vt:lpstr>Selecting Models</vt:lpstr>
      <vt:lpstr>Advanced Context Techniques</vt:lpstr>
      <vt:lpstr>Advanced Context Techniques</vt:lpstr>
      <vt:lpstr>File &amp; Folder Mentions (# Syntax)</vt:lpstr>
      <vt:lpstr>Spaces &amp; Knowledge Bases Integration</vt:lpstr>
      <vt:lpstr>Premium Usage Monitoring</vt:lpstr>
      <vt:lpstr>Token Estimation &amp; Overflow Detection</vt:lpstr>
      <vt:lpstr>Why Token Limits Matter</vt:lpstr>
      <vt:lpstr>Technique: Summaries</vt:lpstr>
      <vt:lpstr>Technique: Chunking</vt:lpstr>
      <vt:lpstr>Technique: Scoped Prompts</vt:lpstr>
      <vt:lpstr>Technique: Instruction Files</vt:lpstr>
      <vt:lpstr>Course Modules</vt:lpstr>
      <vt:lpstr>Prompt Files</vt:lpstr>
      <vt:lpstr>What Are Prompt Files?</vt:lpstr>
      <vt:lpstr>Prompt Files: Use Cases</vt:lpstr>
      <vt:lpstr>Prompt Files Best Practices</vt:lpstr>
      <vt:lpstr>Exercise: Creating Prompt Files</vt:lpstr>
      <vt:lpstr>Exercise: Creating Prompt Files</vt:lpstr>
      <vt:lpstr>Creating Instruction Files from Prompts</vt:lpstr>
      <vt:lpstr>Creating Instruction Files from Prompts</vt:lpstr>
      <vt:lpstr>Prompt to Instruction Workflow</vt:lpstr>
      <vt:lpstr>Inference Is Your Friend</vt:lpstr>
      <vt:lpstr>Inference Is Not Your Friend</vt:lpstr>
      <vt:lpstr>Why Start with a Prompt-First Approach?</vt:lpstr>
      <vt:lpstr>Two Ways to Refine the Result</vt:lpstr>
      <vt:lpstr>Why Prompt Files Beat Simple Directives</vt:lpstr>
      <vt:lpstr>Course Modules</vt:lpstr>
      <vt:lpstr>Documentation Generation and Code Analysis</vt:lpstr>
      <vt:lpstr>Documentation Generation &amp; Code Analysis</vt:lpstr>
      <vt:lpstr>Automated README &amp; Documentation Updates</vt:lpstr>
      <vt:lpstr>Create Architecture Diagrams</vt:lpstr>
      <vt:lpstr>Architecture Diagram Generation</vt:lpstr>
      <vt:lpstr>Complex Code Explanation &amp; Mapping</vt:lpstr>
      <vt:lpstr>Identifying Technical Debt Hot-spots</vt:lpstr>
      <vt:lpstr>Generate Development &amp; Deployment Guides</vt:lpstr>
      <vt:lpstr>Update Project Documentation</vt:lpstr>
      <vt:lpstr>Cross-Validate With Multiple AI Models</vt:lpstr>
      <vt:lpstr>Exercise: Brownfield Code Documentation</vt:lpstr>
      <vt:lpstr>Exercise: Create a Prompt File</vt:lpstr>
      <vt:lpstr>Code Explanation and Analysis</vt:lpstr>
      <vt:lpstr>Code Explanation with Copilot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lastModifiedBy>John Miller</cp:lastModifiedBy>
  <cp:revision>7</cp:revision>
  <dcterms:created xsi:type="dcterms:W3CDTF">2025-10-19T18:09:53Z</dcterms:created>
  <dcterms:modified xsi:type="dcterms:W3CDTF">2026-05-20T00:28:19Z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0x010100587004330F6D8B418A43481AAFC77453</vt:lpwstr>
  </property>
</Properties>
</file>